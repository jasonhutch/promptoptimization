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2.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3.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A2233"/>
                </a:solidFill>
                <a:latin typeface="Arial"/>
              </a:defRPr>
            </a:pPr>
            <a:r>
              <a:rPr sz="1100" b="0" i="0" u="none" strike="noStrike">
                <a:solidFill>
                  <a:srgbClr val="1A2233"/>
                </a:solidFill>
                <a:latin typeface="Arial"/>
              </a:rPr>
              <a:t>Change P1 → P2 (points)</a:t>
            </a:r>
          </a:p>
        </c:rich>
      </c:tx>
      <c:layout/>
      <c:overlay val="0"/>
    </c:title>
    <c:autoTitleDeleted val="0"/>
    <c:plotArea>
      <c:layout/>
      <c:barChart>
        <c:barDir val="col"/>
        <c:grouping val="clustered"/>
        <c:varyColors val="0"/>
        <c:ser>
          <c:idx val="0"/>
          <c:order val="0"/>
          <c:tx>
            <c:strRef>
              <c:f>Sheet1!$B$1</c:f>
              <c:strCache>
                <c:ptCount val="1"/>
                <c:pt idx="0">
                  <c:v>Precision</c:v>
                </c:pt>
              </c:strCache>
            </c:strRef>
          </c:tx>
          <c:spPr>
            <a:solidFill>
              <a:srgbClr val="F58025"/>
            </a:solidFill>
            <a:effectLst/>
          </c:spPr>
          <c:invertIfNegative val="0"/>
          <c:dLbls>
            <c:numFmt formatCode="+0;-0" sourceLinked="0"/>
            <c:txPr>
              <a:bodyPr/>
              <a:lstStyle/>
              <a:p>
                <a:pPr>
                  <a:defRPr b="0" i="0" strike="noStrike" sz="900" u="none">
                    <a:solidFill>
                      <a:srgbClr val="000000"/>
                    </a:solidFill>
                    <a:latin typeface="Arial"/>
                  </a:defRPr>
                </a:pPr>
              </a:p>
            </c:txPr>
            <c:showLegendKey val="0"/>
            <c:showVal val="1"/>
            <c:showCatName val="0"/>
            <c:showSerName val="0"/>
            <c:showPercent val="0"/>
            <c:showBubbleSize val="0"/>
            <c:showLeaderLines val="0"/>
          </c:dLbls>
          <c:cat>
            <c:multiLvlStrRef>
              <c:f>Sheet1!$A$2:$A$4</c:f>
              <c:multiLvlStrCache>
                <c:ptCount val="3"/>
                <c:lvl>
                  <c:pt idx="0">
                    <c:v>Library</c:v>
                  </c:pt>
                  <c:pt idx="1">
                    <c:v>Car rental</c:v>
                  </c:pt>
                  <c:pt idx="2">
                    <c:v>NTSS</c:v>
                  </c:pt>
                </c:lvl>
              </c:multiLvlStrCache>
            </c:multiLvlStrRef>
          </c:cat>
          <c:val>
            <c:numRef>
              <c:f>Sheet1!$B$2:$B$4</c:f>
              <c:numCache>
                <c:formatCode>General</c:formatCode>
                <c:ptCount val="3"/>
                <c:pt idx="0">
                  <c:v>-3.0999999999999943</c:v>
                </c:pt>
                <c:pt idx="1">
                  <c:v>2.6000000000000014</c:v>
                </c:pt>
                <c:pt idx="2">
                  <c:v>-10.099999999999994</c:v>
                </c:pt>
              </c:numCache>
            </c:numRef>
          </c:val>
        </c:ser>
        <c:ser>
          <c:idx val="1"/>
          <c:order val="1"/>
          <c:tx>
            <c:strRef>
              <c:f>Sheet1!$C$1</c:f>
              <c:strCache>
                <c:ptCount val="1"/>
                <c:pt idx="0">
                  <c:v>Recall</c:v>
                </c:pt>
              </c:strCache>
            </c:strRef>
          </c:tx>
          <c:spPr>
            <a:solidFill>
              <a:srgbClr val="0064B1"/>
            </a:solidFill>
            <a:effectLst/>
          </c:spPr>
          <c:invertIfNegative val="0"/>
          <c:dLbls>
            <c:numFmt formatCode="+0;-0" sourceLinked="0"/>
            <c:txPr>
              <a:bodyPr/>
              <a:lstStyle/>
              <a:p>
                <a:pPr>
                  <a:defRPr b="0" i="0" strike="noStrike" sz="900" u="none">
                    <a:solidFill>
                      <a:srgbClr val="000000"/>
                    </a:solidFill>
                    <a:latin typeface="Arial"/>
                  </a:defRPr>
                </a:pPr>
              </a:p>
            </c:txPr>
            <c:showLegendKey val="0"/>
            <c:showVal val="1"/>
            <c:showCatName val="0"/>
            <c:showSerName val="0"/>
            <c:showPercent val="0"/>
            <c:showBubbleSize val="0"/>
            <c:showLeaderLines val="0"/>
          </c:dLbls>
          <c:cat>
            <c:multiLvlStrRef>
              <c:f>Sheet1!$A$2:$A$4</c:f>
              <c:multiLvlStrCache>
                <c:ptCount val="3"/>
                <c:lvl>
                  <c:pt idx="0">
                    <c:v>Library</c:v>
                  </c:pt>
                  <c:pt idx="1">
                    <c:v>Car rental</c:v>
                  </c:pt>
                  <c:pt idx="2">
                    <c:v>NTSS</c:v>
                  </c:pt>
                </c:lvl>
              </c:multiLvlStrCache>
            </c:multiLvlStrRef>
          </c:cat>
          <c:val>
            <c:numRef>
              <c:f>Sheet1!$C$2:$C$4</c:f>
              <c:numCache>
                <c:formatCode>General</c:formatCode>
                <c:ptCount val="3"/>
                <c:pt idx="0">
                  <c:v>0.8999999999999915</c:v>
                </c:pt>
                <c:pt idx="1">
                  <c:v>5.400000000000006</c:v>
                </c:pt>
                <c:pt idx="2">
                  <c:v>12.200000000000003</c:v>
                </c:pt>
              </c:numCache>
            </c:numRef>
          </c:val>
        </c:ser>
        <c:dLbls>
          <c:numFmt formatCode="+0;-0" sourceLinked="0"/>
          <c:txPr>
            <a:bodyPr/>
            <a:lstStyle/>
            <a:p>
              <a:pPr>
                <a:defRPr b="0" i="0" strike="noStrike" sz="9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A2233"/>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3E8E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B6678"/>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Library</c:v>
                </c:pt>
              </c:strCache>
            </c:strRef>
          </c:tx>
          <c:spPr>
            <a:solidFill>
              <a:srgbClr val="0064B1"/>
            </a:solidFill>
            <a:ln w="31750" cap="flat">
              <a:solidFill>
                <a:srgbClr val="0064B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0064B1"/>
              </a:solidFill>
              <a:ln w="9525" cap="flat">
                <a:solidFill>
                  <a:srgbClr val="0064B1"/>
                </a:solidFill>
                <a:prstDash val="solid"/>
                <a:round/>
              </a:ln>
              <a:effectLst/>
            </c:spPr>
          </c:marker>
          <c:cat>
            <c:multiLvlStrRef>
              <c:f>Sheet1!$A$2:$A$6</c:f>
              <c:multiLvlStrCache>
                <c:ptCount val="5"/>
                <c:lvl>
                  <c:pt idx="0">
                    <c:v>P0</c:v>
                  </c:pt>
                  <c:pt idx="1">
                    <c:v>P1</c:v>
                  </c:pt>
                  <c:pt idx="2">
                    <c:v>P2</c:v>
                  </c:pt>
                  <c:pt idx="3">
                    <c:v>P3</c:v>
                  </c:pt>
                  <c:pt idx="4">
                    <c:v>P4</c:v>
                  </c:pt>
                </c:lvl>
              </c:multiLvlStrCache>
            </c:multiLvlStrRef>
          </c:cat>
          <c:val>
            <c:numRef>
              <c:f>Sheet1!$B$2:$B$6</c:f>
              <c:numCache>
                <c:formatCode>General</c:formatCode>
                <c:ptCount val="5"/>
                <c:pt idx="0">
                  <c:v>68.9</c:v>
                </c:pt>
                <c:pt idx="1">
                  <c:v>88.7</c:v>
                </c:pt>
                <c:pt idx="2">
                  <c:v>87.7</c:v>
                </c:pt>
                <c:pt idx="3">
                  <c:v>89.9</c:v>
                </c:pt>
                <c:pt idx="4">
                  <c:v>93.7</c:v>
                </c:pt>
              </c:numCache>
            </c:numRef>
          </c:val>
          <c:smooth val="0"/>
        </c:ser>
        <c:ser>
          <c:idx val="1"/>
          <c:order val="1"/>
          <c:tx>
            <c:strRef>
              <c:f>Sheet1!$C$1</c:f>
              <c:strCache>
                <c:ptCount val="1"/>
                <c:pt idx="0">
                  <c:v>Car rental</c:v>
                </c:pt>
              </c:strCache>
            </c:strRef>
          </c:tx>
          <c:spPr>
            <a:solidFill>
              <a:srgbClr val="1E8C7E"/>
            </a:solidFill>
            <a:ln w="31750" cap="flat">
              <a:solidFill>
                <a:srgbClr val="1E8C7E"/>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1E8C7E"/>
              </a:solidFill>
              <a:ln w="9525" cap="flat">
                <a:solidFill>
                  <a:srgbClr val="1E8C7E"/>
                </a:solidFill>
                <a:prstDash val="solid"/>
                <a:round/>
              </a:ln>
              <a:effectLst/>
            </c:spPr>
          </c:marker>
          <c:cat>
            <c:multiLvlStrRef>
              <c:f>Sheet1!$A$2:$A$6</c:f>
              <c:multiLvlStrCache>
                <c:ptCount val="5"/>
                <c:lvl>
                  <c:pt idx="0">
                    <c:v>P0</c:v>
                  </c:pt>
                  <c:pt idx="1">
                    <c:v>P1</c:v>
                  </c:pt>
                  <c:pt idx="2">
                    <c:v>P2</c:v>
                  </c:pt>
                  <c:pt idx="3">
                    <c:v>P3</c:v>
                  </c:pt>
                  <c:pt idx="4">
                    <c:v>P4</c:v>
                  </c:pt>
                </c:lvl>
              </c:multiLvlStrCache>
            </c:multiLvlStrRef>
          </c:cat>
          <c:val>
            <c:numRef>
              <c:f>Sheet1!$C$2:$C$6</c:f>
              <c:numCache>
                <c:formatCode>General</c:formatCode>
                <c:ptCount val="5"/>
                <c:pt idx="0">
                  <c:v>52</c:v>
                </c:pt>
                <c:pt idx="1">
                  <c:v>60</c:v>
                </c:pt>
                <c:pt idx="2">
                  <c:v>63.8</c:v>
                </c:pt>
                <c:pt idx="3">
                  <c:v>74.5</c:v>
                </c:pt>
                <c:pt idx="4">
                  <c:v>71.9</c:v>
                </c:pt>
              </c:numCache>
            </c:numRef>
          </c:val>
          <c:smooth val="0"/>
        </c:ser>
        <c:ser>
          <c:idx val="2"/>
          <c:order val="2"/>
          <c:tx>
            <c:strRef>
              <c:f>Sheet1!$D$1</c:f>
              <c:strCache>
                <c:ptCount val="1"/>
                <c:pt idx="0">
                  <c:v>NTSS</c:v>
                </c:pt>
              </c:strCache>
            </c:strRef>
          </c:tx>
          <c:spPr>
            <a:solidFill>
              <a:srgbClr val="6D4FC2"/>
            </a:solidFill>
            <a:ln w="31750" cap="flat">
              <a:solidFill>
                <a:srgbClr val="6D4FC2"/>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6D4FC2"/>
              </a:solidFill>
              <a:ln w="9525" cap="flat">
                <a:solidFill>
                  <a:srgbClr val="6D4FC2"/>
                </a:solidFill>
                <a:prstDash val="solid"/>
                <a:round/>
              </a:ln>
              <a:effectLst/>
            </c:spPr>
          </c:marker>
          <c:cat>
            <c:multiLvlStrRef>
              <c:f>Sheet1!$A$2:$A$6</c:f>
              <c:multiLvlStrCache>
                <c:ptCount val="5"/>
                <c:lvl>
                  <c:pt idx="0">
                    <c:v>P0</c:v>
                  </c:pt>
                  <c:pt idx="1">
                    <c:v>P1</c:v>
                  </c:pt>
                  <c:pt idx="2">
                    <c:v>P2</c:v>
                  </c:pt>
                  <c:pt idx="3">
                    <c:v>P3</c:v>
                  </c:pt>
                  <c:pt idx="4">
                    <c:v>P4</c:v>
                  </c:pt>
                </c:lvl>
              </c:multiLvlStrCache>
            </c:multiLvlStrRef>
          </c:cat>
          <c:val>
            <c:numRef>
              <c:f>Sheet1!$D$2:$D$6</c:f>
              <c:numCache>
                <c:formatCode>General</c:formatCode>
                <c:ptCount val="5"/>
                <c:pt idx="0">
                  <c:v>71.2</c:v>
                </c:pt>
                <c:pt idx="1">
                  <c:v>80.8</c:v>
                </c:pt>
                <c:pt idx="2">
                  <c:v>79.8</c:v>
                </c:pt>
                <c:pt idx="3">
                  <c:v>85.4</c:v>
                </c:pt>
                <c:pt idx="4">
                  <c:v>89.6</c:v>
                </c:pt>
              </c:numCache>
            </c:numRef>
          </c:val>
          <c:smooth val="0"/>
        </c:ser>
        <c:ser>
          <c:idx val="3"/>
          <c:order val="3"/>
          <c:tx>
            <c:strRef>
              <c:f>Sheet1!$E$1</c:f>
              <c:strCache>
                <c:ptCount val="1"/>
                <c:pt idx="0">
                  <c:v>90% target</c:v>
                </c:pt>
              </c:strCache>
            </c:strRef>
          </c:tx>
          <c:spPr>
            <a:solidFill>
              <a:srgbClr val="F58025"/>
            </a:solidFill>
            <a:ln w="31750" cap="flat">
              <a:solidFill>
                <a:srgbClr val="F58025"/>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F58025"/>
              </a:solidFill>
              <a:ln w="9525" cap="flat">
                <a:solidFill>
                  <a:srgbClr val="F58025"/>
                </a:solidFill>
                <a:prstDash val="solid"/>
                <a:round/>
              </a:ln>
              <a:effectLst/>
            </c:spPr>
          </c:marker>
          <c:cat>
            <c:multiLvlStrRef>
              <c:f>Sheet1!$A$2:$A$6</c:f>
              <c:multiLvlStrCache>
                <c:ptCount val="5"/>
                <c:lvl>
                  <c:pt idx="0">
                    <c:v>P0</c:v>
                  </c:pt>
                  <c:pt idx="1">
                    <c:v>P1</c:v>
                  </c:pt>
                  <c:pt idx="2">
                    <c:v>P2</c:v>
                  </c:pt>
                  <c:pt idx="3">
                    <c:v>P3</c:v>
                  </c:pt>
                  <c:pt idx="4">
                    <c:v>P4</c:v>
                  </c:pt>
                </c:lvl>
              </c:multiLvlStrCache>
            </c:multiLvlStrRef>
          </c:cat>
          <c:val>
            <c:numRef>
              <c:f>Sheet1!$E$2:$E$6</c:f>
              <c:numCache>
                <c:formatCode>General</c:formatCode>
                <c:ptCount val="5"/>
                <c:pt idx="0">
                  <c:v>90</c:v>
                </c:pt>
                <c:pt idx="1">
                  <c:v>90</c:v>
                </c:pt>
                <c:pt idx="2">
                  <c:v>90</c:v>
                </c:pt>
                <c:pt idx="3">
                  <c:v>90</c:v>
                </c:pt>
                <c:pt idx="4">
                  <c:v>90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A2233"/>
                </a:solidFill>
                <a:latin typeface="Arial"/>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9525" cap="flat">
              <a:solidFill>
                <a:srgbClr val="E3E8EF"/>
              </a:solidFill>
              <a:prstDash val="solid"/>
              <a:round/>
            </a:ln>
          </c:spPr>
        </c:majorGridlines>
        <c:title>
          <c:tx>
            <c:rich>
              <a:bodyPr/>
              <a:lstStyle/>
              <a:p>
                <a:pPr>
                  <a:defRPr sz="1000" b="0" i="0" u="none" strike="noStrike">
                    <a:solidFill>
                      <a:srgbClr val="5B6678"/>
                    </a:solidFill>
                    <a:latin typeface="Arial"/>
                  </a:defRPr>
                </a:pPr>
                <a:r>
                  <a:rPr sz="1000" b="0" i="0" u="none" strike="noStrike">
                    <a:solidFill>
                      <a:srgbClr val="5B6678"/>
                    </a:solidFill>
                    <a:latin typeface="Arial"/>
                  </a:rPr>
                  <a:t>F1 (%)</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678"/>
                </a:solidFill>
                <a:latin typeface="Arial"/>
              </a:defRPr>
            </a:pPr>
            <a:endParaRPr lang="en-US"/>
          </a:p>
        </c:txPr>
        <c:crossAx val="2094734554"/>
        <c:crosses val="autoZero"/>
        <c:crossBetween val="between"/>
        <c:majorUnit val="25"/>
      </c:valAx>
      <c:spPr>
        <a:noFill/>
        <a:ln>
          <a:noFill/>
        </a:ln>
        <a:effectLst/>
      </c:spPr>
    </c:plotArea>
    <c:legend>
      <c:legendPos val="b"/>
      <c:overlay val="0"/>
      <c:txPr>
        <a:bodyPr/>
        <a:lstStyle/>
        <a:p>
          <a:pPr>
            <a:defRPr sz="1100">
              <a:latin typeface="Arial"/>
              <a:cs typeface="Arial"/>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Library</c:v>
                </c:pt>
              </c:strCache>
            </c:strRef>
          </c:tx>
          <c:spPr>
            <a:solidFill>
              <a:srgbClr val="0064B1"/>
            </a:solidFill>
            <a:ln w="31750" cap="flat">
              <a:solidFill>
                <a:srgbClr val="0064B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0064B1"/>
              </a:solidFill>
              <a:ln w="9525" cap="flat">
                <a:solidFill>
                  <a:srgbClr val="0064B1"/>
                </a:solidFill>
                <a:prstDash val="solid"/>
                <a:round/>
              </a:ln>
              <a:effectLst/>
            </c:spPr>
          </c:marker>
          <c:cat>
            <c:multiLvlStrRef>
              <c:f>Sheet1!$A$2:$A$5</c:f>
              <c:multiLvlStrCache>
                <c:ptCount val="4"/>
                <c:lvl>
                  <c:pt idx="0">
                    <c:v>P0</c:v>
                  </c:pt>
                  <c:pt idx="1">
                    <c:v>P1</c:v>
                  </c:pt>
                  <c:pt idx="2">
                    <c:v>P2</c:v>
                  </c:pt>
                  <c:pt idx="3">
                    <c:v>P3</c:v>
                  </c:pt>
                </c:lvl>
              </c:multiLvlStrCache>
            </c:multiLvlStrRef>
          </c:cat>
          <c:val>
            <c:numRef>
              <c:f>Sheet1!$B$2:$B$5</c:f>
              <c:numCache>
                <c:formatCode>General</c:formatCode>
                <c:ptCount val="4"/>
                <c:pt idx="0">
                  <c:v>30.4</c:v>
                </c:pt>
                <c:pt idx="1">
                  <c:v>42.1</c:v>
                </c:pt>
                <c:pt idx="2">
                  <c:v>70.6</c:v>
                </c:pt>
                <c:pt idx="3">
                  <c:v>70.8</c:v>
                </c:pt>
              </c:numCache>
            </c:numRef>
          </c:val>
          <c:smooth val="0"/>
        </c:ser>
        <c:ser>
          <c:idx val="1"/>
          <c:order val="1"/>
          <c:tx>
            <c:strRef>
              <c:f>Sheet1!$C$1</c:f>
              <c:strCache>
                <c:ptCount val="1"/>
                <c:pt idx="0">
                  <c:v>Car rental</c:v>
                </c:pt>
              </c:strCache>
            </c:strRef>
          </c:tx>
          <c:spPr>
            <a:solidFill>
              <a:srgbClr val="1E8C7E"/>
            </a:solidFill>
            <a:ln w="31750" cap="flat">
              <a:solidFill>
                <a:srgbClr val="1E8C7E"/>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1E8C7E"/>
              </a:solidFill>
              <a:ln w="9525" cap="flat">
                <a:solidFill>
                  <a:srgbClr val="1E8C7E"/>
                </a:solidFill>
                <a:prstDash val="solid"/>
                <a:round/>
              </a:ln>
              <a:effectLst/>
            </c:spPr>
          </c:marker>
          <c:cat>
            <c:multiLvlStrRef>
              <c:f>Sheet1!$A$2:$A$5</c:f>
              <c:multiLvlStrCache>
                <c:ptCount val="4"/>
                <c:lvl>
                  <c:pt idx="0">
                    <c:v>P0</c:v>
                  </c:pt>
                  <c:pt idx="1">
                    <c:v>P1</c:v>
                  </c:pt>
                  <c:pt idx="2">
                    <c:v>P2</c:v>
                  </c:pt>
                  <c:pt idx="3">
                    <c:v>P3</c:v>
                  </c:pt>
                </c:lvl>
              </c:multiLvlStrCache>
            </c:multiLvlStrRef>
          </c:cat>
          <c:val>
            <c:numRef>
              <c:f>Sheet1!$C$2:$C$5</c:f>
              <c:numCache>
                <c:formatCode>General</c:formatCode>
                <c:ptCount val="4"/>
                <c:pt idx="0">
                  <c:v>44.1</c:v>
                </c:pt>
                <c:pt idx="1">
                  <c:v>43</c:v>
                </c:pt>
                <c:pt idx="2">
                  <c:v>45.5</c:v>
                </c:pt>
                <c:pt idx="3">
                  <c:v>47.2</c:v>
                </c:pt>
              </c:numCache>
            </c:numRef>
          </c:val>
          <c:smooth val="0"/>
        </c:ser>
        <c:ser>
          <c:idx val="2"/>
          <c:order val="2"/>
          <c:tx>
            <c:strRef>
              <c:f>Sheet1!$D$1</c:f>
              <c:strCache>
                <c:ptCount val="1"/>
                <c:pt idx="0">
                  <c:v>NTSS</c:v>
                </c:pt>
              </c:strCache>
            </c:strRef>
          </c:tx>
          <c:spPr>
            <a:solidFill>
              <a:srgbClr val="6D4FC2"/>
            </a:solidFill>
            <a:ln w="31750" cap="flat">
              <a:solidFill>
                <a:srgbClr val="6D4FC2"/>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6D4FC2"/>
              </a:solidFill>
              <a:ln w="9525" cap="flat">
                <a:solidFill>
                  <a:srgbClr val="6D4FC2"/>
                </a:solidFill>
                <a:prstDash val="solid"/>
                <a:round/>
              </a:ln>
              <a:effectLst/>
            </c:spPr>
          </c:marker>
          <c:cat>
            <c:multiLvlStrRef>
              <c:f>Sheet1!$A$2:$A$5</c:f>
              <c:multiLvlStrCache>
                <c:ptCount val="4"/>
                <c:lvl>
                  <c:pt idx="0">
                    <c:v>P0</c:v>
                  </c:pt>
                  <c:pt idx="1">
                    <c:v>P1</c:v>
                  </c:pt>
                  <c:pt idx="2">
                    <c:v>P2</c:v>
                  </c:pt>
                  <c:pt idx="3">
                    <c:v>P3</c:v>
                  </c:pt>
                </c:lvl>
              </c:multiLvlStrCache>
            </c:multiLvlStrRef>
          </c:cat>
          <c:val>
            <c:numRef>
              <c:f>Sheet1!$D$2:$D$5</c:f>
              <c:numCache>
                <c:formatCode>General</c:formatCode>
                <c:ptCount val="4"/>
                <c:pt idx="0">
                  <c:v>51.4</c:v>
                </c:pt>
                <c:pt idx="1">
                  <c:v>57.1</c:v>
                </c:pt>
                <c:pt idx="2">
                  <c:v>61</c:v>
                </c:pt>
                <c:pt idx="3">
                  <c:v>64.3</c:v>
                </c:pt>
              </c:numCache>
            </c:numRef>
          </c:val>
          <c:smooth val="0"/>
        </c:ser>
        <c:ser>
          <c:idx val="3"/>
          <c:order val="3"/>
          <c:tx>
            <c:strRef>
              <c:f>Sheet1!$E$1</c:f>
              <c:strCache>
                <c:ptCount val="1"/>
                <c:pt idx="0">
                  <c:v>90% target</c:v>
                </c:pt>
              </c:strCache>
            </c:strRef>
          </c:tx>
          <c:spPr>
            <a:solidFill>
              <a:srgbClr val="F58025"/>
            </a:solidFill>
            <a:ln w="31750" cap="flat">
              <a:solidFill>
                <a:srgbClr val="F58025"/>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F58025"/>
              </a:solidFill>
              <a:ln w="9525" cap="flat">
                <a:solidFill>
                  <a:srgbClr val="F58025"/>
                </a:solidFill>
                <a:prstDash val="solid"/>
                <a:round/>
              </a:ln>
              <a:effectLst/>
            </c:spPr>
          </c:marker>
          <c:cat>
            <c:multiLvlStrRef>
              <c:f>Sheet1!$A$2:$A$5</c:f>
              <c:multiLvlStrCache>
                <c:ptCount val="4"/>
                <c:lvl>
                  <c:pt idx="0">
                    <c:v>P0</c:v>
                  </c:pt>
                  <c:pt idx="1">
                    <c:v>P1</c:v>
                  </c:pt>
                  <c:pt idx="2">
                    <c:v>P2</c:v>
                  </c:pt>
                  <c:pt idx="3">
                    <c:v>P3</c:v>
                  </c:pt>
                </c:lvl>
              </c:multiLvlStrCache>
            </c:multiLvlStrRef>
          </c:cat>
          <c:val>
            <c:numRef>
              <c:f>Sheet1!$E$2:$E$5</c:f>
              <c:numCache>
                <c:formatCode>General</c:formatCode>
                <c:ptCount val="4"/>
                <c:pt idx="0">
                  <c:v>90</c:v>
                </c:pt>
                <c:pt idx="1">
                  <c:v>90</c:v>
                </c:pt>
                <c:pt idx="2">
                  <c:v>90</c:v>
                </c:pt>
                <c:pt idx="3">
                  <c:v>90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A2233"/>
                </a:solidFill>
                <a:latin typeface="Arial"/>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9525" cap="flat">
              <a:solidFill>
                <a:srgbClr val="E3E8EF"/>
              </a:solidFill>
              <a:prstDash val="solid"/>
              <a:round/>
            </a:ln>
          </c:spPr>
        </c:majorGridlines>
        <c:title>
          <c:tx>
            <c:rich>
              <a:bodyPr/>
              <a:lstStyle/>
              <a:p>
                <a:pPr>
                  <a:defRPr sz="1000" b="0" i="0" u="none" strike="noStrike">
                    <a:solidFill>
                      <a:srgbClr val="5B6678"/>
                    </a:solidFill>
                    <a:latin typeface="Arial"/>
                  </a:defRPr>
                </a:pPr>
                <a:r>
                  <a:rPr sz="1000" b="0" i="0" u="none" strike="noStrike">
                    <a:solidFill>
                      <a:srgbClr val="5B6678"/>
                    </a:solidFill>
                    <a:latin typeface="Arial"/>
                  </a:rPr>
                  <a:t>F1 (%)</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678"/>
                </a:solidFill>
                <a:latin typeface="Arial"/>
              </a:defRPr>
            </a:pPr>
            <a:endParaRPr lang="en-US"/>
          </a:p>
        </c:txPr>
        <c:crossAx val="2094734554"/>
        <c:crosses val="autoZero"/>
        <c:crossBetween val="between"/>
        <c:majorUnit val="25"/>
      </c:valAx>
      <c:spPr>
        <a:noFill/>
        <a:ln>
          <a:noFill/>
        </a:ln>
        <a:effectLst/>
      </c:spPr>
    </c:plotArea>
    <c:legend>
      <c:legendPos val="b"/>
      <c:overlay val="0"/>
      <c:txPr>
        <a:bodyPr/>
        <a:lstStyle/>
        <a:p>
          <a:pPr>
            <a:defRPr sz="1100">
              <a:latin typeface="Arial"/>
              <a:cs typeface="Aria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team. The LLM we optimized for is Claude, called blind from our prompt lab page: it only ever sees the prompt and the business description.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Improvement means higher F1 against the instructor's expert solutions, which balances precision (no extra phrases) and recall (nothing missed).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Validated scorer: reproduces the instructor's own calculation. Noise measured on identification P0 on Library: 71.6, 72.1, 67.9, 64.2.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complete loop from the assignment. Every revision starts from scored errors, not from trial and 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Chen et al., Automated Domain Modeling with LLMs, MODELS 2023; Chen et al., Accurate and Consistent Graph Model Generation from Text with LLMs (AbsCon), 2025. Capability runs are single runs per cell; the direction (precision down) is consistent across all cells.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stopped iterating classification at P3 on purpose: the evidence shows the remaining gap is annotation choices, not model errors we can fix with general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Team: add your own contributions to this table before presenting.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64B1"/>
        </a:solidFill>
      </p:bgPr>
    </p:bg>
    <p:spTree>
      <p:nvGrpSpPr>
        <p:cNvPr id="1" name=""/>
        <p:cNvGrpSpPr/>
        <p:nvPr/>
      </p:nvGrpSpPr>
      <p:grpSpPr>
        <a:xfrm>
          <a:off x="0" y="0"/>
          <a:ext cx="0" cy="0"/>
          <a:chOff x="0" y="0"/>
          <a:chExt cx="0" cy="0"/>
        </a:xfrm>
      </p:grpSpPr>
      <p:sp>
        <p:nvSpPr>
          <p:cNvPr id="2" name="Text 0"/>
          <p:cNvSpPr txBox="1"/>
          <p:nvPr/>
        </p:nvSpPr>
        <p:spPr>
          <a:xfrm>
            <a:off x="640080" y="1234440"/>
            <a:ext cx="7863840" cy="1188720"/>
          </a:xfrm>
          <a:prstGeom prst="rect">
            <a:avLst/>
          </a:prstGeom>
          <a:noFill/>
          <a:ln/>
        </p:spPr>
        <p:txBody>
          <a:bodyPr wrap="square" lIns="0" tIns="0" rIns="0" bIns="0" rtlCol="0" anchor="b"/>
          <a:lstStyle/>
          <a:p>
            <a:pPr indent="0" marL="0">
              <a:buNone/>
            </a:pPr>
            <a:r>
              <a:rPr lang="en-US" sz="3600" b="1" dirty="0">
                <a:solidFill>
                  <a:srgbClr val="FFFFFF"/>
                </a:solidFill>
                <a:latin typeface="Arial" pitchFamily="34" charset="0"/>
                <a:ea typeface="Arial" pitchFamily="34" charset="-122"/>
                <a:cs typeface="Arial" pitchFamily="34" charset="-120"/>
              </a:rPr>
              <a:t>Evolutionary Prompt Optimization for Domain Modeling</a:t>
            </a:r>
            <a:endParaRPr lang="en-US" sz="3600" dirty="0"/>
          </a:p>
        </p:txBody>
      </p:sp>
      <p:sp>
        <p:nvSpPr>
          <p:cNvPr id="3" name="Text 1"/>
          <p:cNvSpPr txBox="1"/>
          <p:nvPr/>
        </p:nvSpPr>
        <p:spPr>
          <a:xfrm>
            <a:off x="640080" y="2514600"/>
            <a:ext cx="7863840" cy="411480"/>
          </a:xfrm>
          <a:prstGeom prst="rect">
            <a:avLst/>
          </a:prstGeom>
          <a:noFill/>
          <a:ln/>
        </p:spPr>
        <p:txBody>
          <a:bodyPr wrap="square" lIns="0" tIns="0" rIns="0" bIns="0" rtlCol="0" anchor="t"/>
          <a:lstStyle/>
          <a:p>
            <a:pPr indent="0" marL="0">
              <a:buNone/>
            </a:pPr>
            <a:r>
              <a:rPr lang="en-US" sz="1600" dirty="0">
                <a:solidFill>
                  <a:srgbClr val="D6E6F5"/>
                </a:solidFill>
                <a:latin typeface="Arial" pitchFamily="34" charset="0"/>
                <a:ea typeface="Arial" pitchFamily="34" charset="-122"/>
                <a:cs typeface="Arial" pitchFamily="34" charset="-120"/>
              </a:rPr>
              <a:t>Domain-specific phrase identification &amp; classification with the AUM methodology</a:t>
            </a:r>
            <a:endParaRPr lang="en-US" sz="1600" dirty="0"/>
          </a:p>
        </p:txBody>
      </p:sp>
      <p:sp>
        <p:nvSpPr>
          <p:cNvPr id="4" name="Text 2"/>
          <p:cNvSpPr txBox="1"/>
          <p:nvPr/>
        </p:nvSpPr>
        <p:spPr>
          <a:xfrm>
            <a:off x="640080" y="3383280"/>
            <a:ext cx="7863840" cy="320040"/>
          </a:xfrm>
          <a:prstGeom prst="rect">
            <a:avLst/>
          </a:prstGeom>
          <a:noFill/>
          <a:ln/>
        </p:spPr>
        <p:txBody>
          <a:bodyPr wrap="square" lIns="0" tIns="0" rIns="0" bIns="0" rtlCol="0" anchor="t"/>
          <a:lstStyle/>
          <a:p>
            <a:pPr indent="0" marL="0">
              <a:buNone/>
            </a:pPr>
            <a:r>
              <a:rPr lang="en-US" sz="1400" b="1" dirty="0">
                <a:solidFill>
                  <a:srgbClr val="FFFFFF"/>
                </a:solidFill>
                <a:latin typeface="Arial" pitchFamily="34" charset="0"/>
                <a:ea typeface="Arial" pitchFamily="34" charset="-122"/>
                <a:cs typeface="Arial" pitchFamily="34" charset="-120"/>
              </a:rPr>
              <a:t>Team Four  ·  CSE 4392 / 5320  ·  The University of Texas at Arlington</a:t>
            </a:r>
            <a:endParaRPr lang="en-US" sz="1400" dirty="0"/>
          </a:p>
        </p:txBody>
      </p:sp>
      <p:sp>
        <p:nvSpPr>
          <p:cNvPr id="5" name="Text 3"/>
          <p:cNvSpPr txBox="1"/>
          <p:nvPr/>
        </p:nvSpPr>
        <p:spPr>
          <a:xfrm>
            <a:off x="640080" y="3749040"/>
            <a:ext cx="7863840" cy="320040"/>
          </a:xfrm>
          <a:prstGeom prst="rect">
            <a:avLst/>
          </a:prstGeom>
          <a:noFill/>
          <a:ln/>
        </p:spPr>
        <p:txBody>
          <a:bodyPr wrap="square" lIns="0" tIns="0" rIns="0" bIns="0" rtlCol="0" anchor="t"/>
          <a:lstStyle/>
          <a:p>
            <a:pPr indent="0" marL="0">
              <a:buNone/>
            </a:pPr>
            <a:r>
              <a:rPr lang="en-US" sz="1300" dirty="0">
                <a:solidFill>
                  <a:srgbClr val="D6E6F5"/>
                </a:solidFill>
                <a:latin typeface="Arial" pitchFamily="34" charset="0"/>
                <a:ea typeface="Arial" pitchFamily="34" charset="-122"/>
                <a:cs typeface="Arial" pitchFamily="34" charset="-120"/>
              </a:rPr>
              <a:t>LLM under test: Claude (claude.ai, default tier)  ·  September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548640"/>
          </a:xfrm>
          <a:prstGeom prst="rect">
            <a:avLst/>
          </a:prstGeom>
          <a:noFill/>
          <a:ln/>
        </p:spPr>
        <p:txBody>
          <a:bodyPr wrap="square" lIns="0" tIns="0" rIns="0" bIns="0" rtlCol="0" anchor="ctr"/>
          <a:lstStyle/>
          <a:p>
            <a:pPr indent="0" marL="0">
              <a:buNone/>
            </a:pPr>
            <a:r>
              <a:rPr lang="en-US" sz="2800" b="1" dirty="0">
                <a:solidFill>
                  <a:srgbClr val="0B2F57"/>
                </a:solidFill>
                <a:latin typeface="Arial" pitchFamily="34" charset="0"/>
                <a:ea typeface="Arial" pitchFamily="34" charset="-122"/>
                <a:cs typeface="Arial" pitchFamily="34" charset="-120"/>
              </a:rPr>
              <a:t>Project objectives</a:t>
            </a:r>
            <a:endParaRPr lang="en-US" sz="2800" dirty="0"/>
          </a:p>
        </p:txBody>
      </p:sp>
      <p:sp>
        <p:nvSpPr>
          <p:cNvPr id="3" name="Text 1"/>
          <p:cNvSpPr txBox="1"/>
          <p:nvPr/>
        </p:nvSpPr>
        <p:spPr>
          <a:xfrm>
            <a:off x="457200" y="841248"/>
            <a:ext cx="8229600" cy="320040"/>
          </a:xfrm>
          <a:prstGeom prst="rect">
            <a:avLst/>
          </a:prstGeom>
          <a:noFill/>
          <a:ln/>
        </p:spPr>
        <p:txBody>
          <a:bodyPr wrap="square" lIns="0" tIns="0" rIns="0" bIns="0" rtlCol="0" anchor="t"/>
          <a:lstStyle/>
          <a:p>
            <a:pPr indent="0" marL="0">
              <a:buNone/>
            </a:pPr>
            <a:r>
              <a:rPr lang="en-US" sz="1300" dirty="0">
                <a:solidFill>
                  <a:srgbClr val="5B6678"/>
                </a:solidFill>
                <a:latin typeface="Arial" pitchFamily="34" charset="0"/>
                <a:ea typeface="Arial" pitchFamily="34" charset="-122"/>
                <a:cs typeface="Arial" pitchFamily="34" charset="-120"/>
              </a:rPr>
              <a:t>What we are solving and what counts as improvement</a:t>
            </a:r>
            <a:endParaRPr lang="en-US" sz="1300" dirty="0"/>
          </a:p>
        </p:txBody>
      </p:sp>
      <p:sp>
        <p:nvSpPr>
          <p:cNvPr id="4" name="Text 2"/>
          <p:cNvSpPr txBox="1"/>
          <p:nvPr/>
        </p:nvSpPr>
        <p:spPr>
          <a:xfrm>
            <a:off x="457200" y="1325880"/>
            <a:ext cx="4754880" cy="274320"/>
          </a:xfrm>
          <a:prstGeom prst="rect">
            <a:avLst/>
          </a:prstGeom>
          <a:noFill/>
          <a:ln/>
        </p:spPr>
        <p:txBody>
          <a:bodyPr wrap="square" lIns="0" tIns="0" rIns="0" bIns="0" rtlCol="0" anchor="t"/>
          <a:lstStyle/>
          <a:p>
            <a:pPr indent="0" marL="0">
              <a:buNone/>
            </a:pPr>
            <a:r>
              <a:rPr lang="en-US" sz="1500" b="1" dirty="0">
                <a:solidFill>
                  <a:srgbClr val="0064B1"/>
                </a:solidFill>
                <a:latin typeface="Arial" pitchFamily="34" charset="0"/>
                <a:ea typeface="Arial" pitchFamily="34" charset="-122"/>
                <a:cs typeface="Arial" pitchFamily="34" charset="-120"/>
              </a:rPr>
              <a:t>The problem</a:t>
            </a:r>
            <a:endParaRPr lang="en-US" sz="1500" dirty="0"/>
          </a:p>
        </p:txBody>
      </p:sp>
      <p:sp>
        <p:nvSpPr>
          <p:cNvPr id="5" name="Text 3"/>
          <p:cNvSpPr txBox="1"/>
          <p:nvPr/>
        </p:nvSpPr>
        <p:spPr>
          <a:xfrm>
            <a:off x="457200" y="1645920"/>
            <a:ext cx="4754880" cy="1463040"/>
          </a:xfrm>
          <a:prstGeom prst="rect">
            <a:avLst/>
          </a:prstGeom>
          <a:noFill/>
          <a:ln/>
        </p:spPr>
        <p:txBody>
          <a:bodyPr wrap="square" lIns="0" tIns="0" rIns="0" bIns="0" rtlCol="0" anchor="t"/>
          <a:lstStyle/>
          <a:p>
            <a:pPr marL="177800" indent="-177800">
              <a:spcAft>
                <a:spcPts val="600"/>
              </a:spcAft>
              <a:buSzPct val="100000"/>
              <a:buChar char="•"/>
            </a:pPr>
            <a:r>
              <a:rPr lang="en-US" sz="1250" dirty="0">
                <a:solidFill>
                  <a:srgbClr val="1A2233"/>
                </a:solidFill>
                <a:latin typeface="Arial" pitchFamily="34" charset="0"/>
                <a:ea typeface="Arial" pitchFamily="34" charset="-122"/>
                <a:cs typeface="Arial" pitchFamily="34" charset="-120"/>
              </a:rPr>
              <a:t>Step 2 of AUM domain modeling: identify the domain-specific phrases in a business description, in nine phrase categories.</a:t>
            </a:r>
            <a:endParaRPr lang="en-US" sz="1250" dirty="0"/>
          </a:p>
          <a:p>
            <a:pPr marL="177800" indent="-177800">
              <a:spcAft>
                <a:spcPts val="600"/>
              </a:spcAft>
              <a:buSzPct val="100000"/>
              <a:buChar char="•"/>
            </a:pPr>
            <a:r>
              <a:rPr lang="en-US" sz="1250" dirty="0">
                <a:solidFill>
                  <a:srgbClr val="1A2233"/>
                </a:solidFill>
                <a:latin typeface="Arial" pitchFamily="34" charset="0"/>
                <a:ea typeface="Arial" pitchFamily="34" charset="-122"/>
                <a:cs typeface="Arial" pitchFamily="34" charset="-120"/>
              </a:rPr>
              <a:t>Step 3: classify those phrases into classes, attributes, attribute values and relationships.</a:t>
            </a:r>
            <a:endParaRPr lang="en-US" sz="1250" dirty="0"/>
          </a:p>
          <a:p>
            <a:pPr marL="177800" indent="-177800">
              <a:spcAft>
                <a:spcPts val="600"/>
              </a:spcAft>
              <a:buSzPct val="100000"/>
              <a:buChar char="•"/>
            </a:pPr>
            <a:r>
              <a:rPr lang="en-US" sz="1250" dirty="0">
                <a:solidFill>
                  <a:srgbClr val="1A2233"/>
                </a:solidFill>
                <a:latin typeface="Arial" pitchFamily="34" charset="0"/>
                <a:ea typeface="Arial" pitchFamily="34" charset="-122"/>
                <a:cs typeface="Arial" pitchFamily="34" charset="-120"/>
              </a:rPr>
              <a:t>Baseline prompts scored 52–71% F1 on identification and 30–51% on classification.</a:t>
            </a:r>
            <a:endParaRPr lang="en-US" sz="1250" dirty="0"/>
          </a:p>
        </p:txBody>
      </p:sp>
      <p:sp>
        <p:nvSpPr>
          <p:cNvPr id="6" name="Text 4"/>
          <p:cNvSpPr txBox="1"/>
          <p:nvPr/>
        </p:nvSpPr>
        <p:spPr>
          <a:xfrm>
            <a:off x="457200" y="3246120"/>
            <a:ext cx="4754880" cy="274320"/>
          </a:xfrm>
          <a:prstGeom prst="rect">
            <a:avLst/>
          </a:prstGeom>
          <a:noFill/>
          <a:ln/>
        </p:spPr>
        <p:txBody>
          <a:bodyPr wrap="square" lIns="0" tIns="0" rIns="0" bIns="0" rtlCol="0" anchor="t"/>
          <a:lstStyle/>
          <a:p>
            <a:pPr indent="0" marL="0">
              <a:buNone/>
            </a:pPr>
            <a:r>
              <a:rPr lang="en-US" sz="1500" b="1" dirty="0">
                <a:solidFill>
                  <a:srgbClr val="0064B1"/>
                </a:solidFill>
                <a:latin typeface="Arial" pitchFamily="34" charset="0"/>
                <a:ea typeface="Arial" pitchFamily="34" charset="-122"/>
                <a:cs typeface="Arial" pitchFamily="34" charset="-120"/>
              </a:rPr>
              <a:t>Why it is hard</a:t>
            </a:r>
            <a:endParaRPr lang="en-US" sz="1500" dirty="0"/>
          </a:p>
        </p:txBody>
      </p:sp>
      <p:sp>
        <p:nvSpPr>
          <p:cNvPr id="7" name="Text 5"/>
          <p:cNvSpPr txBox="1"/>
          <p:nvPr/>
        </p:nvSpPr>
        <p:spPr>
          <a:xfrm>
            <a:off x="457200" y="3566160"/>
            <a:ext cx="4754880" cy="1188720"/>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rgbClr val="1A2233"/>
                </a:solidFill>
                <a:latin typeface="Arial" pitchFamily="34" charset="0"/>
                <a:ea typeface="Arial" pitchFamily="34" charset="-122"/>
                <a:cs typeface="Arial" pitchFamily="34" charset="-120"/>
              </a:rPr>
              <a:t>"Domain-specific" is a judgment; the same noun can be a class or an attribute.</a:t>
            </a:r>
            <a:endParaRPr lang="en-US" sz="1200" dirty="0"/>
          </a:p>
          <a:p>
            <a:pPr marL="177800" indent="-177800">
              <a:spcAft>
                <a:spcPts val="600"/>
              </a:spcAft>
              <a:buSzPct val="100000"/>
              <a:buChar char="•"/>
            </a:pPr>
            <a:r>
              <a:rPr lang="en-US" sz="1200" dirty="0">
                <a:solidFill>
                  <a:srgbClr val="1A2233"/>
                </a:solidFill>
                <a:latin typeface="Arial" pitchFamily="34" charset="0"/>
                <a:ea typeface="Arial" pitchFamily="34" charset="-122"/>
                <a:cs typeface="Arial" pitchFamily="34" charset="-120"/>
              </a:rPr>
              <a:t>The three expert solutions follow slightly different annotation conventions.</a:t>
            </a:r>
            <a:endParaRPr lang="en-US" sz="1200" dirty="0"/>
          </a:p>
          <a:p>
            <a:pPr marL="177800" indent="-177800">
              <a:spcAft>
                <a:spcPts val="600"/>
              </a:spcAft>
              <a:buSzPct val="100000"/>
              <a:buChar char="•"/>
            </a:pPr>
            <a:r>
              <a:rPr lang="en-US" sz="1200" dirty="0">
                <a:solidFill>
                  <a:srgbClr val="1A2233"/>
                </a:solidFill>
                <a:latin typeface="Arial" pitchFamily="34" charset="0"/>
                <a:ea typeface="Arial" pitchFamily="34" charset="-122"/>
                <a:cs typeface="Arial" pitchFamily="34" charset="-120"/>
              </a:rPr>
              <a:t>Responses vary run to run: one prompt scored up to 8 points apart.</a:t>
            </a:r>
            <a:endParaRPr lang="en-US" sz="1200" dirty="0"/>
          </a:p>
        </p:txBody>
      </p:sp>
      <p:sp>
        <p:nvSpPr>
          <p:cNvPr id="8" name="Shape 6"/>
          <p:cNvSpPr/>
          <p:nvPr/>
        </p:nvSpPr>
        <p:spPr>
          <a:xfrm>
            <a:off x="5532120" y="1325880"/>
            <a:ext cx="3154680" cy="3383280"/>
          </a:xfrm>
          <a:prstGeom prst="roundRect">
            <a:avLst>
              <a:gd name="adj" fmla="val 2319"/>
            </a:avLst>
          </a:prstGeom>
          <a:solidFill>
            <a:srgbClr val="0B2F57"/>
          </a:solidFill>
          <a:ln w="12700">
            <a:solidFill>
              <a:srgbClr val="0B2F57"/>
            </a:solidFill>
            <a:prstDash val="solid"/>
          </a:ln>
        </p:spPr>
      </p:sp>
      <p:sp>
        <p:nvSpPr>
          <p:cNvPr id="9" name="Text 7"/>
          <p:cNvSpPr txBox="1"/>
          <p:nvPr/>
        </p:nvSpPr>
        <p:spPr>
          <a:xfrm>
            <a:off x="5760720" y="1463040"/>
            <a:ext cx="2743200" cy="731520"/>
          </a:xfrm>
          <a:prstGeom prst="rect">
            <a:avLst/>
          </a:prstGeom>
          <a:noFill/>
          <a:ln/>
        </p:spPr>
        <p:txBody>
          <a:bodyPr wrap="square" lIns="0" tIns="0" rIns="0" bIns="0" rtlCol="0" anchor="t"/>
          <a:lstStyle/>
          <a:p>
            <a:pPr indent="0" marL="0">
              <a:buNone/>
            </a:pPr>
            <a:r>
              <a:rPr lang="en-US" sz="4800" b="1" dirty="0">
                <a:solidFill>
                  <a:srgbClr val="F58025"/>
                </a:solidFill>
                <a:latin typeface="Arial" pitchFamily="34" charset="0"/>
                <a:ea typeface="Arial" pitchFamily="34" charset="-122"/>
                <a:cs typeface="Arial" pitchFamily="34" charset="-120"/>
              </a:rPr>
              <a:t>90%</a:t>
            </a:r>
            <a:endParaRPr lang="en-US" sz="4800" dirty="0"/>
          </a:p>
        </p:txBody>
      </p:sp>
      <p:sp>
        <p:nvSpPr>
          <p:cNvPr id="10" name="Text 8"/>
          <p:cNvSpPr txBox="1"/>
          <p:nvPr/>
        </p:nvSpPr>
        <p:spPr>
          <a:xfrm>
            <a:off x="5760720" y="2194560"/>
            <a:ext cx="2743200" cy="457200"/>
          </a:xfrm>
          <a:prstGeom prst="rect">
            <a:avLst/>
          </a:prstGeom>
          <a:noFill/>
          <a:ln/>
        </p:spPr>
        <p:txBody>
          <a:bodyPr wrap="square" lIns="0" tIns="0" rIns="0" bIns="0" rtlCol="0" anchor="t"/>
          <a:lstStyle/>
          <a:p>
            <a:pPr indent="0" marL="0">
              <a:buNone/>
            </a:pPr>
            <a:r>
              <a:rPr lang="en-US" sz="1100" dirty="0">
                <a:solidFill>
                  <a:srgbClr val="D6E6F5"/>
                </a:solidFill>
                <a:latin typeface="Arial" pitchFamily="34" charset="0"/>
                <a:ea typeface="Arial" pitchFamily="34" charset="-122"/>
                <a:cs typeface="Arial" pitchFamily="34" charset="-120"/>
              </a:rPr>
              <a:t>F1 target set by the instructor (the assignment sheet says 97%)</a:t>
            </a:r>
            <a:endParaRPr lang="en-US" sz="1100" dirty="0"/>
          </a:p>
        </p:txBody>
      </p:sp>
      <p:sp>
        <p:nvSpPr>
          <p:cNvPr id="11" name="Text 9"/>
          <p:cNvSpPr txBox="1"/>
          <p:nvPr/>
        </p:nvSpPr>
        <p:spPr>
          <a:xfrm>
            <a:off x="5760720" y="2743200"/>
            <a:ext cx="2743200" cy="1828800"/>
          </a:xfrm>
          <a:prstGeom prst="rect">
            <a:avLst/>
          </a:prstGeom>
          <a:noFill/>
          <a:ln/>
        </p:spPr>
        <p:txBody>
          <a:bodyPr wrap="square" lIns="0" tIns="0" rIns="0" bIns="0" rtlCol="0" anchor="t"/>
          <a:lstStyle/>
          <a:p>
            <a:pPr indent="0" marL="0">
              <a:buNone/>
            </a:pPr>
            <a:r>
              <a:rPr lang="en-US" sz="1250" dirty="0">
                <a:solidFill>
                  <a:srgbClr val="FFFFFF"/>
                </a:solidFill>
                <a:latin typeface="Arial" pitchFamily="34" charset="0"/>
                <a:ea typeface="Arial" pitchFamily="34" charset="-122"/>
                <a:cs typeface="Arial" pitchFamily="34" charset="-120"/>
              </a:rPr>
              <a:t>Our objective is to optimize a prompt so that an LLM following the AUM methodology identifies and classifies domain-specific phrases with F1 ≥ 90% against the expert solutions, first on the library example and then on car rental and NTSS.</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548640"/>
          </a:xfrm>
          <a:prstGeom prst="rect">
            <a:avLst/>
          </a:prstGeom>
          <a:noFill/>
          <a:ln/>
        </p:spPr>
        <p:txBody>
          <a:bodyPr wrap="square" lIns="0" tIns="0" rIns="0" bIns="0" rtlCol="0" anchor="ctr"/>
          <a:lstStyle/>
          <a:p>
            <a:pPr indent="0" marL="0">
              <a:buNone/>
            </a:pPr>
            <a:r>
              <a:rPr lang="en-US" sz="2800" b="1" dirty="0">
                <a:solidFill>
                  <a:srgbClr val="0B2F57"/>
                </a:solidFill>
                <a:latin typeface="Arial" pitchFamily="34" charset="0"/>
                <a:ea typeface="Arial" pitchFamily="34" charset="-122"/>
                <a:cs typeface="Arial" pitchFamily="34" charset="-120"/>
              </a:rPr>
              <a:t>Evaluation criteria</a:t>
            </a:r>
            <a:endParaRPr lang="en-US" sz="2800" dirty="0"/>
          </a:p>
        </p:txBody>
      </p:sp>
      <p:sp>
        <p:nvSpPr>
          <p:cNvPr id="3" name="Text 1"/>
          <p:cNvSpPr txBox="1"/>
          <p:nvPr/>
        </p:nvSpPr>
        <p:spPr>
          <a:xfrm>
            <a:off x="457200" y="841248"/>
            <a:ext cx="8229600" cy="320040"/>
          </a:xfrm>
          <a:prstGeom prst="rect">
            <a:avLst/>
          </a:prstGeom>
          <a:noFill/>
          <a:ln/>
        </p:spPr>
        <p:txBody>
          <a:bodyPr wrap="square" lIns="0" tIns="0" rIns="0" bIns="0" rtlCol="0" anchor="t"/>
          <a:lstStyle/>
          <a:p>
            <a:pPr indent="0" marL="0">
              <a:buNone/>
            </a:pPr>
            <a:r>
              <a:rPr lang="en-US" sz="1300" dirty="0">
                <a:solidFill>
                  <a:srgbClr val="5B6678"/>
                </a:solidFill>
                <a:latin typeface="Arial" pitchFamily="34" charset="0"/>
                <a:ea typeface="Arial" pitchFamily="34" charset="-122"/>
                <a:cs typeface="Arial" pitchFamily="34" charset="-120"/>
              </a:rPr>
              <a:t>Expert solutions + precision, recall and F1</a:t>
            </a:r>
            <a:endParaRPr lang="en-US" sz="1300" dirty="0"/>
          </a:p>
        </p:txBody>
      </p:sp>
      <p:sp>
        <p:nvSpPr>
          <p:cNvPr id="4" name="Text 2"/>
          <p:cNvSpPr txBox="1"/>
          <p:nvPr/>
        </p:nvSpPr>
        <p:spPr>
          <a:xfrm>
            <a:off x="457200" y="1325880"/>
            <a:ext cx="5120640" cy="3474720"/>
          </a:xfrm>
          <a:prstGeom prst="rect">
            <a:avLst/>
          </a:prstGeom>
          <a:noFill/>
          <a:ln/>
        </p:spPr>
        <p:txBody>
          <a:bodyPr wrap="square" lIns="0" tIns="0" rIns="0" bIns="0" rtlCol="0" anchor="t"/>
          <a:lstStyle/>
          <a:p>
            <a:pPr marL="177800" indent="-177800">
              <a:spcAft>
                <a:spcPts val="600"/>
              </a:spcAft>
              <a:buSzPct val="100000"/>
              <a:buChar char="•"/>
            </a:pPr>
            <a:r>
              <a:rPr lang="en-US" sz="1250" dirty="0">
                <a:solidFill>
                  <a:srgbClr val="1A2233"/>
                </a:solidFill>
                <a:latin typeface="Arial" pitchFamily="34" charset="0"/>
                <a:ea typeface="Arial" pitchFamily="34" charset="-122"/>
                <a:cs typeface="Arial" pitchFamily="34" charset="-120"/>
              </a:rPr>
              <a:t>The instructor's expert solutions are evaluation references only. They never appear in a prompt; an automated check compares every prompt against them.</a:t>
            </a:r>
            <a:endParaRPr lang="en-US" sz="1250" dirty="0"/>
          </a:p>
          <a:p>
            <a:pPr marL="177800" indent="-177800">
              <a:spcAft>
                <a:spcPts val="600"/>
              </a:spcAft>
              <a:buSzPct val="100000"/>
              <a:buChar char="•"/>
            </a:pPr>
            <a:r>
              <a:rPr lang="en-US" sz="1250" dirty="0">
                <a:solidFill>
                  <a:srgbClr val="1A2233"/>
                </a:solidFill>
                <a:latin typeface="Arial" pitchFamily="34" charset="0"/>
                <a:ea typeface="Arial" pitchFamily="34" charset="-122"/>
                <a:cs typeface="Arial" pitchFamily="34" charset="-120"/>
              </a:rPr>
              <a:t>Precision = TP / (TP + FP)    Recall = TP / (TP + FN)    F1 = 2PR / (P + R)</a:t>
            </a:r>
            <a:endParaRPr lang="en-US" sz="1250" dirty="0"/>
          </a:p>
          <a:p>
            <a:pPr marL="177800" indent="-177800">
              <a:spcAft>
                <a:spcPts val="600"/>
              </a:spcAft>
              <a:buSzPct val="100000"/>
              <a:buChar char="•"/>
            </a:pPr>
            <a:r>
              <a:rPr lang="en-US" sz="1250" dirty="0">
                <a:solidFill>
                  <a:srgbClr val="1A2233"/>
                </a:solidFill>
                <a:latin typeface="Arial" pitchFamily="34" charset="0"/>
                <a:ea typeface="Arial" pitchFamily="34" charset="-122"/>
                <a:cs typeface="Arial" pitchFamily="34" charset="-120"/>
              </a:rPr>
              <a:t>Identification: a phrase must match the expert's phrase and rule number. Singular/plural and verb forms count as one phrase.</a:t>
            </a:r>
            <a:endParaRPr lang="en-US" sz="1250" dirty="0"/>
          </a:p>
          <a:p>
            <a:pPr marL="177800" indent="-177800">
              <a:spcAft>
                <a:spcPts val="600"/>
              </a:spcAft>
              <a:buSzPct val="100000"/>
              <a:buChar char="•"/>
            </a:pPr>
            <a:r>
              <a:rPr lang="en-US" sz="1250" dirty="0">
                <a:solidFill>
                  <a:srgbClr val="1A2233"/>
                </a:solidFill>
                <a:latin typeface="Arial" pitchFamily="34" charset="0"/>
                <a:ea typeface="Arial" pitchFamily="34" charset="-122"/>
                <a:cs typeface="Arial" pitchFamily="34" charset="-120"/>
              </a:rPr>
              <a:t>Classification: the team's scorer matches label, element and both arguments; each expert item can be matched by one prediction only (bipartite matching).</a:t>
            </a:r>
            <a:endParaRPr lang="en-US" sz="1250" dirty="0"/>
          </a:p>
          <a:p>
            <a:pPr marL="177800" indent="-177800">
              <a:spcAft>
                <a:spcPts val="600"/>
              </a:spcAft>
              <a:buSzPct val="100000"/>
              <a:buChar char="•"/>
            </a:pPr>
            <a:r>
              <a:rPr lang="en-US" sz="1250" dirty="0">
                <a:solidFill>
                  <a:srgbClr val="1A2233"/>
                </a:solidFill>
                <a:latin typeface="Arial" pitchFamily="34" charset="0"/>
                <a:ea typeface="Arial" pitchFamily="34" charset="-122"/>
                <a:cs typeface="Arial" pitchFamily="34" charset="-120"/>
              </a:rPr>
              <a:t>Expert keys: library phrase list and classification sheet, NTSS underlined description and classification, car rental brainstorming and classification.</a:t>
            </a:r>
            <a:endParaRPr lang="en-US" sz="1250" dirty="0"/>
          </a:p>
        </p:txBody>
      </p:sp>
      <p:sp>
        <p:nvSpPr>
          <p:cNvPr id="5" name="Shape 3"/>
          <p:cNvSpPr/>
          <p:nvPr/>
        </p:nvSpPr>
        <p:spPr>
          <a:xfrm>
            <a:off x="5852160" y="1325880"/>
            <a:ext cx="2834640" cy="1600200"/>
          </a:xfrm>
          <a:prstGeom prst="roundRect">
            <a:avLst>
              <a:gd name="adj" fmla="val 4571"/>
            </a:avLst>
          </a:prstGeom>
          <a:solidFill>
            <a:srgbClr val="EEF3F9"/>
          </a:solidFill>
          <a:ln w="12700">
            <a:solidFill>
              <a:srgbClr val="EEF3F9"/>
            </a:solidFill>
            <a:prstDash val="solid"/>
          </a:ln>
        </p:spPr>
      </p:sp>
      <p:sp>
        <p:nvSpPr>
          <p:cNvPr id="6" name="Text 4"/>
          <p:cNvSpPr txBox="1"/>
          <p:nvPr/>
        </p:nvSpPr>
        <p:spPr>
          <a:xfrm>
            <a:off x="6035040" y="1417320"/>
            <a:ext cx="2560320" cy="548640"/>
          </a:xfrm>
          <a:prstGeom prst="rect">
            <a:avLst/>
          </a:prstGeom>
          <a:noFill/>
          <a:ln/>
        </p:spPr>
        <p:txBody>
          <a:bodyPr wrap="square" lIns="0" tIns="0" rIns="0" bIns="0" rtlCol="0" anchor="t"/>
          <a:lstStyle/>
          <a:p>
            <a:pPr indent="0" marL="0">
              <a:buNone/>
            </a:pPr>
            <a:r>
              <a:rPr lang="en-US" sz="3200" b="1" dirty="0">
                <a:solidFill>
                  <a:srgbClr val="0064B1"/>
                </a:solidFill>
                <a:latin typeface="Arial" pitchFamily="34" charset="0"/>
                <a:ea typeface="Arial" pitchFamily="34" charset="-122"/>
                <a:cs typeface="Arial" pitchFamily="34" charset="-120"/>
              </a:rPr>
              <a:t>96.36%</a:t>
            </a:r>
            <a:endParaRPr lang="en-US" sz="3200" dirty="0"/>
          </a:p>
        </p:txBody>
      </p:sp>
      <p:sp>
        <p:nvSpPr>
          <p:cNvPr id="7" name="Text 5"/>
          <p:cNvSpPr txBox="1"/>
          <p:nvPr/>
        </p:nvSpPr>
        <p:spPr>
          <a:xfrm>
            <a:off x="6035040" y="1965960"/>
            <a:ext cx="2514600" cy="868680"/>
          </a:xfrm>
          <a:prstGeom prst="rect">
            <a:avLst/>
          </a:prstGeom>
          <a:noFill/>
          <a:ln/>
        </p:spPr>
        <p:txBody>
          <a:bodyPr wrap="square" lIns="0" tIns="0" rIns="0" bIns="0" rtlCol="0" anchor="t"/>
          <a:lstStyle/>
          <a:p>
            <a:pPr indent="0" marL="0">
              <a:buNone/>
            </a:pPr>
            <a:r>
              <a:rPr lang="en-US" sz="1100" dirty="0">
                <a:solidFill>
                  <a:srgbClr val="1A2233"/>
                </a:solidFill>
                <a:latin typeface="Arial" pitchFamily="34" charset="0"/>
                <a:ea typeface="Arial" pitchFamily="34" charset="-122"/>
                <a:cs typeface="Arial" pitchFamily="34" charset="-120"/>
              </a:rPr>
              <a:t>Our scorer reproduces the instructor's hand-computed F1 for Gemini's library answer exactly (TP 53, FP 1, FN 3).</a:t>
            </a:r>
            <a:endParaRPr lang="en-US" sz="1100" dirty="0"/>
          </a:p>
        </p:txBody>
      </p:sp>
      <p:sp>
        <p:nvSpPr>
          <p:cNvPr id="8" name="Shape 6"/>
          <p:cNvSpPr/>
          <p:nvPr/>
        </p:nvSpPr>
        <p:spPr>
          <a:xfrm>
            <a:off x="5852160" y="3108960"/>
            <a:ext cx="2834640" cy="1600200"/>
          </a:xfrm>
          <a:prstGeom prst="roundRect">
            <a:avLst>
              <a:gd name="adj" fmla="val 4571"/>
            </a:avLst>
          </a:prstGeom>
          <a:solidFill>
            <a:srgbClr val="EEF3F9"/>
          </a:solidFill>
          <a:ln w="12700">
            <a:solidFill>
              <a:srgbClr val="EEF3F9"/>
            </a:solidFill>
            <a:prstDash val="solid"/>
          </a:ln>
        </p:spPr>
      </p:sp>
      <p:sp>
        <p:nvSpPr>
          <p:cNvPr id="9" name="Text 7"/>
          <p:cNvSpPr txBox="1"/>
          <p:nvPr/>
        </p:nvSpPr>
        <p:spPr>
          <a:xfrm>
            <a:off x="6035040" y="3200400"/>
            <a:ext cx="2560320" cy="548640"/>
          </a:xfrm>
          <a:prstGeom prst="rect">
            <a:avLst/>
          </a:prstGeom>
          <a:noFill/>
          <a:ln/>
        </p:spPr>
        <p:txBody>
          <a:bodyPr wrap="square" lIns="0" tIns="0" rIns="0" bIns="0" rtlCol="0" anchor="t"/>
          <a:lstStyle/>
          <a:p>
            <a:pPr indent="0" marL="0">
              <a:buNone/>
            </a:pPr>
            <a:r>
              <a:rPr lang="en-US" sz="3200" b="1" dirty="0">
                <a:solidFill>
                  <a:srgbClr val="F58025"/>
                </a:solidFill>
                <a:latin typeface="Arial" pitchFamily="34" charset="0"/>
                <a:ea typeface="Arial" pitchFamily="34" charset="-122"/>
                <a:cs typeface="Arial" pitchFamily="34" charset="-120"/>
              </a:rPr>
              <a:t>8-pt spread</a:t>
            </a:r>
            <a:endParaRPr lang="en-US" sz="3200" dirty="0"/>
          </a:p>
        </p:txBody>
      </p:sp>
      <p:sp>
        <p:nvSpPr>
          <p:cNvPr id="10" name="Text 8"/>
          <p:cNvSpPr txBox="1"/>
          <p:nvPr/>
        </p:nvSpPr>
        <p:spPr>
          <a:xfrm>
            <a:off x="6035040" y="3749040"/>
            <a:ext cx="2514600" cy="868680"/>
          </a:xfrm>
          <a:prstGeom prst="rect">
            <a:avLst/>
          </a:prstGeom>
          <a:noFill/>
          <a:ln/>
        </p:spPr>
        <p:txBody>
          <a:bodyPr wrap="square" lIns="0" tIns="0" rIns="0" bIns="0" rtlCol="0" anchor="t"/>
          <a:lstStyle/>
          <a:p>
            <a:pPr indent="0" marL="0">
              <a:buNone/>
            </a:pPr>
            <a:r>
              <a:rPr lang="en-US" sz="1100" dirty="0">
                <a:solidFill>
                  <a:srgbClr val="1A2233"/>
                </a:solidFill>
                <a:latin typeface="Arial" pitchFamily="34" charset="0"/>
                <a:ea typeface="Arial" pitchFamily="34" charset="-122"/>
                <a:cs typeface="Arial" pitchFamily="34" charset="-120"/>
              </a:rPr>
              <a:t>Largest gap between repeated identification runs of the same prompt; we treat changes under ±3.9 points as noise (thresholds are measured per activity).</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548640"/>
          </a:xfrm>
          <a:prstGeom prst="rect">
            <a:avLst/>
          </a:prstGeom>
          <a:noFill/>
          <a:ln/>
        </p:spPr>
        <p:txBody>
          <a:bodyPr wrap="square" lIns="0" tIns="0" rIns="0" bIns="0" rtlCol="0" anchor="ctr"/>
          <a:lstStyle/>
          <a:p>
            <a:pPr indent="0" marL="0">
              <a:buNone/>
            </a:pPr>
            <a:r>
              <a:rPr lang="en-US" sz="2800" b="1" dirty="0">
                <a:solidFill>
                  <a:srgbClr val="0B2F57"/>
                </a:solidFill>
                <a:latin typeface="Arial" pitchFamily="34" charset="0"/>
                <a:ea typeface="Arial" pitchFamily="34" charset="-122"/>
                <a:cs typeface="Arial" pitchFamily="34" charset="-120"/>
              </a:rPr>
              <a:t>Our evolutionary optimization loop</a:t>
            </a:r>
            <a:endParaRPr lang="en-US" sz="2800" dirty="0"/>
          </a:p>
        </p:txBody>
      </p:sp>
      <p:sp>
        <p:nvSpPr>
          <p:cNvPr id="3" name="Text 1"/>
          <p:cNvSpPr txBox="1"/>
          <p:nvPr/>
        </p:nvSpPr>
        <p:spPr>
          <a:xfrm>
            <a:off x="457200" y="841248"/>
            <a:ext cx="8229600" cy="320040"/>
          </a:xfrm>
          <a:prstGeom prst="rect">
            <a:avLst/>
          </a:prstGeom>
          <a:noFill/>
          <a:ln/>
        </p:spPr>
        <p:txBody>
          <a:bodyPr wrap="square" lIns="0" tIns="0" rIns="0" bIns="0" rtlCol="0" anchor="t"/>
          <a:lstStyle/>
          <a:p>
            <a:pPr indent="0" marL="0">
              <a:buNone/>
            </a:pPr>
            <a:r>
              <a:rPr lang="en-US" sz="1300" dirty="0">
                <a:solidFill>
                  <a:srgbClr val="5B6678"/>
                </a:solidFill>
                <a:latin typeface="Arial" pitchFamily="34" charset="0"/>
                <a:ea typeface="Arial" pitchFamily="34" charset="-122"/>
                <a:cs typeface="Arial" pitchFamily="34" charset="-120"/>
              </a:rPr>
              <a:t>Prompt → AI → Output → Evaluation → Error analysis → Suggestions → Revised prompt</a:t>
            </a:r>
            <a:endParaRPr lang="en-US" sz="1300" dirty="0"/>
          </a:p>
        </p:txBody>
      </p:sp>
      <p:sp>
        <p:nvSpPr>
          <p:cNvPr id="4" name="Shape 2"/>
          <p:cNvSpPr/>
          <p:nvPr/>
        </p:nvSpPr>
        <p:spPr>
          <a:xfrm>
            <a:off x="457200" y="1600200"/>
            <a:ext cx="1261872" cy="1417320"/>
          </a:xfrm>
          <a:prstGeom prst="roundRect">
            <a:avLst>
              <a:gd name="adj" fmla="val 5797"/>
            </a:avLst>
          </a:prstGeom>
          <a:solidFill>
            <a:srgbClr val="EEF3F9"/>
          </a:solidFill>
          <a:ln w="12700">
            <a:solidFill>
              <a:srgbClr val="EEF3F9"/>
            </a:solidFill>
            <a:prstDash val="solid"/>
          </a:ln>
        </p:spPr>
      </p:sp>
      <p:sp>
        <p:nvSpPr>
          <p:cNvPr id="5" name="Text 3"/>
          <p:cNvSpPr txBox="1"/>
          <p:nvPr/>
        </p:nvSpPr>
        <p:spPr>
          <a:xfrm>
            <a:off x="548640" y="1709928"/>
            <a:ext cx="1078992" cy="457200"/>
          </a:xfrm>
          <a:prstGeom prst="rect">
            <a:avLst/>
          </a:prstGeom>
          <a:noFill/>
          <a:ln/>
        </p:spPr>
        <p:txBody>
          <a:bodyPr wrap="square" lIns="0" tIns="0" rIns="0" bIns="0" rtlCol="0" anchor="t"/>
          <a:lstStyle/>
          <a:p>
            <a:pPr indent="0" marL="0">
              <a:buNone/>
            </a:pPr>
            <a:r>
              <a:rPr lang="en-US" sz="1300" b="1" dirty="0">
                <a:solidFill>
                  <a:srgbClr val="0B2F57"/>
                </a:solidFill>
                <a:latin typeface="Arial" pitchFamily="34" charset="0"/>
                <a:ea typeface="Arial" pitchFamily="34" charset="-122"/>
                <a:cs typeface="Arial" pitchFamily="34" charset="-120"/>
              </a:rPr>
              <a:t>Prompt Pi</a:t>
            </a:r>
            <a:endParaRPr lang="en-US" sz="1300" dirty="0"/>
          </a:p>
        </p:txBody>
      </p:sp>
      <p:sp>
        <p:nvSpPr>
          <p:cNvPr id="6" name="Text 4"/>
          <p:cNvSpPr txBox="1"/>
          <p:nvPr/>
        </p:nvSpPr>
        <p:spPr>
          <a:xfrm>
            <a:off x="548640" y="2194560"/>
            <a:ext cx="1078992" cy="777240"/>
          </a:xfrm>
          <a:prstGeom prst="rect">
            <a:avLst/>
          </a:prstGeom>
          <a:noFill/>
          <a:ln/>
        </p:spPr>
        <p:txBody>
          <a:bodyPr wrap="square" lIns="0" tIns="0" rIns="0" bIns="0" rtlCol="0" anchor="t"/>
          <a:lstStyle/>
          <a:p>
            <a:pPr indent="0" marL="0">
              <a:buNone/>
            </a:pPr>
            <a:r>
              <a:rPr lang="en-US" sz="1050" dirty="0">
                <a:solidFill>
                  <a:srgbClr val="5B6678"/>
                </a:solidFill>
                <a:latin typeface="Arial" pitchFamily="34" charset="0"/>
                <a:ea typeface="Arial" pitchFamily="34" charset="-122"/>
                <a:cs typeface="Arial" pitchFamily="34" charset="-120"/>
              </a:rPr>
              <a:t>Methodology + prompt text</a:t>
            </a:r>
            <a:endParaRPr lang="en-US" sz="1050" dirty="0"/>
          </a:p>
        </p:txBody>
      </p:sp>
      <p:sp>
        <p:nvSpPr>
          <p:cNvPr id="7" name="Text 5"/>
          <p:cNvSpPr txBox="1"/>
          <p:nvPr/>
        </p:nvSpPr>
        <p:spPr>
          <a:xfrm>
            <a:off x="1700784" y="2057400"/>
            <a:ext cx="182880" cy="457200"/>
          </a:xfrm>
          <a:prstGeom prst="rect">
            <a:avLst/>
          </a:prstGeom>
          <a:noFill/>
          <a:ln/>
        </p:spPr>
        <p:txBody>
          <a:bodyPr wrap="square" lIns="0" tIns="0" rIns="0" bIns="0" rtlCol="0" anchor="t"/>
          <a:lstStyle/>
          <a:p>
            <a:pPr algn="ctr" indent="0" marL="0">
              <a:buNone/>
            </a:pPr>
            <a:r>
              <a:rPr lang="en-US" sz="2200" b="1" dirty="0">
                <a:solidFill>
                  <a:srgbClr val="F58025"/>
                </a:solidFill>
                <a:latin typeface="Arial" pitchFamily="34" charset="0"/>
                <a:ea typeface="Arial" pitchFamily="34" charset="-122"/>
                <a:cs typeface="Arial" pitchFamily="34" charset="-120"/>
              </a:rPr>
              <a:t>›</a:t>
            </a:r>
            <a:endParaRPr lang="en-US" sz="2200" dirty="0"/>
          </a:p>
        </p:txBody>
      </p:sp>
      <p:sp>
        <p:nvSpPr>
          <p:cNvPr id="8" name="Shape 6"/>
          <p:cNvSpPr/>
          <p:nvPr/>
        </p:nvSpPr>
        <p:spPr>
          <a:xfrm>
            <a:off x="1865376" y="1600200"/>
            <a:ext cx="1261872" cy="1417320"/>
          </a:xfrm>
          <a:prstGeom prst="roundRect">
            <a:avLst>
              <a:gd name="adj" fmla="val 5797"/>
            </a:avLst>
          </a:prstGeom>
          <a:solidFill>
            <a:srgbClr val="EEF3F9"/>
          </a:solidFill>
          <a:ln w="12700">
            <a:solidFill>
              <a:srgbClr val="EEF3F9"/>
            </a:solidFill>
            <a:prstDash val="solid"/>
          </a:ln>
        </p:spPr>
      </p:sp>
      <p:sp>
        <p:nvSpPr>
          <p:cNvPr id="9" name="Text 7"/>
          <p:cNvSpPr txBox="1"/>
          <p:nvPr/>
        </p:nvSpPr>
        <p:spPr>
          <a:xfrm>
            <a:off x="1956816" y="1709928"/>
            <a:ext cx="1078992" cy="457200"/>
          </a:xfrm>
          <a:prstGeom prst="rect">
            <a:avLst/>
          </a:prstGeom>
          <a:noFill/>
          <a:ln/>
        </p:spPr>
        <p:txBody>
          <a:bodyPr wrap="square" lIns="0" tIns="0" rIns="0" bIns="0" rtlCol="0" anchor="t"/>
          <a:lstStyle/>
          <a:p>
            <a:pPr indent="0" marL="0">
              <a:buNone/>
            </a:pPr>
            <a:r>
              <a:rPr lang="en-US" sz="1300" b="1" dirty="0">
                <a:solidFill>
                  <a:srgbClr val="0B2F57"/>
                </a:solidFill>
                <a:latin typeface="Arial" pitchFamily="34" charset="0"/>
                <a:ea typeface="Arial" pitchFamily="34" charset="-122"/>
                <a:cs typeface="Arial" pitchFamily="34" charset="-120"/>
              </a:rPr>
              <a:t>Claude (blind)</a:t>
            </a:r>
            <a:endParaRPr lang="en-US" sz="1300" dirty="0"/>
          </a:p>
        </p:txBody>
      </p:sp>
      <p:sp>
        <p:nvSpPr>
          <p:cNvPr id="10" name="Text 8"/>
          <p:cNvSpPr txBox="1"/>
          <p:nvPr/>
        </p:nvSpPr>
        <p:spPr>
          <a:xfrm>
            <a:off x="1956816" y="2194560"/>
            <a:ext cx="1078992" cy="777240"/>
          </a:xfrm>
          <a:prstGeom prst="rect">
            <a:avLst/>
          </a:prstGeom>
          <a:noFill/>
          <a:ln/>
        </p:spPr>
        <p:txBody>
          <a:bodyPr wrap="square" lIns="0" tIns="0" rIns="0" bIns="0" rtlCol="0" anchor="t"/>
          <a:lstStyle/>
          <a:p>
            <a:pPr indent="0" marL="0">
              <a:buNone/>
            </a:pPr>
            <a:r>
              <a:rPr lang="en-US" sz="1050" dirty="0">
                <a:solidFill>
                  <a:srgbClr val="5B6678"/>
                </a:solidFill>
                <a:latin typeface="Arial" pitchFamily="34" charset="0"/>
                <a:ea typeface="Arial" pitchFamily="34" charset="-122"/>
                <a:cs typeface="Arial" pitchFamily="34" charset="-120"/>
              </a:rPr>
              <a:t>Sees only the prompt and the description</a:t>
            </a:r>
            <a:endParaRPr lang="en-US" sz="1050" dirty="0"/>
          </a:p>
        </p:txBody>
      </p:sp>
      <p:sp>
        <p:nvSpPr>
          <p:cNvPr id="11" name="Text 9"/>
          <p:cNvSpPr txBox="1"/>
          <p:nvPr/>
        </p:nvSpPr>
        <p:spPr>
          <a:xfrm>
            <a:off x="3108960" y="2057400"/>
            <a:ext cx="182880" cy="457200"/>
          </a:xfrm>
          <a:prstGeom prst="rect">
            <a:avLst/>
          </a:prstGeom>
          <a:noFill/>
          <a:ln/>
        </p:spPr>
        <p:txBody>
          <a:bodyPr wrap="square" lIns="0" tIns="0" rIns="0" bIns="0" rtlCol="0" anchor="t"/>
          <a:lstStyle/>
          <a:p>
            <a:pPr algn="ctr" indent="0" marL="0">
              <a:buNone/>
            </a:pPr>
            <a:r>
              <a:rPr lang="en-US" sz="2200" b="1" dirty="0">
                <a:solidFill>
                  <a:srgbClr val="F58025"/>
                </a:solidFill>
                <a:latin typeface="Arial" pitchFamily="34" charset="0"/>
                <a:ea typeface="Arial" pitchFamily="34" charset="-122"/>
                <a:cs typeface="Arial" pitchFamily="34" charset="-120"/>
              </a:rPr>
              <a:t>›</a:t>
            </a:r>
            <a:endParaRPr lang="en-US" sz="2200" dirty="0"/>
          </a:p>
        </p:txBody>
      </p:sp>
      <p:sp>
        <p:nvSpPr>
          <p:cNvPr id="12" name="Shape 10"/>
          <p:cNvSpPr/>
          <p:nvPr/>
        </p:nvSpPr>
        <p:spPr>
          <a:xfrm>
            <a:off x="3273552" y="1600200"/>
            <a:ext cx="1261872" cy="1417320"/>
          </a:xfrm>
          <a:prstGeom prst="roundRect">
            <a:avLst>
              <a:gd name="adj" fmla="val 5797"/>
            </a:avLst>
          </a:prstGeom>
          <a:solidFill>
            <a:srgbClr val="EEF3F9"/>
          </a:solidFill>
          <a:ln w="12700">
            <a:solidFill>
              <a:srgbClr val="EEF3F9"/>
            </a:solidFill>
            <a:prstDash val="solid"/>
          </a:ln>
        </p:spPr>
      </p:sp>
      <p:sp>
        <p:nvSpPr>
          <p:cNvPr id="13" name="Text 11"/>
          <p:cNvSpPr txBox="1"/>
          <p:nvPr/>
        </p:nvSpPr>
        <p:spPr>
          <a:xfrm>
            <a:off x="3364992" y="1709928"/>
            <a:ext cx="1078992" cy="457200"/>
          </a:xfrm>
          <a:prstGeom prst="rect">
            <a:avLst/>
          </a:prstGeom>
          <a:noFill/>
          <a:ln/>
        </p:spPr>
        <p:txBody>
          <a:bodyPr wrap="square" lIns="0" tIns="0" rIns="0" bIns="0" rtlCol="0" anchor="t"/>
          <a:lstStyle/>
          <a:p>
            <a:pPr indent="0" marL="0">
              <a:buNone/>
            </a:pPr>
            <a:r>
              <a:rPr lang="en-US" sz="1300" b="1" dirty="0">
                <a:solidFill>
                  <a:srgbClr val="0B2F57"/>
                </a:solidFill>
                <a:latin typeface="Arial" pitchFamily="34" charset="0"/>
                <a:ea typeface="Arial" pitchFamily="34" charset="-122"/>
                <a:cs typeface="Arial" pitchFamily="34" charset="-120"/>
              </a:rPr>
              <a:t>Response</a:t>
            </a:r>
            <a:endParaRPr lang="en-US" sz="1300" dirty="0"/>
          </a:p>
        </p:txBody>
      </p:sp>
      <p:sp>
        <p:nvSpPr>
          <p:cNvPr id="14" name="Text 12"/>
          <p:cNvSpPr txBox="1"/>
          <p:nvPr/>
        </p:nvSpPr>
        <p:spPr>
          <a:xfrm>
            <a:off x="3364992" y="2194560"/>
            <a:ext cx="1078992" cy="777240"/>
          </a:xfrm>
          <a:prstGeom prst="rect">
            <a:avLst/>
          </a:prstGeom>
          <a:noFill/>
          <a:ln/>
        </p:spPr>
        <p:txBody>
          <a:bodyPr wrap="square" lIns="0" tIns="0" rIns="0" bIns="0" rtlCol="0" anchor="t"/>
          <a:lstStyle/>
          <a:p>
            <a:pPr indent="0" marL="0">
              <a:buNone/>
            </a:pPr>
            <a:r>
              <a:rPr lang="en-US" sz="1050" dirty="0">
                <a:solidFill>
                  <a:srgbClr val="5B6678"/>
                </a:solidFill>
                <a:latin typeface="Arial" pitchFamily="34" charset="0"/>
                <a:ea typeface="Arial" pitchFamily="34" charset="-122"/>
                <a:cs typeface="Arial" pitchFamily="34" charset="-120"/>
              </a:rPr>
              <a:t>Saved for every run</a:t>
            </a:r>
            <a:endParaRPr lang="en-US" sz="1050" dirty="0"/>
          </a:p>
        </p:txBody>
      </p:sp>
      <p:sp>
        <p:nvSpPr>
          <p:cNvPr id="15" name="Text 13"/>
          <p:cNvSpPr txBox="1"/>
          <p:nvPr/>
        </p:nvSpPr>
        <p:spPr>
          <a:xfrm>
            <a:off x="4517136" y="2057400"/>
            <a:ext cx="182880" cy="457200"/>
          </a:xfrm>
          <a:prstGeom prst="rect">
            <a:avLst/>
          </a:prstGeom>
          <a:noFill/>
          <a:ln/>
        </p:spPr>
        <p:txBody>
          <a:bodyPr wrap="square" lIns="0" tIns="0" rIns="0" bIns="0" rtlCol="0" anchor="t"/>
          <a:lstStyle/>
          <a:p>
            <a:pPr algn="ctr" indent="0" marL="0">
              <a:buNone/>
            </a:pPr>
            <a:r>
              <a:rPr lang="en-US" sz="2200" b="1" dirty="0">
                <a:solidFill>
                  <a:srgbClr val="F58025"/>
                </a:solidFill>
                <a:latin typeface="Arial" pitchFamily="34" charset="0"/>
                <a:ea typeface="Arial" pitchFamily="34" charset="-122"/>
                <a:cs typeface="Arial" pitchFamily="34" charset="-120"/>
              </a:rPr>
              <a:t>›</a:t>
            </a:r>
            <a:endParaRPr lang="en-US" sz="2200" dirty="0"/>
          </a:p>
        </p:txBody>
      </p:sp>
      <p:sp>
        <p:nvSpPr>
          <p:cNvPr id="16" name="Shape 14"/>
          <p:cNvSpPr/>
          <p:nvPr/>
        </p:nvSpPr>
        <p:spPr>
          <a:xfrm>
            <a:off x="4681728" y="1600200"/>
            <a:ext cx="1261872" cy="1417320"/>
          </a:xfrm>
          <a:prstGeom prst="roundRect">
            <a:avLst>
              <a:gd name="adj" fmla="val 5797"/>
            </a:avLst>
          </a:prstGeom>
          <a:solidFill>
            <a:srgbClr val="EEF3F9"/>
          </a:solidFill>
          <a:ln w="12700">
            <a:solidFill>
              <a:srgbClr val="EEF3F9"/>
            </a:solidFill>
            <a:prstDash val="solid"/>
          </a:ln>
        </p:spPr>
      </p:sp>
      <p:sp>
        <p:nvSpPr>
          <p:cNvPr id="17" name="Text 15"/>
          <p:cNvSpPr txBox="1"/>
          <p:nvPr/>
        </p:nvSpPr>
        <p:spPr>
          <a:xfrm>
            <a:off x="4773168" y="1709928"/>
            <a:ext cx="1078992" cy="457200"/>
          </a:xfrm>
          <a:prstGeom prst="rect">
            <a:avLst/>
          </a:prstGeom>
          <a:noFill/>
          <a:ln/>
        </p:spPr>
        <p:txBody>
          <a:bodyPr wrap="square" lIns="0" tIns="0" rIns="0" bIns="0" rtlCol="0" anchor="t"/>
          <a:lstStyle/>
          <a:p>
            <a:pPr indent="0" marL="0">
              <a:buNone/>
            </a:pPr>
            <a:r>
              <a:rPr lang="en-US" sz="1300" b="1" dirty="0">
                <a:solidFill>
                  <a:srgbClr val="0B2F57"/>
                </a:solidFill>
                <a:latin typeface="Arial" pitchFamily="34" charset="0"/>
                <a:ea typeface="Arial" pitchFamily="34" charset="-122"/>
                <a:cs typeface="Arial" pitchFamily="34" charset="-120"/>
              </a:rPr>
              <a:t>Scoring</a:t>
            </a:r>
            <a:endParaRPr lang="en-US" sz="1300" dirty="0"/>
          </a:p>
        </p:txBody>
      </p:sp>
      <p:sp>
        <p:nvSpPr>
          <p:cNvPr id="18" name="Text 16"/>
          <p:cNvSpPr txBox="1"/>
          <p:nvPr/>
        </p:nvSpPr>
        <p:spPr>
          <a:xfrm>
            <a:off x="4773168" y="2194560"/>
            <a:ext cx="1078992" cy="777240"/>
          </a:xfrm>
          <a:prstGeom prst="rect">
            <a:avLst/>
          </a:prstGeom>
          <a:noFill/>
          <a:ln/>
        </p:spPr>
        <p:txBody>
          <a:bodyPr wrap="square" lIns="0" tIns="0" rIns="0" bIns="0" rtlCol="0" anchor="t"/>
          <a:lstStyle/>
          <a:p>
            <a:pPr indent="0" marL="0">
              <a:buNone/>
            </a:pPr>
            <a:r>
              <a:rPr lang="en-US" sz="1050" dirty="0">
                <a:solidFill>
                  <a:srgbClr val="5B6678"/>
                </a:solidFill>
                <a:latin typeface="Arial" pitchFamily="34" charset="0"/>
                <a:ea typeface="Arial" pitchFamily="34" charset="-122"/>
                <a:cs typeface="Arial" pitchFamily="34" charset="-120"/>
              </a:rPr>
              <a:t>F1 vs expert solution</a:t>
            </a:r>
            <a:endParaRPr lang="en-US" sz="1050" dirty="0"/>
          </a:p>
        </p:txBody>
      </p:sp>
      <p:sp>
        <p:nvSpPr>
          <p:cNvPr id="19" name="Text 17"/>
          <p:cNvSpPr txBox="1"/>
          <p:nvPr/>
        </p:nvSpPr>
        <p:spPr>
          <a:xfrm>
            <a:off x="5925312" y="2057400"/>
            <a:ext cx="182880" cy="457200"/>
          </a:xfrm>
          <a:prstGeom prst="rect">
            <a:avLst/>
          </a:prstGeom>
          <a:noFill/>
          <a:ln/>
        </p:spPr>
        <p:txBody>
          <a:bodyPr wrap="square" lIns="0" tIns="0" rIns="0" bIns="0" rtlCol="0" anchor="t"/>
          <a:lstStyle/>
          <a:p>
            <a:pPr algn="ctr" indent="0" marL="0">
              <a:buNone/>
            </a:pPr>
            <a:r>
              <a:rPr lang="en-US" sz="2200" b="1" dirty="0">
                <a:solidFill>
                  <a:srgbClr val="F58025"/>
                </a:solidFill>
                <a:latin typeface="Arial" pitchFamily="34" charset="0"/>
                <a:ea typeface="Arial" pitchFamily="34" charset="-122"/>
                <a:cs typeface="Arial" pitchFamily="34" charset="-120"/>
              </a:rPr>
              <a:t>›</a:t>
            </a:r>
            <a:endParaRPr lang="en-US" sz="2200" dirty="0"/>
          </a:p>
        </p:txBody>
      </p:sp>
      <p:sp>
        <p:nvSpPr>
          <p:cNvPr id="20" name="Shape 18"/>
          <p:cNvSpPr/>
          <p:nvPr/>
        </p:nvSpPr>
        <p:spPr>
          <a:xfrm>
            <a:off x="6089904" y="1600200"/>
            <a:ext cx="1261872" cy="1417320"/>
          </a:xfrm>
          <a:prstGeom prst="roundRect">
            <a:avLst>
              <a:gd name="adj" fmla="val 5797"/>
            </a:avLst>
          </a:prstGeom>
          <a:solidFill>
            <a:srgbClr val="EEF3F9"/>
          </a:solidFill>
          <a:ln w="12700">
            <a:solidFill>
              <a:srgbClr val="EEF3F9"/>
            </a:solidFill>
            <a:prstDash val="solid"/>
          </a:ln>
        </p:spPr>
      </p:sp>
      <p:sp>
        <p:nvSpPr>
          <p:cNvPr id="21" name="Text 19"/>
          <p:cNvSpPr txBox="1"/>
          <p:nvPr/>
        </p:nvSpPr>
        <p:spPr>
          <a:xfrm>
            <a:off x="6181344" y="1709928"/>
            <a:ext cx="1078992" cy="457200"/>
          </a:xfrm>
          <a:prstGeom prst="rect">
            <a:avLst/>
          </a:prstGeom>
          <a:noFill/>
          <a:ln/>
        </p:spPr>
        <p:txBody>
          <a:bodyPr wrap="square" lIns="0" tIns="0" rIns="0" bIns="0" rtlCol="0" anchor="t"/>
          <a:lstStyle/>
          <a:p>
            <a:pPr indent="0" marL="0">
              <a:buNone/>
            </a:pPr>
            <a:r>
              <a:rPr lang="en-US" sz="1300" b="1" dirty="0">
                <a:solidFill>
                  <a:srgbClr val="0B2F57"/>
                </a:solidFill>
                <a:latin typeface="Arial" pitchFamily="34" charset="0"/>
                <a:ea typeface="Arial" pitchFamily="34" charset="-122"/>
                <a:cs typeface="Arial" pitchFamily="34" charset="-120"/>
              </a:rPr>
              <a:t>Error analysis</a:t>
            </a:r>
            <a:endParaRPr lang="en-US" sz="1300" dirty="0"/>
          </a:p>
        </p:txBody>
      </p:sp>
      <p:sp>
        <p:nvSpPr>
          <p:cNvPr id="22" name="Text 20"/>
          <p:cNvSpPr txBox="1"/>
          <p:nvPr/>
        </p:nvSpPr>
        <p:spPr>
          <a:xfrm>
            <a:off x="6181344" y="2194560"/>
            <a:ext cx="1078992" cy="777240"/>
          </a:xfrm>
          <a:prstGeom prst="rect">
            <a:avLst/>
          </a:prstGeom>
          <a:noFill/>
          <a:ln/>
        </p:spPr>
        <p:txBody>
          <a:bodyPr wrap="square" lIns="0" tIns="0" rIns="0" bIns="0" rtlCol="0" anchor="t"/>
          <a:lstStyle/>
          <a:p>
            <a:pPr indent="0" marL="0">
              <a:buNone/>
            </a:pPr>
            <a:r>
              <a:rPr lang="en-US" sz="1050" dirty="0">
                <a:solidFill>
                  <a:srgbClr val="5B6678"/>
                </a:solidFill>
                <a:latin typeface="Arial" pitchFamily="34" charset="0"/>
                <a:ea typeface="Arial" pitchFamily="34" charset="-122"/>
                <a:cs typeface="Arial" pitchFamily="34" charset="-120"/>
              </a:rPr>
              <a:t>Misses and extras grouped into error classes</a:t>
            </a:r>
            <a:endParaRPr lang="en-US" sz="1050" dirty="0"/>
          </a:p>
        </p:txBody>
      </p:sp>
      <p:sp>
        <p:nvSpPr>
          <p:cNvPr id="23" name="Text 21"/>
          <p:cNvSpPr txBox="1"/>
          <p:nvPr/>
        </p:nvSpPr>
        <p:spPr>
          <a:xfrm>
            <a:off x="7333488" y="2057400"/>
            <a:ext cx="182880" cy="457200"/>
          </a:xfrm>
          <a:prstGeom prst="rect">
            <a:avLst/>
          </a:prstGeom>
          <a:noFill/>
          <a:ln/>
        </p:spPr>
        <p:txBody>
          <a:bodyPr wrap="square" lIns="0" tIns="0" rIns="0" bIns="0" rtlCol="0" anchor="t"/>
          <a:lstStyle/>
          <a:p>
            <a:pPr algn="ctr" indent="0" marL="0">
              <a:buNone/>
            </a:pPr>
            <a:r>
              <a:rPr lang="en-US" sz="2200" b="1" dirty="0">
                <a:solidFill>
                  <a:srgbClr val="F58025"/>
                </a:solidFill>
                <a:latin typeface="Arial" pitchFamily="34" charset="0"/>
                <a:ea typeface="Arial" pitchFamily="34" charset="-122"/>
                <a:cs typeface="Arial" pitchFamily="34" charset="-120"/>
              </a:rPr>
              <a:t>›</a:t>
            </a:r>
            <a:endParaRPr lang="en-US" sz="2200" dirty="0"/>
          </a:p>
        </p:txBody>
      </p:sp>
      <p:sp>
        <p:nvSpPr>
          <p:cNvPr id="24" name="Shape 22"/>
          <p:cNvSpPr/>
          <p:nvPr/>
        </p:nvSpPr>
        <p:spPr>
          <a:xfrm>
            <a:off x="7498080" y="1600200"/>
            <a:ext cx="1261872" cy="1417320"/>
          </a:xfrm>
          <a:prstGeom prst="roundRect">
            <a:avLst>
              <a:gd name="adj" fmla="val 5797"/>
            </a:avLst>
          </a:prstGeom>
          <a:solidFill>
            <a:srgbClr val="0B2F57"/>
          </a:solidFill>
          <a:ln w="12700">
            <a:solidFill>
              <a:srgbClr val="0B2F57"/>
            </a:solidFill>
            <a:prstDash val="solid"/>
          </a:ln>
        </p:spPr>
      </p:sp>
      <p:sp>
        <p:nvSpPr>
          <p:cNvPr id="25" name="Text 23"/>
          <p:cNvSpPr txBox="1"/>
          <p:nvPr/>
        </p:nvSpPr>
        <p:spPr>
          <a:xfrm>
            <a:off x="7589520" y="1709928"/>
            <a:ext cx="1078992" cy="457200"/>
          </a:xfrm>
          <a:prstGeom prst="rect">
            <a:avLst/>
          </a:prstGeom>
          <a:noFill/>
          <a:ln/>
        </p:spPr>
        <p:txBody>
          <a:bodyPr wrap="square" lIns="0" tIns="0" rIns="0" bIns="0" rtlCol="0" anchor="t"/>
          <a:lstStyle/>
          <a:p>
            <a:pPr indent="0" marL="0">
              <a:buNone/>
            </a:pPr>
            <a:r>
              <a:rPr lang="en-US" sz="1300" b="1" dirty="0">
                <a:solidFill>
                  <a:srgbClr val="FFFFFF"/>
                </a:solidFill>
                <a:latin typeface="Arial" pitchFamily="34" charset="0"/>
                <a:ea typeface="Arial" pitchFamily="34" charset="-122"/>
                <a:cs typeface="Arial" pitchFamily="34" charset="-120"/>
              </a:rPr>
              <a:t>Revise → Pi+1</a:t>
            </a:r>
            <a:endParaRPr lang="en-US" sz="1300" dirty="0"/>
          </a:p>
        </p:txBody>
      </p:sp>
      <p:sp>
        <p:nvSpPr>
          <p:cNvPr id="26" name="Text 24"/>
          <p:cNvSpPr txBox="1"/>
          <p:nvPr/>
        </p:nvSpPr>
        <p:spPr>
          <a:xfrm>
            <a:off x="7589520" y="2194560"/>
            <a:ext cx="1078992" cy="777240"/>
          </a:xfrm>
          <a:prstGeom prst="rect">
            <a:avLst/>
          </a:prstGeom>
          <a:noFill/>
          <a:ln/>
        </p:spPr>
        <p:txBody>
          <a:bodyPr wrap="square" lIns="0" tIns="0" rIns="0" bIns="0" rtlCol="0" anchor="t"/>
          <a:lstStyle/>
          <a:p>
            <a:pPr indent="0" marL="0">
              <a:buNone/>
            </a:pPr>
            <a:r>
              <a:rPr lang="en-US" sz="1050" dirty="0">
                <a:solidFill>
                  <a:srgbClr val="D6E6F5"/>
                </a:solidFill>
                <a:latin typeface="Arial" pitchFamily="34" charset="0"/>
                <a:ea typeface="Arial" pitchFamily="34" charset="-122"/>
                <a:cs typeface="Arial" pitchFamily="34" charset="-120"/>
              </a:rPr>
              <a:t>One rule per error class, stated hypothesis</a:t>
            </a:r>
            <a:endParaRPr lang="en-US" sz="1050" dirty="0"/>
          </a:p>
        </p:txBody>
      </p:sp>
      <p:sp>
        <p:nvSpPr>
          <p:cNvPr id="27" name="Shape 25"/>
          <p:cNvSpPr/>
          <p:nvPr/>
        </p:nvSpPr>
        <p:spPr>
          <a:xfrm>
            <a:off x="457200" y="3291840"/>
            <a:ext cx="8229600" cy="1371600"/>
          </a:xfrm>
          <a:prstGeom prst="roundRect">
            <a:avLst>
              <a:gd name="adj" fmla="val 5333"/>
            </a:avLst>
          </a:prstGeom>
          <a:solidFill>
            <a:srgbClr val="FFFFFF"/>
          </a:solidFill>
          <a:ln w="12700">
            <a:solidFill>
              <a:srgbClr val="FFFFFF"/>
            </a:solidFill>
            <a:prstDash val="solid"/>
          </a:ln>
        </p:spPr>
      </p:sp>
      <p:sp>
        <p:nvSpPr>
          <p:cNvPr id="28" name="Shape 26"/>
          <p:cNvSpPr/>
          <p:nvPr/>
        </p:nvSpPr>
        <p:spPr>
          <a:xfrm>
            <a:off x="457200" y="3291840"/>
            <a:ext cx="8229600" cy="1371600"/>
          </a:xfrm>
          <a:prstGeom prst="roundRect">
            <a:avLst>
              <a:gd name="adj" fmla="val 5333"/>
            </a:avLst>
          </a:prstGeom>
          <a:solidFill>
            <a:srgbClr val="FFFFFF"/>
          </a:solidFill>
          <a:ln w="12700">
            <a:solidFill>
              <a:srgbClr val="D5DDE8"/>
            </a:solidFill>
            <a:prstDash val="solid"/>
          </a:ln>
        </p:spPr>
      </p:sp>
      <p:sp>
        <p:nvSpPr>
          <p:cNvPr id="29" name="Text 27"/>
          <p:cNvSpPr txBox="1"/>
          <p:nvPr/>
        </p:nvSpPr>
        <p:spPr>
          <a:xfrm>
            <a:off x="685800" y="3429000"/>
            <a:ext cx="7772400" cy="1188720"/>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rgbClr val="1A2233"/>
                </a:solidFill>
                <a:latin typeface="Arial" pitchFamily="34" charset="0"/>
                <a:ea typeface="Arial" pitchFamily="34" charset="-122"/>
                <a:cs typeface="Arial" pitchFamily="34" charset="-120"/>
              </a:rPr>
              <a:t>Assignment steps 3–8: run on library; if F1 &lt; 90, go back to step 3 and modify the methodology and prompt. Then car rental and NTSS; if either is &lt; 90, go back to step 3.</a:t>
            </a:r>
            <a:endParaRPr lang="en-US" sz="1200" dirty="0"/>
          </a:p>
          <a:p>
            <a:pPr marL="177800" indent="-177800">
              <a:spcAft>
                <a:spcPts val="600"/>
              </a:spcAft>
              <a:buSzPct val="100000"/>
              <a:buChar char="•"/>
            </a:pPr>
            <a:r>
              <a:rPr lang="en-US" sz="1200" dirty="0">
                <a:solidFill>
                  <a:srgbClr val="1A2233"/>
                </a:solidFill>
                <a:latin typeface="Arial" pitchFamily="34" charset="0"/>
                <a:ea typeface="Arial" pitchFamily="34" charset="-122"/>
                <a:cs typeface="Arial" pitchFamily="34" charset="-120"/>
              </a:rPr>
              <a:t>We ran all three domains every round, so each change was also checked for generalization.</a:t>
            </a:r>
            <a:endParaRPr lang="en-US" sz="1200" dirty="0"/>
          </a:p>
          <a:p>
            <a:pPr marL="177800" indent="-177800">
              <a:spcAft>
                <a:spcPts val="600"/>
              </a:spcAft>
              <a:buSzPct val="100000"/>
              <a:buChar char="•"/>
            </a:pPr>
            <a:r>
              <a:rPr lang="en-US" sz="1200" dirty="0">
                <a:solidFill>
                  <a:srgbClr val="1A2233"/>
                </a:solidFill>
                <a:latin typeface="Arial" pitchFamily="34" charset="0"/>
                <a:ea typeface="Arial" pitchFamily="34" charset="-122"/>
                <a:cs typeface="Arial" pitchFamily="34" charset="-120"/>
              </a:rPr>
              <a:t>Tools: a prompt lab page (runs Claude and shows live F1), the team repo's scorers, and a changelog with the evidence behind every change.</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548640"/>
          </a:xfrm>
          <a:prstGeom prst="rect">
            <a:avLst/>
          </a:prstGeom>
          <a:noFill/>
          <a:ln/>
        </p:spPr>
        <p:txBody>
          <a:bodyPr wrap="square" lIns="0" tIns="0" rIns="0" bIns="0" rtlCol="0" anchor="ctr"/>
          <a:lstStyle/>
          <a:p>
            <a:pPr indent="0" marL="0">
              <a:buNone/>
            </a:pPr>
            <a:r>
              <a:rPr lang="en-US" sz="2800" b="1" dirty="0">
                <a:solidFill>
                  <a:srgbClr val="0B2F57"/>
                </a:solidFill>
                <a:latin typeface="Arial" pitchFamily="34" charset="0"/>
                <a:ea typeface="Arial" pitchFamily="34" charset="-122"/>
                <a:cs typeface="Arial" pitchFamily="34" charset="-120"/>
              </a:rPr>
              <a:t>Baseline prompts (P0)</a:t>
            </a:r>
            <a:endParaRPr lang="en-US" sz="2800" dirty="0"/>
          </a:p>
        </p:txBody>
      </p:sp>
      <p:sp>
        <p:nvSpPr>
          <p:cNvPr id="3" name="Text 1"/>
          <p:cNvSpPr txBox="1"/>
          <p:nvPr/>
        </p:nvSpPr>
        <p:spPr>
          <a:xfrm>
            <a:off x="457200" y="841248"/>
            <a:ext cx="8229600" cy="320040"/>
          </a:xfrm>
          <a:prstGeom prst="rect">
            <a:avLst/>
          </a:prstGeom>
          <a:noFill/>
          <a:ln/>
        </p:spPr>
        <p:txBody>
          <a:bodyPr wrap="square" lIns="0" tIns="0" rIns="0" bIns="0" rtlCol="0" anchor="t"/>
          <a:lstStyle/>
          <a:p>
            <a:pPr indent="0" marL="0">
              <a:buNone/>
            </a:pPr>
            <a:r>
              <a:rPr lang="en-US" sz="1300" dirty="0">
                <a:solidFill>
                  <a:srgbClr val="5B6678"/>
                </a:solidFill>
                <a:latin typeface="Arial" pitchFamily="34" charset="0"/>
                <a:ea typeface="Arial" pitchFamily="34" charset="-122"/>
                <a:cs typeface="Arial" pitchFamily="34" charset="-120"/>
              </a:rPr>
              <a:t>Where we started</a:t>
            </a:r>
            <a:endParaRPr lang="en-US" sz="1300" dirty="0"/>
          </a:p>
        </p:txBody>
      </p:sp>
      <p:sp>
        <p:nvSpPr>
          <p:cNvPr id="4" name="Shape 2"/>
          <p:cNvSpPr/>
          <p:nvPr/>
        </p:nvSpPr>
        <p:spPr>
          <a:xfrm>
            <a:off x="457200" y="1325880"/>
            <a:ext cx="3977640" cy="3383280"/>
          </a:xfrm>
          <a:prstGeom prst="roundRect">
            <a:avLst>
              <a:gd name="adj" fmla="val 2162"/>
            </a:avLst>
          </a:prstGeom>
          <a:solidFill>
            <a:srgbClr val="EEF3F9"/>
          </a:solidFill>
          <a:ln w="12700">
            <a:solidFill>
              <a:srgbClr val="EEF3F9"/>
            </a:solidFill>
            <a:prstDash val="solid"/>
          </a:ln>
        </p:spPr>
      </p:sp>
      <p:sp>
        <p:nvSpPr>
          <p:cNvPr id="5" name="Text 3"/>
          <p:cNvSpPr txBox="1"/>
          <p:nvPr/>
        </p:nvSpPr>
        <p:spPr>
          <a:xfrm>
            <a:off x="640080" y="1417320"/>
            <a:ext cx="3657600" cy="274320"/>
          </a:xfrm>
          <a:prstGeom prst="rect">
            <a:avLst/>
          </a:prstGeom>
          <a:noFill/>
          <a:ln/>
        </p:spPr>
        <p:txBody>
          <a:bodyPr wrap="square" lIns="0" tIns="0" rIns="0" bIns="0" rtlCol="0" anchor="t"/>
          <a:lstStyle/>
          <a:p>
            <a:pPr indent="0" marL="0">
              <a:buNone/>
            </a:pPr>
            <a:r>
              <a:rPr lang="en-US" sz="1400" b="1" dirty="0">
                <a:solidFill>
                  <a:srgbClr val="0064B1"/>
                </a:solidFill>
                <a:latin typeface="Arial" pitchFamily="34" charset="0"/>
                <a:ea typeface="Arial" pitchFamily="34" charset="-122"/>
                <a:cs typeface="Arial" pitchFamily="34" charset="-120"/>
              </a:rPr>
              <a:t>Identification P0</a:t>
            </a:r>
            <a:endParaRPr lang="en-US" sz="1400" dirty="0"/>
          </a:p>
        </p:txBody>
      </p:sp>
      <p:sp>
        <p:nvSpPr>
          <p:cNvPr id="6" name="Text 4"/>
          <p:cNvSpPr txBox="1"/>
          <p:nvPr/>
        </p:nvSpPr>
        <p:spPr>
          <a:xfrm>
            <a:off x="640080" y="1737360"/>
            <a:ext cx="3657600" cy="2880360"/>
          </a:xfrm>
          <a:prstGeom prst="rect">
            <a:avLst/>
          </a:prstGeom>
          <a:noFill/>
          <a:ln/>
        </p:spPr>
        <p:txBody>
          <a:bodyPr wrap="square" lIns="0" tIns="0" rIns="0" bIns="0" rtlCol="0" anchor="t"/>
          <a:lstStyle/>
          <a:p>
            <a:pPr indent="0" marL="0">
              <a:buNone/>
            </a:pPr>
            <a:r>
              <a:rPr lang="en-US" sz="950" dirty="0">
                <a:solidFill>
                  <a:srgbClr val="1A2233"/>
                </a:solidFill>
                <a:latin typeface="Courier New" pitchFamily="34" charset="0"/>
                <a:ea typeface="Courier New" pitchFamily="34" charset="-122"/>
                <a:cs typeface="Courier New" pitchFamily="34" charset="-120"/>
              </a:rPr>
              <a:t>Identify and list the domain-specific phrases in the business description below.</a:t>
            </a:r>
            <a:endParaRPr lang="en-US" sz="950" dirty="0"/>
          </a:p>
          <a:p>
            <a:pPr indent="0" marL="0">
              <a:buNone/>
            </a:pPr>
            <a:endParaRPr lang="en-US" sz="950" dirty="0"/>
          </a:p>
          <a:p>
            <a:pPr indent="0" marL="0">
              <a:buNone/>
            </a:pPr>
            <a:r>
              <a:rPr lang="en-US" sz="950" dirty="0">
                <a:solidFill>
                  <a:srgbClr val="1A2233"/>
                </a:solidFill>
                <a:latin typeface="Courier New" pitchFamily="34" charset="0"/>
                <a:ea typeface="Courier New" pitchFamily="34" charset="-122"/>
                <a:cs typeface="Courier New" pitchFamily="34" charset="-120"/>
              </a:rPr>
              <a:t>Identify the following DOMAIN-SPECIFIC phrases:</a:t>
            </a:r>
            <a:endParaRPr lang="en-US" sz="950" dirty="0"/>
          </a:p>
          <a:p>
            <a:pPr indent="0" marL="0">
              <a:buNone/>
            </a:pPr>
            <a:r>
              <a:rPr lang="en-US" sz="950" dirty="0">
                <a:solidFill>
                  <a:srgbClr val="1A2233"/>
                </a:solidFill>
                <a:latin typeface="Courier New" pitchFamily="34" charset="0"/>
                <a:ea typeface="Courier New" pitchFamily="34" charset="-122"/>
                <a:cs typeface="Courier New" pitchFamily="34" charset="-120"/>
              </a:rPr>
              <a:t>1. nouns / noun phrases</a:t>
            </a:r>
            <a:endParaRPr lang="en-US" sz="950" dirty="0"/>
          </a:p>
          <a:p>
            <a:pPr indent="0" marL="0">
              <a:buNone/>
            </a:pPr>
            <a:r>
              <a:rPr lang="en-US" sz="950" dirty="0">
                <a:solidFill>
                  <a:srgbClr val="1A2233"/>
                </a:solidFill>
                <a:latin typeface="Courier New" pitchFamily="34" charset="0"/>
                <a:ea typeface="Courier New" pitchFamily="34" charset="-122"/>
                <a:cs typeface="Courier New" pitchFamily="34" charset="-120"/>
              </a:rPr>
              <a:t>2. "X of Y" expressions</a:t>
            </a:r>
            <a:endParaRPr lang="en-US" sz="950" dirty="0"/>
          </a:p>
          <a:p>
            <a:pPr indent="0" marL="0">
              <a:buNone/>
            </a:pPr>
            <a:r>
              <a:rPr lang="en-US" sz="950" dirty="0">
                <a:solidFill>
                  <a:srgbClr val="1A2233"/>
                </a:solidFill>
                <a:latin typeface="Courier New" pitchFamily="34" charset="0"/>
                <a:ea typeface="Courier New" pitchFamily="34" charset="-122"/>
                <a:cs typeface="Courier New" pitchFamily="34" charset="-120"/>
              </a:rPr>
              <a:t>3. transitive verbs</a:t>
            </a:r>
            <a:endParaRPr lang="en-US" sz="950" dirty="0"/>
          </a:p>
          <a:p>
            <a:pPr indent="0" marL="0">
              <a:buNone/>
            </a:pPr>
            <a:r>
              <a:rPr lang="en-US" sz="950" dirty="0">
                <a:solidFill>
                  <a:srgbClr val="1A2233"/>
                </a:solidFill>
                <a:latin typeface="Courier New" pitchFamily="34" charset="0"/>
                <a:ea typeface="Courier New" pitchFamily="34" charset="-122"/>
                <a:cs typeface="Courier New" pitchFamily="34" charset="-120"/>
              </a:rPr>
              <a:t>4. adjectives, enumeration</a:t>
            </a:r>
            <a:endParaRPr lang="en-US" sz="950" dirty="0"/>
          </a:p>
          <a:p>
            <a:pPr indent="0" marL="0">
              <a:buNone/>
            </a:pPr>
            <a:r>
              <a:rPr lang="en-US" sz="950" dirty="0">
                <a:solidFill>
                  <a:srgbClr val="1A2233"/>
                </a:solidFill>
                <a:latin typeface="Courier New" pitchFamily="34" charset="0"/>
                <a:ea typeface="Courier New" pitchFamily="34" charset="-122"/>
                <a:cs typeface="Courier New" pitchFamily="34" charset="-120"/>
              </a:rPr>
              <a:t>5. numeric, quantity</a:t>
            </a:r>
            <a:endParaRPr lang="en-US" sz="950" dirty="0"/>
          </a:p>
          <a:p>
            <a:pPr indent="0" marL="0">
              <a:buNone/>
            </a:pPr>
            <a:r>
              <a:rPr lang="en-US" sz="950" dirty="0">
                <a:solidFill>
                  <a:srgbClr val="1A2233"/>
                </a:solidFill>
                <a:latin typeface="Courier New" pitchFamily="34" charset="0"/>
                <a:ea typeface="Courier New" pitchFamily="34" charset="-122"/>
                <a:cs typeface="Courier New" pitchFamily="34" charset="-120"/>
              </a:rPr>
              <a:t>6. possession expressions</a:t>
            </a:r>
            <a:endParaRPr lang="en-US" sz="950" dirty="0"/>
          </a:p>
          <a:p>
            <a:pPr indent="0" marL="0">
              <a:buNone/>
            </a:pPr>
            <a:r>
              <a:rPr lang="en-US" sz="950" dirty="0">
                <a:solidFill>
                  <a:srgbClr val="1A2233"/>
                </a:solidFill>
                <a:latin typeface="Courier New" pitchFamily="34" charset="0"/>
                <a:ea typeface="Courier New" pitchFamily="34" charset="-122"/>
                <a:cs typeface="Courier New" pitchFamily="34" charset="-120"/>
              </a:rPr>
              <a:t>7. "consist of / part of" expressions</a:t>
            </a:r>
            <a:endParaRPr lang="en-US" sz="950" dirty="0"/>
          </a:p>
          <a:p>
            <a:pPr indent="0" marL="0">
              <a:buNone/>
            </a:pPr>
            <a:r>
              <a:rPr lang="en-US" sz="950" dirty="0">
                <a:solidFill>
                  <a:srgbClr val="1A2233"/>
                </a:solidFill>
                <a:latin typeface="Courier New" pitchFamily="34" charset="0"/>
                <a:ea typeface="Courier New" pitchFamily="34" charset="-122"/>
                <a:cs typeface="Courier New" pitchFamily="34" charset="-120"/>
              </a:rPr>
              <a:t>8. containment expressions</a:t>
            </a:r>
            <a:endParaRPr lang="en-US" sz="950" dirty="0"/>
          </a:p>
          <a:p>
            <a:pPr indent="0" marL="0">
              <a:buNone/>
            </a:pPr>
            <a:r>
              <a:rPr lang="en-US" sz="950" dirty="0">
                <a:solidFill>
                  <a:srgbClr val="1A2233"/>
                </a:solidFill>
                <a:latin typeface="Courier New" pitchFamily="34" charset="0"/>
                <a:ea typeface="Courier New" pitchFamily="34" charset="-122"/>
                <a:cs typeface="Courier New" pitchFamily="34" charset="-120"/>
              </a:rPr>
              <a:t>9. "X is a Y" expressions</a:t>
            </a:r>
            <a:endParaRPr lang="en-US" sz="950" dirty="0"/>
          </a:p>
          <a:p>
            <a:pPr indent="0" marL="0">
              <a:buNone/>
            </a:pPr>
            <a:endParaRPr lang="en-US" sz="950" dirty="0"/>
          </a:p>
          <a:p>
            <a:pPr indent="0" marL="0">
              <a:buNone/>
            </a:pPr>
            <a:r>
              <a:rPr lang="en-US" sz="950" dirty="0">
                <a:solidFill>
                  <a:srgbClr val="1A2233"/>
                </a:solidFill>
                <a:latin typeface="Courier New" pitchFamily="34" charset="0"/>
                <a:ea typeface="Courier New" pitchFamily="34" charset="-122"/>
                <a:cs typeface="Courier New" pitchFamily="34" charset="-120"/>
              </a:rPr>
              <a:t>Output a table | rule | phrase |.</a:t>
            </a:r>
            <a:endParaRPr lang="en-US" sz="950" dirty="0"/>
          </a:p>
        </p:txBody>
      </p:sp>
      <p:sp>
        <p:nvSpPr>
          <p:cNvPr id="7" name="Shape 5"/>
          <p:cNvSpPr/>
          <p:nvPr/>
        </p:nvSpPr>
        <p:spPr>
          <a:xfrm>
            <a:off x="4709160" y="1325880"/>
            <a:ext cx="3977640" cy="3383280"/>
          </a:xfrm>
          <a:prstGeom prst="roundRect">
            <a:avLst>
              <a:gd name="adj" fmla="val 2162"/>
            </a:avLst>
          </a:prstGeom>
          <a:solidFill>
            <a:srgbClr val="EEF3F9"/>
          </a:solidFill>
          <a:ln w="12700">
            <a:solidFill>
              <a:srgbClr val="EEF3F9"/>
            </a:solidFill>
            <a:prstDash val="solid"/>
          </a:ln>
        </p:spPr>
      </p:sp>
      <p:sp>
        <p:nvSpPr>
          <p:cNvPr id="8" name="Text 6"/>
          <p:cNvSpPr txBox="1"/>
          <p:nvPr/>
        </p:nvSpPr>
        <p:spPr>
          <a:xfrm>
            <a:off x="4892040" y="1417320"/>
            <a:ext cx="3657600" cy="274320"/>
          </a:xfrm>
          <a:prstGeom prst="rect">
            <a:avLst/>
          </a:prstGeom>
          <a:noFill/>
          <a:ln/>
        </p:spPr>
        <p:txBody>
          <a:bodyPr wrap="square" lIns="0" tIns="0" rIns="0" bIns="0" rtlCol="0" anchor="t"/>
          <a:lstStyle/>
          <a:p>
            <a:pPr indent="0" marL="0">
              <a:buNone/>
            </a:pPr>
            <a:r>
              <a:rPr lang="en-US" sz="1400" b="1" dirty="0">
                <a:solidFill>
                  <a:srgbClr val="0064B1"/>
                </a:solidFill>
                <a:latin typeface="Arial" pitchFamily="34" charset="0"/>
                <a:ea typeface="Arial" pitchFamily="34" charset="-122"/>
                <a:cs typeface="Arial" pitchFamily="34" charset="-120"/>
              </a:rPr>
              <a:t>Classification P0 (team's t1 prompt)</a:t>
            </a:r>
            <a:endParaRPr lang="en-US" sz="1400" dirty="0"/>
          </a:p>
        </p:txBody>
      </p:sp>
      <p:sp>
        <p:nvSpPr>
          <p:cNvPr id="9" name="Text 7"/>
          <p:cNvSpPr txBox="1"/>
          <p:nvPr/>
        </p:nvSpPr>
        <p:spPr>
          <a:xfrm>
            <a:off x="4892040" y="1783080"/>
            <a:ext cx="3657600" cy="1737360"/>
          </a:xfrm>
          <a:prstGeom prst="rect">
            <a:avLst/>
          </a:prstGeom>
          <a:noFill/>
          <a:ln/>
        </p:spPr>
        <p:txBody>
          <a:bodyPr wrap="square" lIns="0" tIns="0" rIns="0" bIns="0" rtlCol="0" anchor="t"/>
          <a:lstStyle/>
          <a:p>
            <a:pPr marL="177800" indent="-177800">
              <a:spcAft>
                <a:spcPts val="600"/>
              </a:spcAft>
              <a:buSzPct val="100000"/>
              <a:buChar char="•"/>
            </a:pPr>
            <a:r>
              <a:rPr lang="en-US" sz="1150" dirty="0">
                <a:solidFill>
                  <a:srgbClr val="1A2233"/>
                </a:solidFill>
                <a:latin typeface="Arial" pitchFamily="34" charset="0"/>
                <a:ea typeface="Arial" pitchFamily="34" charset="-122"/>
                <a:cs typeface="Arial" pitchFamily="34" charset="-120"/>
              </a:rPr>
              <a:t>Rules for class vs attribute, association, association class, inheritance and aggregation.</a:t>
            </a:r>
            <a:endParaRPr lang="en-US" sz="1150" dirty="0"/>
          </a:p>
          <a:p>
            <a:pPr marL="177800" indent="-177800">
              <a:spcAft>
                <a:spcPts val="600"/>
              </a:spcAft>
              <a:buSzPct val="100000"/>
              <a:buChar char="•"/>
            </a:pPr>
            <a:r>
              <a:rPr lang="en-US" sz="1150" dirty="0">
                <a:solidFill>
                  <a:srgbClr val="1A2233"/>
                </a:solidFill>
                <a:latin typeface="Arial" pitchFamily="34" charset="0"/>
                <a:ea typeface="Arial" pitchFamily="34" charset="-122"/>
                <a:cs typeface="Arial" pitchFamily="34" charset="-120"/>
              </a:rPr>
              <a:t>Strict labelled output table (C, A, V, AS, AC, AG, I).</a:t>
            </a:r>
            <a:endParaRPr lang="en-US" sz="1150" dirty="0"/>
          </a:p>
          <a:p>
            <a:pPr marL="177800" indent="-177800">
              <a:spcAft>
                <a:spcPts val="600"/>
              </a:spcAft>
              <a:buSzPct val="100000"/>
              <a:buChar char="•"/>
            </a:pPr>
            <a:r>
              <a:rPr lang="en-US" sz="1150" dirty="0">
                <a:solidFill>
                  <a:srgbClr val="1A2233"/>
                </a:solidFill>
                <a:latin typeface="Arial" pitchFamily="34" charset="0"/>
                <a:ea typeface="Arial" pitchFamily="34" charset="-122"/>
                <a:cs typeface="Arial" pitchFamily="34" charset="-120"/>
              </a:rPr>
              <a:t>Input: the phrase list only, no description.</a:t>
            </a:r>
            <a:endParaRPr lang="en-US" sz="1150" dirty="0"/>
          </a:p>
          <a:p>
            <a:pPr marL="177800" indent="-177800">
              <a:spcAft>
                <a:spcPts val="600"/>
              </a:spcAft>
              <a:buSzPct val="100000"/>
              <a:buChar char="•"/>
            </a:pPr>
            <a:r>
              <a:rPr lang="en-US" sz="1150" dirty="0">
                <a:solidFill>
                  <a:srgbClr val="1A2233"/>
                </a:solidFill>
                <a:latin typeface="Arial" pitchFamily="34" charset="0"/>
                <a:ea typeface="Arial" pitchFamily="34" charset="-122"/>
                <a:cs typeface="Arial" pitchFamily="34" charset="-120"/>
              </a:rPr>
              <a:t>Found: its placeholder was missing, so the notebook never inserted the phrases; fixed for P0.</a:t>
            </a:r>
            <a:endParaRPr lang="en-US" sz="11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892040" y="3611880"/>
          <a:ext cx="3611880" cy="914400"/>
        </p:xfrm>
        <a:graphic>
          <a:graphicData uri="http://schemas.openxmlformats.org/drawingml/2006/table">
            <a:tbl>
              <a:tblPr/>
              <a:tblGrid>
                <a:gridCol w="868680"/>
                <a:gridCol w="914400"/>
                <a:gridCol w="914400"/>
                <a:gridCol w="914400"/>
              </a:tblGrid>
              <a:tr h="274320">
                <a:tc>
                  <a:txBody>
                    <a:bodyPr/>
                    <a:lstStyle/>
                    <a:p>
                      <a:pPr indent="0" marL="0">
                        <a:buNone/>
                      </a:pPr>
                      <a:r>
                        <a:rPr lang="en-US" sz="1100" b="1" dirty="0">
                          <a:solidFill>
                            <a:srgbClr val="FFFFFF"/>
                          </a:solidFill>
                          <a:latin typeface="Arial" pitchFamily="34" charset="0"/>
                          <a:ea typeface="Arial" pitchFamily="34" charset="-122"/>
                          <a:cs typeface="Arial" pitchFamily="34" charset="-120"/>
                        </a:rPr>
                        <a:t>P0 F1</a:t>
                      </a:r>
                      <a:endParaRPr lang="en-US" sz="1100" dirty="0">
                        <a:latin typeface="Arial" charset="0"/>
                        <a:ea typeface="Arial" charset="0"/>
                        <a:cs typeface="Arial" charset="0"/>
                      </a:endParaRPr>
                    </a:p>
                  </a:txBody>
                  <a:tcPr marL="91440" marR="91440" marT="45720" marB="45720">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0B2F57"/>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Library</a:t>
                      </a:r>
                      <a:endParaRPr lang="en-US" sz="1100" dirty="0">
                        <a:latin typeface="Arial" charset="0"/>
                        <a:ea typeface="Arial" charset="0"/>
                        <a:cs typeface="Arial" charset="0"/>
                      </a:endParaRPr>
                    </a:p>
                  </a:txBody>
                  <a:tcPr marL="91440" marR="91440" marT="45720" marB="45720">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0B2F57"/>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Car rental</a:t>
                      </a:r>
                      <a:endParaRPr lang="en-US" sz="1100" dirty="0">
                        <a:latin typeface="Arial" charset="0"/>
                        <a:ea typeface="Arial" charset="0"/>
                        <a:cs typeface="Arial" charset="0"/>
                      </a:endParaRPr>
                    </a:p>
                  </a:txBody>
                  <a:tcPr marL="91440" marR="91440" marT="45720" marB="45720">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0B2F57"/>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NTSS</a:t>
                      </a:r>
                      <a:endParaRPr lang="en-US" sz="1100" dirty="0">
                        <a:latin typeface="Arial" charset="0"/>
                        <a:ea typeface="Arial" charset="0"/>
                        <a:cs typeface="Arial" charset="0"/>
                      </a:endParaRPr>
                    </a:p>
                  </a:txBody>
                  <a:tcPr marL="91440" marR="91440" marT="45720" marB="45720">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0B2F57"/>
                    </a:solidFill>
                  </a:tcPr>
                </a:tc>
              </a:tr>
              <a:tr h="274320">
                <a:tc>
                  <a:txBody>
                    <a:bodyPr/>
                    <a:lstStyle/>
                    <a:p>
                      <a:pPr indent="0" marL="0">
                        <a:buNone/>
                      </a:pPr>
                      <a:r>
                        <a:rPr lang="en-US" sz="1100" b="1" dirty="0">
                          <a:solidFill>
                            <a:srgbClr val="1A2233"/>
                          </a:solidFill>
                          <a:latin typeface="Arial" pitchFamily="34" charset="0"/>
                          <a:ea typeface="Arial" pitchFamily="34" charset="-122"/>
                          <a:cs typeface="Arial" pitchFamily="34" charset="-120"/>
                        </a:rPr>
                        <a:t>Identify</a:t>
                      </a:r>
                      <a:endParaRPr lang="en-US" sz="1100" dirty="0">
                        <a:latin typeface="Arial" charset="0"/>
                        <a:ea typeface="Arial" charset="0"/>
                        <a:cs typeface="Arial" charset="0"/>
                      </a:endParaRPr>
                    </a:p>
                  </a:txBody>
                  <a:tcPr marL="91440" marR="91440" marT="45720" marB="45720">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c>
                  <a:txBody>
                    <a:bodyPr/>
                    <a:lstStyle/>
                    <a:p>
                      <a:pPr indent="0" marL="0">
                        <a:buNone/>
                      </a:pPr>
                      <a:r>
                        <a:rPr lang="en-US" sz="1100" dirty="0">
                          <a:solidFill>
                            <a:srgbClr val="1A2233"/>
                          </a:solidFill>
                          <a:latin typeface="Arial" pitchFamily="34" charset="0"/>
                          <a:ea typeface="Arial" pitchFamily="34" charset="-122"/>
                          <a:cs typeface="Arial" pitchFamily="34" charset="-120"/>
                        </a:rPr>
                        <a:t>68.9</a:t>
                      </a:r>
                      <a:endParaRPr lang="en-US" sz="1100" dirty="0">
                        <a:latin typeface="Arial" charset="0"/>
                        <a:ea typeface="Arial" charset="0"/>
                        <a:cs typeface="Arial" charset="0"/>
                      </a:endParaRPr>
                    </a:p>
                  </a:txBody>
                  <a:tcPr marL="91440" marR="91440" marT="45720" marB="45720">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c>
                  <a:txBody>
                    <a:bodyPr/>
                    <a:lstStyle/>
                    <a:p>
                      <a:pPr indent="0" marL="0">
                        <a:buNone/>
                      </a:pPr>
                      <a:r>
                        <a:rPr lang="en-US" sz="1100" dirty="0">
                          <a:solidFill>
                            <a:srgbClr val="1A2233"/>
                          </a:solidFill>
                          <a:latin typeface="Arial" pitchFamily="34" charset="0"/>
                          <a:ea typeface="Arial" pitchFamily="34" charset="-122"/>
                          <a:cs typeface="Arial" pitchFamily="34" charset="-120"/>
                        </a:rPr>
                        <a:t>52.0</a:t>
                      </a:r>
                      <a:endParaRPr lang="en-US" sz="1100" dirty="0">
                        <a:latin typeface="Arial" charset="0"/>
                        <a:ea typeface="Arial" charset="0"/>
                        <a:cs typeface="Arial" charset="0"/>
                      </a:endParaRPr>
                    </a:p>
                  </a:txBody>
                  <a:tcPr marL="91440" marR="91440" marT="45720" marB="45720">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c>
                  <a:txBody>
                    <a:bodyPr/>
                    <a:lstStyle/>
                    <a:p>
                      <a:pPr indent="0" marL="0">
                        <a:buNone/>
                      </a:pPr>
                      <a:r>
                        <a:rPr lang="en-US" sz="1100" dirty="0">
                          <a:solidFill>
                            <a:srgbClr val="1A2233"/>
                          </a:solidFill>
                          <a:latin typeface="Arial" pitchFamily="34" charset="0"/>
                          <a:ea typeface="Arial" pitchFamily="34" charset="-122"/>
                          <a:cs typeface="Arial" pitchFamily="34" charset="-120"/>
                        </a:rPr>
                        <a:t>71.2</a:t>
                      </a:r>
                      <a:endParaRPr lang="en-US" sz="1100" dirty="0">
                        <a:latin typeface="Arial" charset="0"/>
                        <a:ea typeface="Arial" charset="0"/>
                        <a:cs typeface="Arial" charset="0"/>
                      </a:endParaRPr>
                    </a:p>
                  </a:txBody>
                  <a:tcPr marL="91440" marR="91440" marT="45720" marB="45720">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r>
              <a:tr h="274320">
                <a:tc>
                  <a:txBody>
                    <a:bodyPr/>
                    <a:lstStyle/>
                    <a:p>
                      <a:pPr indent="0" marL="0">
                        <a:buNone/>
                      </a:pPr>
                      <a:r>
                        <a:rPr lang="en-US" sz="1100" b="1" dirty="0">
                          <a:solidFill>
                            <a:srgbClr val="1A2233"/>
                          </a:solidFill>
                          <a:latin typeface="Arial" pitchFamily="34" charset="0"/>
                          <a:ea typeface="Arial" pitchFamily="34" charset="-122"/>
                          <a:cs typeface="Arial" pitchFamily="34" charset="-120"/>
                        </a:rPr>
                        <a:t>Classify</a:t>
                      </a:r>
                      <a:endParaRPr lang="en-US" sz="1100" dirty="0">
                        <a:latin typeface="Arial" charset="0"/>
                        <a:ea typeface="Arial" charset="0"/>
                        <a:cs typeface="Arial" charset="0"/>
                      </a:endParaRPr>
                    </a:p>
                  </a:txBody>
                  <a:tcPr marL="91440" marR="91440" marT="45720" marB="45720">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c>
                  <a:txBody>
                    <a:bodyPr/>
                    <a:lstStyle/>
                    <a:p>
                      <a:pPr indent="0" marL="0">
                        <a:buNone/>
                      </a:pPr>
                      <a:r>
                        <a:rPr lang="en-US" sz="1100" dirty="0">
                          <a:solidFill>
                            <a:srgbClr val="1A2233"/>
                          </a:solidFill>
                          <a:latin typeface="Arial" pitchFamily="34" charset="0"/>
                          <a:ea typeface="Arial" pitchFamily="34" charset="-122"/>
                          <a:cs typeface="Arial" pitchFamily="34" charset="-120"/>
                        </a:rPr>
                        <a:t>30.4</a:t>
                      </a:r>
                      <a:endParaRPr lang="en-US" sz="1100" dirty="0">
                        <a:latin typeface="Arial" charset="0"/>
                        <a:ea typeface="Arial" charset="0"/>
                        <a:cs typeface="Arial" charset="0"/>
                      </a:endParaRPr>
                    </a:p>
                  </a:txBody>
                  <a:tcPr marL="91440" marR="91440" marT="45720" marB="45720">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c>
                  <a:txBody>
                    <a:bodyPr/>
                    <a:lstStyle/>
                    <a:p>
                      <a:pPr indent="0" marL="0">
                        <a:buNone/>
                      </a:pPr>
                      <a:r>
                        <a:rPr lang="en-US" sz="1100" dirty="0">
                          <a:solidFill>
                            <a:srgbClr val="1A2233"/>
                          </a:solidFill>
                          <a:latin typeface="Arial" pitchFamily="34" charset="0"/>
                          <a:ea typeface="Arial" pitchFamily="34" charset="-122"/>
                          <a:cs typeface="Arial" pitchFamily="34" charset="-120"/>
                        </a:rPr>
                        <a:t>44.1</a:t>
                      </a:r>
                      <a:endParaRPr lang="en-US" sz="1100" dirty="0">
                        <a:latin typeface="Arial" charset="0"/>
                        <a:ea typeface="Arial" charset="0"/>
                        <a:cs typeface="Arial" charset="0"/>
                      </a:endParaRPr>
                    </a:p>
                  </a:txBody>
                  <a:tcPr marL="91440" marR="91440" marT="45720" marB="45720">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c>
                  <a:txBody>
                    <a:bodyPr/>
                    <a:lstStyle/>
                    <a:p>
                      <a:pPr indent="0" marL="0">
                        <a:buNone/>
                      </a:pPr>
                      <a:r>
                        <a:rPr lang="en-US" sz="1100" dirty="0">
                          <a:solidFill>
                            <a:srgbClr val="1A2233"/>
                          </a:solidFill>
                          <a:latin typeface="Arial" pitchFamily="34" charset="0"/>
                          <a:ea typeface="Arial" pitchFamily="34" charset="-122"/>
                          <a:cs typeface="Arial" pitchFamily="34" charset="-120"/>
                        </a:rPr>
                        <a:t>51.4</a:t>
                      </a:r>
                      <a:endParaRPr lang="en-US" sz="1100" dirty="0">
                        <a:latin typeface="Arial" charset="0"/>
                        <a:ea typeface="Arial" charset="0"/>
                        <a:cs typeface="Arial" charset="0"/>
                      </a:endParaRPr>
                    </a:p>
                  </a:txBody>
                  <a:tcPr marL="91440" marR="91440" marT="45720" marB="45720">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548640"/>
          </a:xfrm>
          <a:prstGeom prst="rect">
            <a:avLst/>
          </a:prstGeom>
          <a:noFill/>
          <a:ln/>
        </p:spPr>
        <p:txBody>
          <a:bodyPr wrap="square" lIns="0" tIns="0" rIns="0" bIns="0" rtlCol="0" anchor="ctr"/>
          <a:lstStyle/>
          <a:p>
            <a:pPr indent="0" marL="0">
              <a:buNone/>
            </a:pPr>
            <a:r>
              <a:rPr lang="en-US" sz="2800" b="1" dirty="0">
                <a:solidFill>
                  <a:srgbClr val="0B2F57"/>
                </a:solidFill>
                <a:latin typeface="Arial" pitchFamily="34" charset="0"/>
                <a:ea typeface="Arial" pitchFamily="34" charset="-122"/>
                <a:cs typeface="Arial" pitchFamily="34" charset="-120"/>
              </a:rPr>
              <a:t>Evolution of the prompts</a:t>
            </a:r>
            <a:endParaRPr lang="en-US" sz="2800" dirty="0"/>
          </a:p>
        </p:txBody>
      </p:sp>
      <p:sp>
        <p:nvSpPr>
          <p:cNvPr id="3" name="Text 1"/>
          <p:cNvSpPr txBox="1"/>
          <p:nvPr/>
        </p:nvSpPr>
        <p:spPr>
          <a:xfrm>
            <a:off x="457200" y="841248"/>
            <a:ext cx="8229600" cy="320040"/>
          </a:xfrm>
          <a:prstGeom prst="rect">
            <a:avLst/>
          </a:prstGeom>
          <a:noFill/>
          <a:ln/>
        </p:spPr>
        <p:txBody>
          <a:bodyPr wrap="square" lIns="0" tIns="0" rIns="0" bIns="0" rtlCol="0" anchor="t"/>
          <a:lstStyle/>
          <a:p>
            <a:pPr indent="0" marL="0">
              <a:buNone/>
            </a:pPr>
            <a:r>
              <a:rPr lang="en-US" sz="1300" dirty="0">
                <a:solidFill>
                  <a:srgbClr val="5B6678"/>
                </a:solidFill>
                <a:latin typeface="Arial" pitchFamily="34" charset="0"/>
                <a:ea typeface="Arial" pitchFamily="34" charset="-122"/>
                <a:cs typeface="Arial" pitchFamily="34" charset="-120"/>
              </a:rPr>
              <a:t>Major change in each version; full text and evidence in the repo changelog</a:t>
            </a:r>
            <a:endParaRPr lang="en-US" sz="1300" dirty="0"/>
          </a:p>
        </p:txBody>
      </p:sp>
      <p:sp>
        <p:nvSpPr>
          <p:cNvPr id="4" name="Text 2"/>
          <p:cNvSpPr txBox="1"/>
          <p:nvPr/>
        </p:nvSpPr>
        <p:spPr>
          <a:xfrm>
            <a:off x="457200" y="1371600"/>
            <a:ext cx="1828800" cy="274320"/>
          </a:xfrm>
          <a:prstGeom prst="rect">
            <a:avLst/>
          </a:prstGeom>
          <a:noFill/>
          <a:ln/>
        </p:spPr>
        <p:txBody>
          <a:bodyPr wrap="square" lIns="0" tIns="0" rIns="0" bIns="0" rtlCol="0" anchor="t"/>
          <a:lstStyle/>
          <a:p>
            <a:pPr indent="0" marL="0">
              <a:buNone/>
            </a:pPr>
            <a:r>
              <a:rPr lang="en-US" sz="1400" b="1" dirty="0">
                <a:solidFill>
                  <a:srgbClr val="0B2F57"/>
                </a:solidFill>
                <a:latin typeface="Arial" pitchFamily="34" charset="0"/>
                <a:ea typeface="Arial" pitchFamily="34" charset="-122"/>
                <a:cs typeface="Arial" pitchFamily="34" charset="-120"/>
              </a:rPr>
              <a:t>Identification</a:t>
            </a:r>
            <a:endParaRPr lang="en-US" sz="1400" dirty="0"/>
          </a:p>
        </p:txBody>
      </p:sp>
      <p:sp>
        <p:nvSpPr>
          <p:cNvPr id="5" name="Shape 3"/>
          <p:cNvSpPr/>
          <p:nvPr/>
        </p:nvSpPr>
        <p:spPr>
          <a:xfrm>
            <a:off x="457200" y="1719072"/>
            <a:ext cx="566928" cy="310896"/>
          </a:xfrm>
          <a:prstGeom prst="roundRect">
            <a:avLst>
              <a:gd name="adj" fmla="val 50000"/>
            </a:avLst>
          </a:prstGeom>
          <a:solidFill>
            <a:srgbClr val="0064B1"/>
          </a:solidFill>
          <a:ln w="12700">
            <a:solidFill>
              <a:srgbClr val="0064B1"/>
            </a:solidFill>
            <a:prstDash val="solid"/>
          </a:ln>
        </p:spPr>
      </p:sp>
      <p:sp>
        <p:nvSpPr>
          <p:cNvPr id="6" name="Text 4"/>
          <p:cNvSpPr txBox="1"/>
          <p:nvPr/>
        </p:nvSpPr>
        <p:spPr>
          <a:xfrm>
            <a:off x="457200" y="1719072"/>
            <a:ext cx="566928"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P0</a:t>
            </a:r>
            <a:endParaRPr lang="en-US" sz="1200" dirty="0"/>
          </a:p>
        </p:txBody>
      </p:sp>
      <p:sp>
        <p:nvSpPr>
          <p:cNvPr id="7" name="Text 5"/>
          <p:cNvSpPr txBox="1"/>
          <p:nvPr/>
        </p:nvSpPr>
        <p:spPr>
          <a:xfrm>
            <a:off x="1097280" y="1737360"/>
            <a:ext cx="841248" cy="274320"/>
          </a:xfrm>
          <a:prstGeom prst="rect">
            <a:avLst/>
          </a:prstGeom>
          <a:noFill/>
          <a:ln/>
        </p:spPr>
        <p:txBody>
          <a:bodyPr wrap="square" lIns="0" tIns="0" rIns="0" bIns="0" rtlCol="0" anchor="ctr"/>
          <a:lstStyle/>
          <a:p>
            <a:pPr indent="0" marL="0">
              <a:buNone/>
            </a:pPr>
            <a:r>
              <a:rPr lang="en-US" sz="1000" b="1" dirty="0">
                <a:solidFill>
                  <a:srgbClr val="5B6678"/>
                </a:solidFill>
                <a:latin typeface="Arial" pitchFamily="34" charset="0"/>
                <a:ea typeface="Arial" pitchFamily="34" charset="-122"/>
                <a:cs typeface="Arial" pitchFamily="34" charset="-120"/>
              </a:rPr>
              <a:t>library 68.9</a:t>
            </a:r>
            <a:endParaRPr lang="en-US" sz="1000" dirty="0"/>
          </a:p>
        </p:txBody>
      </p:sp>
      <p:sp>
        <p:nvSpPr>
          <p:cNvPr id="8" name="Text 6"/>
          <p:cNvSpPr txBox="1"/>
          <p:nvPr/>
        </p:nvSpPr>
        <p:spPr>
          <a:xfrm>
            <a:off x="457200" y="2103120"/>
            <a:ext cx="1453896" cy="777240"/>
          </a:xfrm>
          <a:prstGeom prst="rect">
            <a:avLst/>
          </a:prstGeom>
          <a:noFill/>
          <a:ln/>
        </p:spPr>
        <p:txBody>
          <a:bodyPr wrap="square" lIns="0" tIns="0" rIns="0" bIns="0" rtlCol="0" anchor="t"/>
          <a:lstStyle/>
          <a:p>
            <a:pPr indent="0" marL="0">
              <a:buNone/>
            </a:pPr>
            <a:r>
              <a:rPr lang="en-US" sz="1000" dirty="0">
                <a:solidFill>
                  <a:srgbClr val="1A2233"/>
                </a:solidFill>
                <a:latin typeface="Arial" pitchFamily="34" charset="0"/>
                <a:ea typeface="Arial" pitchFamily="34" charset="-122"/>
                <a:cs typeface="Arial" pitchFamily="34" charset="-120"/>
              </a:rPr>
              <a:t>Category list + output format</a:t>
            </a:r>
            <a:endParaRPr lang="en-US" sz="1000" dirty="0"/>
          </a:p>
        </p:txBody>
      </p:sp>
      <p:sp>
        <p:nvSpPr>
          <p:cNvPr id="9" name="Text 7"/>
          <p:cNvSpPr txBox="1"/>
          <p:nvPr/>
        </p:nvSpPr>
        <p:spPr>
          <a:xfrm>
            <a:off x="1883664" y="1700784"/>
            <a:ext cx="274320" cy="329184"/>
          </a:xfrm>
          <a:prstGeom prst="rect">
            <a:avLst/>
          </a:prstGeom>
          <a:noFill/>
          <a:ln/>
        </p:spPr>
        <p:txBody>
          <a:bodyPr wrap="square" lIns="0" tIns="0" rIns="0" bIns="0" rtlCol="0" anchor="ctr"/>
          <a:lstStyle/>
          <a:p>
            <a:pPr algn="ctr" indent="0" marL="0">
              <a:buNone/>
            </a:pPr>
            <a:r>
              <a:rPr lang="en-US" sz="1600" dirty="0">
                <a:solidFill>
                  <a:srgbClr val="F58025"/>
                </a:solidFill>
                <a:latin typeface="Arial" pitchFamily="34" charset="0"/>
                <a:ea typeface="Arial" pitchFamily="34" charset="-122"/>
                <a:cs typeface="Arial" pitchFamily="34" charset="-120"/>
              </a:rPr>
              <a:t>→</a:t>
            </a:r>
            <a:endParaRPr lang="en-US" sz="1600" dirty="0"/>
          </a:p>
        </p:txBody>
      </p:sp>
      <p:sp>
        <p:nvSpPr>
          <p:cNvPr id="10" name="Shape 8"/>
          <p:cNvSpPr/>
          <p:nvPr/>
        </p:nvSpPr>
        <p:spPr>
          <a:xfrm>
            <a:off x="2139696" y="1719072"/>
            <a:ext cx="566928" cy="310896"/>
          </a:xfrm>
          <a:prstGeom prst="roundRect">
            <a:avLst>
              <a:gd name="adj" fmla="val 50000"/>
            </a:avLst>
          </a:prstGeom>
          <a:solidFill>
            <a:srgbClr val="0064B1"/>
          </a:solidFill>
          <a:ln w="12700">
            <a:solidFill>
              <a:srgbClr val="0064B1"/>
            </a:solidFill>
            <a:prstDash val="solid"/>
          </a:ln>
        </p:spPr>
      </p:sp>
      <p:sp>
        <p:nvSpPr>
          <p:cNvPr id="11" name="Text 9"/>
          <p:cNvSpPr txBox="1"/>
          <p:nvPr/>
        </p:nvSpPr>
        <p:spPr>
          <a:xfrm>
            <a:off x="2139696" y="1719072"/>
            <a:ext cx="566928"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P1</a:t>
            </a:r>
            <a:endParaRPr lang="en-US" sz="1200" dirty="0"/>
          </a:p>
        </p:txBody>
      </p:sp>
      <p:sp>
        <p:nvSpPr>
          <p:cNvPr id="12" name="Text 10"/>
          <p:cNvSpPr txBox="1"/>
          <p:nvPr/>
        </p:nvSpPr>
        <p:spPr>
          <a:xfrm>
            <a:off x="2779776" y="1737360"/>
            <a:ext cx="841248" cy="274320"/>
          </a:xfrm>
          <a:prstGeom prst="rect">
            <a:avLst/>
          </a:prstGeom>
          <a:noFill/>
          <a:ln/>
        </p:spPr>
        <p:txBody>
          <a:bodyPr wrap="square" lIns="0" tIns="0" rIns="0" bIns="0" rtlCol="0" anchor="ctr"/>
          <a:lstStyle/>
          <a:p>
            <a:pPr indent="0" marL="0">
              <a:buNone/>
            </a:pPr>
            <a:r>
              <a:rPr lang="en-US" sz="1000" b="1" dirty="0">
                <a:solidFill>
                  <a:srgbClr val="5B6678"/>
                </a:solidFill>
                <a:latin typeface="Arial" pitchFamily="34" charset="0"/>
                <a:ea typeface="Arial" pitchFamily="34" charset="-122"/>
                <a:cs typeface="Arial" pitchFamily="34" charset="-120"/>
              </a:rPr>
              <a:t>library 88.7</a:t>
            </a:r>
            <a:endParaRPr lang="en-US" sz="1000" dirty="0"/>
          </a:p>
        </p:txBody>
      </p:sp>
      <p:sp>
        <p:nvSpPr>
          <p:cNvPr id="13" name="Text 11"/>
          <p:cNvSpPr txBox="1"/>
          <p:nvPr/>
        </p:nvSpPr>
        <p:spPr>
          <a:xfrm>
            <a:off x="2139696" y="2103120"/>
            <a:ext cx="1453896" cy="777240"/>
          </a:xfrm>
          <a:prstGeom prst="rect">
            <a:avLst/>
          </a:prstGeom>
          <a:noFill/>
          <a:ln/>
        </p:spPr>
        <p:txBody>
          <a:bodyPr wrap="square" lIns="0" tIns="0" rIns="0" bIns="0" rtlCol="0" anchor="t"/>
          <a:lstStyle/>
          <a:p>
            <a:pPr indent="0" marL="0">
              <a:buNone/>
            </a:pPr>
            <a:r>
              <a:rPr lang="en-US" sz="1000" dirty="0">
                <a:solidFill>
                  <a:srgbClr val="1A2233"/>
                </a:solidFill>
                <a:latin typeface="Arial" pitchFamily="34" charset="0"/>
                <a:ea typeface="Arial" pitchFamily="34" charset="-122"/>
                <a:cs typeface="Arial" pitchFamily="34" charset="-120"/>
              </a:rPr>
              <a:t>Role, definition, per-category rules, course example, procedure</a:t>
            </a:r>
            <a:endParaRPr lang="en-US" sz="1000" dirty="0"/>
          </a:p>
        </p:txBody>
      </p:sp>
      <p:sp>
        <p:nvSpPr>
          <p:cNvPr id="14" name="Text 12"/>
          <p:cNvSpPr txBox="1"/>
          <p:nvPr/>
        </p:nvSpPr>
        <p:spPr>
          <a:xfrm>
            <a:off x="3566160" y="1700784"/>
            <a:ext cx="274320" cy="329184"/>
          </a:xfrm>
          <a:prstGeom prst="rect">
            <a:avLst/>
          </a:prstGeom>
          <a:noFill/>
          <a:ln/>
        </p:spPr>
        <p:txBody>
          <a:bodyPr wrap="square" lIns="0" tIns="0" rIns="0" bIns="0" rtlCol="0" anchor="ctr"/>
          <a:lstStyle/>
          <a:p>
            <a:pPr algn="ctr" indent="0" marL="0">
              <a:buNone/>
            </a:pPr>
            <a:r>
              <a:rPr lang="en-US" sz="1600" dirty="0">
                <a:solidFill>
                  <a:srgbClr val="F58025"/>
                </a:solidFill>
                <a:latin typeface="Arial" pitchFamily="34" charset="0"/>
                <a:ea typeface="Arial" pitchFamily="34" charset="-122"/>
                <a:cs typeface="Arial" pitchFamily="34" charset="-120"/>
              </a:rPr>
              <a:t>→</a:t>
            </a:r>
            <a:endParaRPr lang="en-US" sz="1600" dirty="0"/>
          </a:p>
        </p:txBody>
      </p:sp>
      <p:sp>
        <p:nvSpPr>
          <p:cNvPr id="15" name="Shape 13"/>
          <p:cNvSpPr/>
          <p:nvPr/>
        </p:nvSpPr>
        <p:spPr>
          <a:xfrm>
            <a:off x="3822192" y="1719072"/>
            <a:ext cx="566928" cy="310896"/>
          </a:xfrm>
          <a:prstGeom prst="roundRect">
            <a:avLst>
              <a:gd name="adj" fmla="val 50000"/>
            </a:avLst>
          </a:prstGeom>
          <a:solidFill>
            <a:srgbClr val="0064B1"/>
          </a:solidFill>
          <a:ln w="12700">
            <a:solidFill>
              <a:srgbClr val="0064B1"/>
            </a:solidFill>
            <a:prstDash val="solid"/>
          </a:ln>
        </p:spPr>
      </p:sp>
      <p:sp>
        <p:nvSpPr>
          <p:cNvPr id="16" name="Text 14"/>
          <p:cNvSpPr txBox="1"/>
          <p:nvPr/>
        </p:nvSpPr>
        <p:spPr>
          <a:xfrm>
            <a:off x="3822192" y="1719072"/>
            <a:ext cx="566928"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P2</a:t>
            </a:r>
            <a:endParaRPr lang="en-US" sz="1200" dirty="0"/>
          </a:p>
        </p:txBody>
      </p:sp>
      <p:sp>
        <p:nvSpPr>
          <p:cNvPr id="17" name="Text 15"/>
          <p:cNvSpPr txBox="1"/>
          <p:nvPr/>
        </p:nvSpPr>
        <p:spPr>
          <a:xfrm>
            <a:off x="4462272" y="1737360"/>
            <a:ext cx="841248" cy="274320"/>
          </a:xfrm>
          <a:prstGeom prst="rect">
            <a:avLst/>
          </a:prstGeom>
          <a:noFill/>
          <a:ln/>
        </p:spPr>
        <p:txBody>
          <a:bodyPr wrap="square" lIns="0" tIns="0" rIns="0" bIns="0" rtlCol="0" anchor="ctr"/>
          <a:lstStyle/>
          <a:p>
            <a:pPr indent="0" marL="0">
              <a:buNone/>
            </a:pPr>
            <a:r>
              <a:rPr lang="en-US" sz="1000" b="1" dirty="0">
                <a:solidFill>
                  <a:srgbClr val="5B6678"/>
                </a:solidFill>
                <a:latin typeface="Arial" pitchFamily="34" charset="0"/>
                <a:ea typeface="Arial" pitchFamily="34" charset="-122"/>
                <a:cs typeface="Arial" pitchFamily="34" charset="-120"/>
              </a:rPr>
              <a:t>library 87.7</a:t>
            </a:r>
            <a:endParaRPr lang="en-US" sz="1000" dirty="0"/>
          </a:p>
        </p:txBody>
      </p:sp>
      <p:sp>
        <p:nvSpPr>
          <p:cNvPr id="18" name="Text 16"/>
          <p:cNvSpPr txBox="1"/>
          <p:nvPr/>
        </p:nvSpPr>
        <p:spPr>
          <a:xfrm>
            <a:off x="3822192" y="2103120"/>
            <a:ext cx="1453896" cy="777240"/>
          </a:xfrm>
          <a:prstGeom prst="rect">
            <a:avLst/>
          </a:prstGeom>
          <a:noFill/>
          <a:ln/>
        </p:spPr>
        <p:txBody>
          <a:bodyPr wrap="square" lIns="0" tIns="0" rIns="0" bIns="0" rtlCol="0" anchor="t"/>
          <a:lstStyle/>
          <a:p>
            <a:pPr indent="0" marL="0">
              <a:buNone/>
            </a:pPr>
            <a:r>
              <a:rPr lang="en-US" sz="1000" dirty="0">
                <a:solidFill>
                  <a:srgbClr val="1A2233"/>
                </a:solidFill>
                <a:latin typeface="Arial" pitchFamily="34" charset="0"/>
                <a:ea typeface="Arial" pitchFamily="34" charset="-122"/>
                <a:cs typeface="Arial" pitchFamily="34" charset="-120"/>
              </a:rPr>
              <a:t>9 error-driven inclusion rules, scope filter, neutral examples</a:t>
            </a:r>
            <a:endParaRPr lang="en-US" sz="1000" dirty="0"/>
          </a:p>
        </p:txBody>
      </p:sp>
      <p:sp>
        <p:nvSpPr>
          <p:cNvPr id="19" name="Text 17"/>
          <p:cNvSpPr txBox="1"/>
          <p:nvPr/>
        </p:nvSpPr>
        <p:spPr>
          <a:xfrm>
            <a:off x="5248656" y="1700784"/>
            <a:ext cx="274320" cy="329184"/>
          </a:xfrm>
          <a:prstGeom prst="rect">
            <a:avLst/>
          </a:prstGeom>
          <a:noFill/>
          <a:ln/>
        </p:spPr>
        <p:txBody>
          <a:bodyPr wrap="square" lIns="0" tIns="0" rIns="0" bIns="0" rtlCol="0" anchor="ctr"/>
          <a:lstStyle/>
          <a:p>
            <a:pPr algn="ctr" indent="0" marL="0">
              <a:buNone/>
            </a:pPr>
            <a:r>
              <a:rPr lang="en-US" sz="1600" dirty="0">
                <a:solidFill>
                  <a:srgbClr val="F58025"/>
                </a:solidFill>
                <a:latin typeface="Arial" pitchFamily="34" charset="0"/>
                <a:ea typeface="Arial" pitchFamily="34" charset="-122"/>
                <a:cs typeface="Arial" pitchFamily="34" charset="-120"/>
              </a:rPr>
              <a:t>→</a:t>
            </a:r>
            <a:endParaRPr lang="en-US" sz="1600" dirty="0"/>
          </a:p>
        </p:txBody>
      </p:sp>
      <p:sp>
        <p:nvSpPr>
          <p:cNvPr id="20" name="Shape 18"/>
          <p:cNvSpPr/>
          <p:nvPr/>
        </p:nvSpPr>
        <p:spPr>
          <a:xfrm>
            <a:off x="5504688" y="1719072"/>
            <a:ext cx="566928" cy="310896"/>
          </a:xfrm>
          <a:prstGeom prst="roundRect">
            <a:avLst>
              <a:gd name="adj" fmla="val 50000"/>
            </a:avLst>
          </a:prstGeom>
          <a:solidFill>
            <a:srgbClr val="0064B1"/>
          </a:solidFill>
          <a:ln w="12700">
            <a:solidFill>
              <a:srgbClr val="0064B1"/>
            </a:solidFill>
            <a:prstDash val="solid"/>
          </a:ln>
        </p:spPr>
      </p:sp>
      <p:sp>
        <p:nvSpPr>
          <p:cNvPr id="21" name="Text 19"/>
          <p:cNvSpPr txBox="1"/>
          <p:nvPr/>
        </p:nvSpPr>
        <p:spPr>
          <a:xfrm>
            <a:off x="5504688" y="1719072"/>
            <a:ext cx="566928"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P3</a:t>
            </a:r>
            <a:endParaRPr lang="en-US" sz="1200" dirty="0"/>
          </a:p>
        </p:txBody>
      </p:sp>
      <p:sp>
        <p:nvSpPr>
          <p:cNvPr id="22" name="Text 20"/>
          <p:cNvSpPr txBox="1"/>
          <p:nvPr/>
        </p:nvSpPr>
        <p:spPr>
          <a:xfrm>
            <a:off x="6144768" y="1737360"/>
            <a:ext cx="841248" cy="274320"/>
          </a:xfrm>
          <a:prstGeom prst="rect">
            <a:avLst/>
          </a:prstGeom>
          <a:noFill/>
          <a:ln/>
        </p:spPr>
        <p:txBody>
          <a:bodyPr wrap="square" lIns="0" tIns="0" rIns="0" bIns="0" rtlCol="0" anchor="ctr"/>
          <a:lstStyle/>
          <a:p>
            <a:pPr indent="0" marL="0">
              <a:buNone/>
            </a:pPr>
            <a:r>
              <a:rPr lang="en-US" sz="1000" b="1" dirty="0">
                <a:solidFill>
                  <a:srgbClr val="5B6678"/>
                </a:solidFill>
                <a:latin typeface="Arial" pitchFamily="34" charset="0"/>
                <a:ea typeface="Arial" pitchFamily="34" charset="-122"/>
                <a:cs typeface="Arial" pitchFamily="34" charset="-120"/>
              </a:rPr>
              <a:t>library 89.9</a:t>
            </a:r>
            <a:endParaRPr lang="en-US" sz="1000" dirty="0"/>
          </a:p>
        </p:txBody>
      </p:sp>
      <p:sp>
        <p:nvSpPr>
          <p:cNvPr id="23" name="Text 21"/>
          <p:cNvSpPr txBox="1"/>
          <p:nvPr/>
        </p:nvSpPr>
        <p:spPr>
          <a:xfrm>
            <a:off x="5504688" y="2103120"/>
            <a:ext cx="1453896" cy="777240"/>
          </a:xfrm>
          <a:prstGeom prst="rect">
            <a:avLst/>
          </a:prstGeom>
          <a:noFill/>
          <a:ln/>
        </p:spPr>
        <p:txBody>
          <a:bodyPr wrap="square" lIns="0" tIns="0" rIns="0" bIns="0" rtlCol="0" anchor="t"/>
          <a:lstStyle/>
          <a:p>
            <a:pPr indent="0" marL="0">
              <a:buNone/>
            </a:pPr>
            <a:r>
              <a:rPr lang="en-US" sz="1000" dirty="0">
                <a:solidFill>
                  <a:srgbClr val="1A2233"/>
                </a:solidFill>
                <a:latin typeface="Arial" pitchFamily="34" charset="0"/>
                <a:ea typeface="Arial" pitchFamily="34" charset="-122"/>
                <a:cs typeface="Arial" pitchFamily="34" charset="-120"/>
              </a:rPr>
              <a:t>Narrowed over-firing rules + self-verification pass</a:t>
            </a:r>
            <a:endParaRPr lang="en-US" sz="1000" dirty="0"/>
          </a:p>
        </p:txBody>
      </p:sp>
      <p:sp>
        <p:nvSpPr>
          <p:cNvPr id="24" name="Text 22"/>
          <p:cNvSpPr txBox="1"/>
          <p:nvPr/>
        </p:nvSpPr>
        <p:spPr>
          <a:xfrm>
            <a:off x="6931152" y="1700784"/>
            <a:ext cx="274320" cy="329184"/>
          </a:xfrm>
          <a:prstGeom prst="rect">
            <a:avLst/>
          </a:prstGeom>
          <a:noFill/>
          <a:ln/>
        </p:spPr>
        <p:txBody>
          <a:bodyPr wrap="square" lIns="0" tIns="0" rIns="0" bIns="0" rtlCol="0" anchor="ctr"/>
          <a:lstStyle/>
          <a:p>
            <a:pPr algn="ctr" indent="0" marL="0">
              <a:buNone/>
            </a:pPr>
            <a:r>
              <a:rPr lang="en-US" sz="1600" dirty="0">
                <a:solidFill>
                  <a:srgbClr val="F58025"/>
                </a:solidFill>
                <a:latin typeface="Arial" pitchFamily="34" charset="0"/>
                <a:ea typeface="Arial" pitchFamily="34" charset="-122"/>
                <a:cs typeface="Arial" pitchFamily="34" charset="-120"/>
              </a:rPr>
              <a:t>→</a:t>
            </a:r>
            <a:endParaRPr lang="en-US" sz="1600" dirty="0"/>
          </a:p>
        </p:txBody>
      </p:sp>
      <p:sp>
        <p:nvSpPr>
          <p:cNvPr id="25" name="Shape 23"/>
          <p:cNvSpPr/>
          <p:nvPr/>
        </p:nvSpPr>
        <p:spPr>
          <a:xfrm>
            <a:off x="7187184" y="1719072"/>
            <a:ext cx="566928" cy="310896"/>
          </a:xfrm>
          <a:prstGeom prst="roundRect">
            <a:avLst>
              <a:gd name="adj" fmla="val 50000"/>
            </a:avLst>
          </a:prstGeom>
          <a:solidFill>
            <a:srgbClr val="0064B1"/>
          </a:solidFill>
          <a:ln w="12700">
            <a:solidFill>
              <a:srgbClr val="0064B1"/>
            </a:solidFill>
            <a:prstDash val="solid"/>
          </a:ln>
        </p:spPr>
      </p:sp>
      <p:sp>
        <p:nvSpPr>
          <p:cNvPr id="26" name="Text 24"/>
          <p:cNvSpPr txBox="1"/>
          <p:nvPr/>
        </p:nvSpPr>
        <p:spPr>
          <a:xfrm>
            <a:off x="7187184" y="1719072"/>
            <a:ext cx="566928"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P4</a:t>
            </a:r>
            <a:endParaRPr lang="en-US" sz="1200" dirty="0"/>
          </a:p>
        </p:txBody>
      </p:sp>
      <p:sp>
        <p:nvSpPr>
          <p:cNvPr id="27" name="Text 25"/>
          <p:cNvSpPr txBox="1"/>
          <p:nvPr/>
        </p:nvSpPr>
        <p:spPr>
          <a:xfrm>
            <a:off x="7827264" y="1737360"/>
            <a:ext cx="841248" cy="274320"/>
          </a:xfrm>
          <a:prstGeom prst="rect">
            <a:avLst/>
          </a:prstGeom>
          <a:noFill/>
          <a:ln/>
        </p:spPr>
        <p:txBody>
          <a:bodyPr wrap="square" lIns="0" tIns="0" rIns="0" bIns="0" rtlCol="0" anchor="ctr"/>
          <a:lstStyle/>
          <a:p>
            <a:pPr indent="0" marL="0">
              <a:buNone/>
            </a:pPr>
            <a:r>
              <a:rPr lang="en-US" sz="1000" b="1" dirty="0">
                <a:solidFill>
                  <a:srgbClr val="0064B1"/>
                </a:solidFill>
                <a:latin typeface="Arial" pitchFamily="34" charset="0"/>
                <a:ea typeface="Arial" pitchFamily="34" charset="-122"/>
                <a:cs typeface="Arial" pitchFamily="34" charset="-120"/>
              </a:rPr>
              <a:t>library 93.7</a:t>
            </a:r>
            <a:endParaRPr lang="en-US" sz="1000" dirty="0"/>
          </a:p>
        </p:txBody>
      </p:sp>
      <p:sp>
        <p:nvSpPr>
          <p:cNvPr id="28" name="Text 26"/>
          <p:cNvSpPr txBox="1"/>
          <p:nvPr/>
        </p:nvSpPr>
        <p:spPr>
          <a:xfrm>
            <a:off x="7187184" y="2103120"/>
            <a:ext cx="1453896" cy="777240"/>
          </a:xfrm>
          <a:prstGeom prst="rect">
            <a:avLst/>
          </a:prstGeom>
          <a:noFill/>
          <a:ln/>
        </p:spPr>
        <p:txBody>
          <a:bodyPr wrap="square" lIns="0" tIns="0" rIns="0" bIns="0" rtlCol="0" anchor="t"/>
          <a:lstStyle/>
          <a:p>
            <a:pPr indent="0" marL="0">
              <a:buNone/>
            </a:pPr>
            <a:r>
              <a:rPr lang="en-US" sz="1000" dirty="0">
                <a:solidFill>
                  <a:srgbClr val="1A2233"/>
                </a:solidFill>
                <a:latin typeface="Arial" pitchFamily="34" charset="0"/>
                <a:ea typeface="Arial" pitchFamily="34" charset="-122"/>
                <a:cs typeface="Arial" pitchFamily="34" charset="-120"/>
              </a:rPr>
              <a:t>Whole possession clauses, record-keeping verbs, example values</a:t>
            </a:r>
            <a:endParaRPr lang="en-US" sz="1000" dirty="0"/>
          </a:p>
        </p:txBody>
      </p:sp>
      <p:sp>
        <p:nvSpPr>
          <p:cNvPr id="29" name="Text 27"/>
          <p:cNvSpPr txBox="1"/>
          <p:nvPr/>
        </p:nvSpPr>
        <p:spPr>
          <a:xfrm>
            <a:off x="457200" y="2971800"/>
            <a:ext cx="1828800" cy="274320"/>
          </a:xfrm>
          <a:prstGeom prst="rect">
            <a:avLst/>
          </a:prstGeom>
          <a:noFill/>
          <a:ln/>
        </p:spPr>
        <p:txBody>
          <a:bodyPr wrap="square" lIns="0" tIns="0" rIns="0" bIns="0" rtlCol="0" anchor="t"/>
          <a:lstStyle/>
          <a:p>
            <a:pPr indent="0" marL="0">
              <a:buNone/>
            </a:pPr>
            <a:r>
              <a:rPr lang="en-US" sz="1400" b="1" dirty="0">
                <a:solidFill>
                  <a:srgbClr val="0B2F57"/>
                </a:solidFill>
                <a:latin typeface="Arial" pitchFamily="34" charset="0"/>
                <a:ea typeface="Arial" pitchFamily="34" charset="-122"/>
                <a:cs typeface="Arial" pitchFamily="34" charset="-120"/>
              </a:rPr>
              <a:t>Classification</a:t>
            </a:r>
            <a:endParaRPr lang="en-US" sz="1400" dirty="0"/>
          </a:p>
        </p:txBody>
      </p:sp>
      <p:sp>
        <p:nvSpPr>
          <p:cNvPr id="30" name="Shape 28"/>
          <p:cNvSpPr/>
          <p:nvPr/>
        </p:nvSpPr>
        <p:spPr>
          <a:xfrm>
            <a:off x="457200" y="3319272"/>
            <a:ext cx="566928" cy="310896"/>
          </a:xfrm>
          <a:prstGeom prst="roundRect">
            <a:avLst>
              <a:gd name="adj" fmla="val 50000"/>
            </a:avLst>
          </a:prstGeom>
          <a:solidFill>
            <a:srgbClr val="0064B1"/>
          </a:solidFill>
          <a:ln w="12700">
            <a:solidFill>
              <a:srgbClr val="0064B1"/>
            </a:solidFill>
            <a:prstDash val="solid"/>
          </a:ln>
        </p:spPr>
      </p:sp>
      <p:sp>
        <p:nvSpPr>
          <p:cNvPr id="31" name="Text 29"/>
          <p:cNvSpPr txBox="1"/>
          <p:nvPr/>
        </p:nvSpPr>
        <p:spPr>
          <a:xfrm>
            <a:off x="457200" y="3319272"/>
            <a:ext cx="566928"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P0</a:t>
            </a:r>
            <a:endParaRPr lang="en-US" sz="1200" dirty="0"/>
          </a:p>
        </p:txBody>
      </p:sp>
      <p:sp>
        <p:nvSpPr>
          <p:cNvPr id="32" name="Text 30"/>
          <p:cNvSpPr txBox="1"/>
          <p:nvPr/>
        </p:nvSpPr>
        <p:spPr>
          <a:xfrm>
            <a:off x="1097280" y="3337560"/>
            <a:ext cx="1261872" cy="274320"/>
          </a:xfrm>
          <a:prstGeom prst="rect">
            <a:avLst/>
          </a:prstGeom>
          <a:noFill/>
          <a:ln/>
        </p:spPr>
        <p:txBody>
          <a:bodyPr wrap="square" lIns="0" tIns="0" rIns="0" bIns="0" rtlCol="0" anchor="ctr"/>
          <a:lstStyle/>
          <a:p>
            <a:pPr indent="0" marL="0">
              <a:buNone/>
            </a:pPr>
            <a:r>
              <a:rPr lang="en-US" sz="1000" b="1" dirty="0">
                <a:solidFill>
                  <a:srgbClr val="5B6678"/>
                </a:solidFill>
                <a:latin typeface="Arial" pitchFamily="34" charset="0"/>
                <a:ea typeface="Arial" pitchFamily="34" charset="-122"/>
                <a:cs typeface="Arial" pitchFamily="34" charset="-120"/>
              </a:rPr>
              <a:t>library 30.4</a:t>
            </a:r>
            <a:endParaRPr lang="en-US" sz="1000" dirty="0"/>
          </a:p>
        </p:txBody>
      </p:sp>
      <p:sp>
        <p:nvSpPr>
          <p:cNvPr id="33" name="Text 31"/>
          <p:cNvSpPr txBox="1"/>
          <p:nvPr/>
        </p:nvSpPr>
        <p:spPr>
          <a:xfrm>
            <a:off x="457200" y="3703320"/>
            <a:ext cx="1874520" cy="777240"/>
          </a:xfrm>
          <a:prstGeom prst="rect">
            <a:avLst/>
          </a:prstGeom>
          <a:noFill/>
          <a:ln/>
        </p:spPr>
        <p:txBody>
          <a:bodyPr wrap="square" lIns="0" tIns="0" rIns="0" bIns="0" rtlCol="0" anchor="t"/>
          <a:lstStyle/>
          <a:p>
            <a:pPr indent="0" marL="0">
              <a:buNone/>
            </a:pPr>
            <a:r>
              <a:rPr lang="en-US" sz="1000" dirty="0">
                <a:solidFill>
                  <a:srgbClr val="1A2233"/>
                </a:solidFill>
                <a:latin typeface="Arial" pitchFamily="34" charset="0"/>
                <a:ea typeface="Arial" pitchFamily="34" charset="-122"/>
                <a:cs typeface="Arial" pitchFamily="34" charset="-120"/>
              </a:rPr>
              <a:t>Team's t1 rules, phrases only</a:t>
            </a:r>
            <a:endParaRPr lang="en-US" sz="1000" dirty="0"/>
          </a:p>
        </p:txBody>
      </p:sp>
      <p:sp>
        <p:nvSpPr>
          <p:cNvPr id="34" name="Text 32"/>
          <p:cNvSpPr txBox="1"/>
          <p:nvPr/>
        </p:nvSpPr>
        <p:spPr>
          <a:xfrm>
            <a:off x="2304288" y="3300984"/>
            <a:ext cx="274320" cy="329184"/>
          </a:xfrm>
          <a:prstGeom prst="rect">
            <a:avLst/>
          </a:prstGeom>
          <a:noFill/>
          <a:ln/>
        </p:spPr>
        <p:txBody>
          <a:bodyPr wrap="square" lIns="0" tIns="0" rIns="0" bIns="0" rtlCol="0" anchor="ctr"/>
          <a:lstStyle/>
          <a:p>
            <a:pPr algn="ctr" indent="0" marL="0">
              <a:buNone/>
            </a:pPr>
            <a:r>
              <a:rPr lang="en-US" sz="1600" dirty="0">
                <a:solidFill>
                  <a:srgbClr val="F58025"/>
                </a:solidFill>
                <a:latin typeface="Arial" pitchFamily="34" charset="0"/>
                <a:ea typeface="Arial" pitchFamily="34" charset="-122"/>
                <a:cs typeface="Arial" pitchFamily="34" charset="-120"/>
              </a:rPr>
              <a:t>→</a:t>
            </a:r>
            <a:endParaRPr lang="en-US" sz="1600" dirty="0"/>
          </a:p>
        </p:txBody>
      </p:sp>
      <p:sp>
        <p:nvSpPr>
          <p:cNvPr id="35" name="Shape 33"/>
          <p:cNvSpPr/>
          <p:nvPr/>
        </p:nvSpPr>
        <p:spPr>
          <a:xfrm>
            <a:off x="2560320" y="3319272"/>
            <a:ext cx="566928" cy="310896"/>
          </a:xfrm>
          <a:prstGeom prst="roundRect">
            <a:avLst>
              <a:gd name="adj" fmla="val 50000"/>
            </a:avLst>
          </a:prstGeom>
          <a:solidFill>
            <a:srgbClr val="0064B1"/>
          </a:solidFill>
          <a:ln w="12700">
            <a:solidFill>
              <a:srgbClr val="0064B1"/>
            </a:solidFill>
            <a:prstDash val="solid"/>
          </a:ln>
        </p:spPr>
      </p:sp>
      <p:sp>
        <p:nvSpPr>
          <p:cNvPr id="36" name="Text 34"/>
          <p:cNvSpPr txBox="1"/>
          <p:nvPr/>
        </p:nvSpPr>
        <p:spPr>
          <a:xfrm>
            <a:off x="2560320" y="3319272"/>
            <a:ext cx="566928"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P1</a:t>
            </a:r>
            <a:endParaRPr lang="en-US" sz="1200" dirty="0"/>
          </a:p>
        </p:txBody>
      </p:sp>
      <p:sp>
        <p:nvSpPr>
          <p:cNvPr id="37" name="Text 35"/>
          <p:cNvSpPr txBox="1"/>
          <p:nvPr/>
        </p:nvSpPr>
        <p:spPr>
          <a:xfrm>
            <a:off x="3200400" y="3337560"/>
            <a:ext cx="1261872" cy="274320"/>
          </a:xfrm>
          <a:prstGeom prst="rect">
            <a:avLst/>
          </a:prstGeom>
          <a:noFill/>
          <a:ln/>
        </p:spPr>
        <p:txBody>
          <a:bodyPr wrap="square" lIns="0" tIns="0" rIns="0" bIns="0" rtlCol="0" anchor="ctr"/>
          <a:lstStyle/>
          <a:p>
            <a:pPr indent="0" marL="0">
              <a:buNone/>
            </a:pPr>
            <a:r>
              <a:rPr lang="en-US" sz="1000" b="1" dirty="0">
                <a:solidFill>
                  <a:srgbClr val="5B6678"/>
                </a:solidFill>
                <a:latin typeface="Arial" pitchFamily="34" charset="0"/>
                <a:ea typeface="Arial" pitchFamily="34" charset="-122"/>
                <a:cs typeface="Arial" pitchFamily="34" charset="-120"/>
              </a:rPr>
              <a:t>library 42.1</a:t>
            </a:r>
            <a:endParaRPr lang="en-US" sz="1000" dirty="0"/>
          </a:p>
        </p:txBody>
      </p:sp>
      <p:sp>
        <p:nvSpPr>
          <p:cNvPr id="38" name="Text 36"/>
          <p:cNvSpPr txBox="1"/>
          <p:nvPr/>
        </p:nvSpPr>
        <p:spPr>
          <a:xfrm>
            <a:off x="2560320" y="3703320"/>
            <a:ext cx="1874520" cy="777240"/>
          </a:xfrm>
          <a:prstGeom prst="rect">
            <a:avLst/>
          </a:prstGeom>
          <a:noFill/>
          <a:ln/>
        </p:spPr>
        <p:txBody>
          <a:bodyPr wrap="square" lIns="0" tIns="0" rIns="0" bIns="0" rtlCol="0" anchor="t"/>
          <a:lstStyle/>
          <a:p>
            <a:pPr indent="0" marL="0">
              <a:buNone/>
            </a:pPr>
            <a:r>
              <a:rPr lang="en-US" sz="1000" dirty="0">
                <a:solidFill>
                  <a:srgbClr val="1A2233"/>
                </a:solidFill>
                <a:latin typeface="Arial" pitchFamily="34" charset="0"/>
                <a:ea typeface="Arial" pitchFamily="34" charset="-122"/>
                <a:cs typeface="Arial" pitchFamily="34" charset="-120"/>
              </a:rPr>
              <a:t>Category→element mapping, class/attribute tests, AC conditions, checklist</a:t>
            </a:r>
            <a:endParaRPr lang="en-US" sz="1000" dirty="0"/>
          </a:p>
        </p:txBody>
      </p:sp>
      <p:sp>
        <p:nvSpPr>
          <p:cNvPr id="39" name="Text 37"/>
          <p:cNvSpPr txBox="1"/>
          <p:nvPr/>
        </p:nvSpPr>
        <p:spPr>
          <a:xfrm>
            <a:off x="4407408" y="3300984"/>
            <a:ext cx="274320" cy="329184"/>
          </a:xfrm>
          <a:prstGeom prst="rect">
            <a:avLst/>
          </a:prstGeom>
          <a:noFill/>
          <a:ln/>
        </p:spPr>
        <p:txBody>
          <a:bodyPr wrap="square" lIns="0" tIns="0" rIns="0" bIns="0" rtlCol="0" anchor="ctr"/>
          <a:lstStyle/>
          <a:p>
            <a:pPr algn="ctr" indent="0" marL="0">
              <a:buNone/>
            </a:pPr>
            <a:r>
              <a:rPr lang="en-US" sz="1600" dirty="0">
                <a:solidFill>
                  <a:srgbClr val="F58025"/>
                </a:solidFill>
                <a:latin typeface="Arial" pitchFamily="34" charset="0"/>
                <a:ea typeface="Arial" pitchFamily="34" charset="-122"/>
                <a:cs typeface="Arial" pitchFamily="34" charset="-120"/>
              </a:rPr>
              <a:t>→</a:t>
            </a:r>
            <a:endParaRPr lang="en-US" sz="1600" dirty="0"/>
          </a:p>
        </p:txBody>
      </p:sp>
      <p:sp>
        <p:nvSpPr>
          <p:cNvPr id="40" name="Shape 38"/>
          <p:cNvSpPr/>
          <p:nvPr/>
        </p:nvSpPr>
        <p:spPr>
          <a:xfrm>
            <a:off x="4663440" y="3319272"/>
            <a:ext cx="566928" cy="310896"/>
          </a:xfrm>
          <a:prstGeom prst="roundRect">
            <a:avLst>
              <a:gd name="adj" fmla="val 50000"/>
            </a:avLst>
          </a:prstGeom>
          <a:solidFill>
            <a:srgbClr val="0064B1"/>
          </a:solidFill>
          <a:ln w="12700">
            <a:solidFill>
              <a:srgbClr val="0064B1"/>
            </a:solidFill>
            <a:prstDash val="solid"/>
          </a:ln>
        </p:spPr>
      </p:sp>
      <p:sp>
        <p:nvSpPr>
          <p:cNvPr id="41" name="Text 39"/>
          <p:cNvSpPr txBox="1"/>
          <p:nvPr/>
        </p:nvSpPr>
        <p:spPr>
          <a:xfrm>
            <a:off x="4663440" y="3319272"/>
            <a:ext cx="566928"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P2</a:t>
            </a:r>
            <a:endParaRPr lang="en-US" sz="1200" dirty="0"/>
          </a:p>
        </p:txBody>
      </p:sp>
      <p:sp>
        <p:nvSpPr>
          <p:cNvPr id="42" name="Text 40"/>
          <p:cNvSpPr txBox="1"/>
          <p:nvPr/>
        </p:nvSpPr>
        <p:spPr>
          <a:xfrm>
            <a:off x="5303520" y="3337560"/>
            <a:ext cx="1261872" cy="274320"/>
          </a:xfrm>
          <a:prstGeom prst="rect">
            <a:avLst/>
          </a:prstGeom>
          <a:noFill/>
          <a:ln/>
        </p:spPr>
        <p:txBody>
          <a:bodyPr wrap="square" lIns="0" tIns="0" rIns="0" bIns="0" rtlCol="0" anchor="ctr"/>
          <a:lstStyle/>
          <a:p>
            <a:pPr indent="0" marL="0">
              <a:buNone/>
            </a:pPr>
            <a:r>
              <a:rPr lang="en-US" sz="1000" b="1" dirty="0">
                <a:solidFill>
                  <a:srgbClr val="5B6678"/>
                </a:solidFill>
                <a:latin typeface="Arial" pitchFamily="34" charset="0"/>
                <a:ea typeface="Arial" pitchFamily="34" charset="-122"/>
                <a:cs typeface="Arial" pitchFamily="34" charset="-120"/>
              </a:rPr>
              <a:t>library 70.6</a:t>
            </a:r>
            <a:endParaRPr lang="en-US" sz="1000" dirty="0"/>
          </a:p>
        </p:txBody>
      </p:sp>
      <p:sp>
        <p:nvSpPr>
          <p:cNvPr id="43" name="Text 41"/>
          <p:cNvSpPr txBox="1"/>
          <p:nvPr/>
        </p:nvSpPr>
        <p:spPr>
          <a:xfrm>
            <a:off x="4663440" y="3703320"/>
            <a:ext cx="1874520" cy="777240"/>
          </a:xfrm>
          <a:prstGeom prst="rect">
            <a:avLst/>
          </a:prstGeom>
          <a:noFill/>
          <a:ln/>
        </p:spPr>
        <p:txBody>
          <a:bodyPr wrap="square" lIns="0" tIns="0" rIns="0" bIns="0" rtlCol="0" anchor="t"/>
          <a:lstStyle/>
          <a:p>
            <a:pPr indent="0" marL="0">
              <a:buNone/>
            </a:pPr>
            <a:r>
              <a:rPr lang="en-US" sz="1000" dirty="0">
                <a:solidFill>
                  <a:srgbClr val="1A2233"/>
                </a:solidFill>
                <a:latin typeface="Arial" pitchFamily="34" charset="0"/>
                <a:ea typeface="Arial" pitchFamily="34" charset="-122"/>
                <a:cs typeface="Arial" pitchFamily="34" charset="-120"/>
              </a:rPr>
              <a:t>Naming rule, documents as classes, V only for closed lists</a:t>
            </a:r>
            <a:endParaRPr lang="en-US" sz="1000" dirty="0"/>
          </a:p>
        </p:txBody>
      </p:sp>
      <p:sp>
        <p:nvSpPr>
          <p:cNvPr id="44" name="Text 42"/>
          <p:cNvSpPr txBox="1"/>
          <p:nvPr/>
        </p:nvSpPr>
        <p:spPr>
          <a:xfrm>
            <a:off x="6510528" y="3300984"/>
            <a:ext cx="274320" cy="329184"/>
          </a:xfrm>
          <a:prstGeom prst="rect">
            <a:avLst/>
          </a:prstGeom>
          <a:noFill/>
          <a:ln/>
        </p:spPr>
        <p:txBody>
          <a:bodyPr wrap="square" lIns="0" tIns="0" rIns="0" bIns="0" rtlCol="0" anchor="ctr"/>
          <a:lstStyle/>
          <a:p>
            <a:pPr algn="ctr" indent="0" marL="0">
              <a:buNone/>
            </a:pPr>
            <a:r>
              <a:rPr lang="en-US" sz="1600" dirty="0">
                <a:solidFill>
                  <a:srgbClr val="F58025"/>
                </a:solidFill>
                <a:latin typeface="Arial" pitchFamily="34" charset="0"/>
                <a:ea typeface="Arial" pitchFamily="34" charset="-122"/>
                <a:cs typeface="Arial" pitchFamily="34" charset="-120"/>
              </a:rPr>
              <a:t>→</a:t>
            </a:r>
            <a:endParaRPr lang="en-US" sz="1600" dirty="0"/>
          </a:p>
        </p:txBody>
      </p:sp>
      <p:sp>
        <p:nvSpPr>
          <p:cNvPr id="45" name="Shape 43"/>
          <p:cNvSpPr/>
          <p:nvPr/>
        </p:nvSpPr>
        <p:spPr>
          <a:xfrm>
            <a:off x="6766560" y="3319272"/>
            <a:ext cx="566928" cy="310896"/>
          </a:xfrm>
          <a:prstGeom prst="roundRect">
            <a:avLst>
              <a:gd name="adj" fmla="val 50000"/>
            </a:avLst>
          </a:prstGeom>
          <a:solidFill>
            <a:srgbClr val="0064B1"/>
          </a:solidFill>
          <a:ln w="12700">
            <a:solidFill>
              <a:srgbClr val="0064B1"/>
            </a:solidFill>
            <a:prstDash val="solid"/>
          </a:ln>
        </p:spPr>
      </p:sp>
      <p:sp>
        <p:nvSpPr>
          <p:cNvPr id="46" name="Text 44"/>
          <p:cNvSpPr txBox="1"/>
          <p:nvPr/>
        </p:nvSpPr>
        <p:spPr>
          <a:xfrm>
            <a:off x="6766560" y="3319272"/>
            <a:ext cx="566928"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P3</a:t>
            </a:r>
            <a:endParaRPr lang="en-US" sz="1200" dirty="0"/>
          </a:p>
        </p:txBody>
      </p:sp>
      <p:sp>
        <p:nvSpPr>
          <p:cNvPr id="47" name="Text 45"/>
          <p:cNvSpPr txBox="1"/>
          <p:nvPr/>
        </p:nvSpPr>
        <p:spPr>
          <a:xfrm>
            <a:off x="7406640" y="3337560"/>
            <a:ext cx="1261872" cy="274320"/>
          </a:xfrm>
          <a:prstGeom prst="rect">
            <a:avLst/>
          </a:prstGeom>
          <a:noFill/>
          <a:ln/>
        </p:spPr>
        <p:txBody>
          <a:bodyPr wrap="square" lIns="0" tIns="0" rIns="0" bIns="0" rtlCol="0" anchor="ctr"/>
          <a:lstStyle/>
          <a:p>
            <a:pPr indent="0" marL="0">
              <a:buNone/>
            </a:pPr>
            <a:r>
              <a:rPr lang="en-US" sz="1000" b="1" dirty="0">
                <a:solidFill>
                  <a:srgbClr val="5B6678"/>
                </a:solidFill>
                <a:latin typeface="Arial" pitchFamily="34" charset="0"/>
                <a:ea typeface="Arial" pitchFamily="34" charset="-122"/>
                <a:cs typeface="Arial" pitchFamily="34" charset="-120"/>
              </a:rPr>
              <a:t>library 70.8</a:t>
            </a:r>
            <a:endParaRPr lang="en-US" sz="1000" dirty="0"/>
          </a:p>
        </p:txBody>
      </p:sp>
      <p:sp>
        <p:nvSpPr>
          <p:cNvPr id="48" name="Text 46"/>
          <p:cNvSpPr txBox="1"/>
          <p:nvPr/>
        </p:nvSpPr>
        <p:spPr>
          <a:xfrm>
            <a:off x="6766560" y="3703320"/>
            <a:ext cx="1874520" cy="777240"/>
          </a:xfrm>
          <a:prstGeom prst="rect">
            <a:avLst/>
          </a:prstGeom>
          <a:noFill/>
          <a:ln/>
        </p:spPr>
        <p:txBody>
          <a:bodyPr wrap="square" lIns="0" tIns="0" rIns="0" bIns="0" rtlCol="0" anchor="t"/>
          <a:lstStyle/>
          <a:p>
            <a:pPr indent="0" marL="0">
              <a:buNone/>
            </a:pPr>
            <a:r>
              <a:rPr lang="en-US" sz="1000" dirty="0">
                <a:solidFill>
                  <a:srgbClr val="1A2233"/>
                </a:solidFill>
                <a:latin typeface="Arial" pitchFamily="34" charset="0"/>
                <a:ea typeface="Arial" pitchFamily="34" charset="-122"/>
                <a:cs typeface="Arial" pitchFamily="34" charset="-120"/>
              </a:rPr>
              <a:t>AS+AC together, inheritance test, attach to named class</a:t>
            </a:r>
            <a:endParaRPr lang="en-US" sz="1000" dirty="0"/>
          </a:p>
        </p:txBody>
      </p:sp>
      <p:sp>
        <p:nvSpPr>
          <p:cNvPr id="49" name="Text 47"/>
          <p:cNvSpPr txBox="1"/>
          <p:nvPr/>
        </p:nvSpPr>
        <p:spPr>
          <a:xfrm>
            <a:off x="457200" y="4572000"/>
            <a:ext cx="8229600" cy="274320"/>
          </a:xfrm>
          <a:prstGeom prst="rect">
            <a:avLst/>
          </a:prstGeom>
          <a:noFill/>
          <a:ln/>
        </p:spPr>
        <p:txBody>
          <a:bodyPr wrap="square" lIns="0" tIns="0" rIns="0" bIns="0" rtlCol="0" anchor="t"/>
          <a:lstStyle/>
          <a:p>
            <a:pPr indent="0" marL="0">
              <a:buNone/>
            </a:pPr>
            <a:r>
              <a:rPr lang="en-US" sz="1100" dirty="0">
                <a:solidFill>
                  <a:srgbClr val="5B6678"/>
                </a:solidFill>
                <a:latin typeface="Arial" pitchFamily="34" charset="0"/>
                <a:ea typeface="Arial" pitchFamily="34" charset="-122"/>
                <a:cs typeface="Arial" pitchFamily="34" charset="-120"/>
              </a:rPr>
              <a:t>Chain of thought: P0 → P1 → P2 → P3, each composed automatically from the current identification and classification prompts.</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548640"/>
          </a:xfrm>
          <a:prstGeom prst="rect">
            <a:avLst/>
          </a:prstGeom>
          <a:noFill/>
          <a:ln/>
        </p:spPr>
        <p:txBody>
          <a:bodyPr wrap="square" lIns="0" tIns="0" rIns="0" bIns="0" rtlCol="0" anchor="ctr"/>
          <a:lstStyle/>
          <a:p>
            <a:pPr indent="0" marL="0">
              <a:buNone/>
            </a:pPr>
            <a:r>
              <a:rPr lang="en-US" sz="2800" b="1" dirty="0">
                <a:solidFill>
                  <a:srgbClr val="0B2F57"/>
                </a:solidFill>
                <a:latin typeface="Arial" pitchFamily="34" charset="0"/>
                <a:ea typeface="Arial" pitchFamily="34" charset="-122"/>
                <a:cs typeface="Arial" pitchFamily="34" charset="-120"/>
              </a:rPr>
              <a:t>Experiment 1: the course methodology</a:t>
            </a:r>
            <a:endParaRPr lang="en-US" sz="2800" dirty="0"/>
          </a:p>
        </p:txBody>
      </p:sp>
      <p:sp>
        <p:nvSpPr>
          <p:cNvPr id="3" name="Text 1"/>
          <p:cNvSpPr txBox="1"/>
          <p:nvPr/>
        </p:nvSpPr>
        <p:spPr>
          <a:xfrm>
            <a:off x="457200" y="841248"/>
            <a:ext cx="8229600" cy="320040"/>
          </a:xfrm>
          <a:prstGeom prst="rect">
            <a:avLst/>
          </a:prstGeom>
          <a:noFill/>
          <a:ln/>
        </p:spPr>
        <p:txBody>
          <a:bodyPr wrap="square" lIns="0" tIns="0" rIns="0" bIns="0" rtlCol="0" anchor="t"/>
          <a:lstStyle/>
          <a:p>
            <a:pPr indent="0" marL="0">
              <a:buNone/>
            </a:pPr>
            <a:r>
              <a:rPr lang="en-US" sz="1300" dirty="0">
                <a:solidFill>
                  <a:srgbClr val="5B6678"/>
                </a:solidFill>
                <a:latin typeface="Arial" pitchFamily="34" charset="0"/>
                <a:ea typeface="Arial" pitchFamily="34" charset="-122"/>
                <a:cs typeface="Arial" pitchFamily="34" charset="-120"/>
              </a:rPr>
              <a:t>Identification P0 → P1</a:t>
            </a:r>
            <a:endParaRPr lang="en-US" sz="1300" dirty="0"/>
          </a:p>
        </p:txBody>
      </p:sp>
      <p:sp>
        <p:nvSpPr>
          <p:cNvPr id="4" name="Shape 2"/>
          <p:cNvSpPr/>
          <p:nvPr/>
        </p:nvSpPr>
        <p:spPr>
          <a:xfrm>
            <a:off x="457200" y="1325880"/>
            <a:ext cx="2606040" cy="3383280"/>
          </a:xfrm>
          <a:prstGeom prst="roundRect">
            <a:avLst>
              <a:gd name="adj" fmla="val 2807"/>
            </a:avLst>
          </a:prstGeom>
          <a:solidFill>
            <a:srgbClr val="EEF3F9"/>
          </a:solidFill>
          <a:ln w="12700">
            <a:solidFill>
              <a:srgbClr val="EEF3F9"/>
            </a:solidFill>
            <a:prstDash val="solid"/>
          </a:ln>
        </p:spPr>
      </p:sp>
      <p:sp>
        <p:nvSpPr>
          <p:cNvPr id="5" name="Text 3"/>
          <p:cNvSpPr txBox="1"/>
          <p:nvPr/>
        </p:nvSpPr>
        <p:spPr>
          <a:xfrm>
            <a:off x="621792" y="1463040"/>
            <a:ext cx="2276856" cy="320040"/>
          </a:xfrm>
          <a:prstGeom prst="rect">
            <a:avLst/>
          </a:prstGeom>
          <a:noFill/>
          <a:ln/>
        </p:spPr>
        <p:txBody>
          <a:bodyPr wrap="square" lIns="0" tIns="0" rIns="0" bIns="0" rtlCol="0" anchor="t"/>
          <a:lstStyle/>
          <a:p>
            <a:pPr indent="0" marL="0">
              <a:buNone/>
            </a:pPr>
            <a:r>
              <a:rPr lang="en-US" sz="1500" b="1" dirty="0">
                <a:solidFill>
                  <a:srgbClr val="0B2F57"/>
                </a:solidFill>
                <a:latin typeface="Arial" pitchFamily="34" charset="0"/>
                <a:ea typeface="Arial" pitchFamily="34" charset="-122"/>
                <a:cs typeface="Arial" pitchFamily="34" charset="-120"/>
              </a:rPr>
              <a:t>Hypothesis</a:t>
            </a:r>
            <a:endParaRPr lang="en-US" sz="1500" dirty="0"/>
          </a:p>
        </p:txBody>
      </p:sp>
      <p:sp>
        <p:nvSpPr>
          <p:cNvPr id="6" name="Text 4"/>
          <p:cNvSpPr txBox="1"/>
          <p:nvPr/>
        </p:nvSpPr>
        <p:spPr>
          <a:xfrm>
            <a:off x="621792" y="1828800"/>
            <a:ext cx="2276856" cy="2788920"/>
          </a:xfrm>
          <a:prstGeom prst="rect">
            <a:avLst/>
          </a:prstGeom>
          <a:noFill/>
          <a:ln/>
        </p:spPr>
        <p:txBody>
          <a:bodyPr wrap="square" lIns="0" tIns="0" rIns="0" bIns="0" rtlCol="0" anchor="t"/>
          <a:lstStyle/>
          <a:p>
            <a:pPr indent="0" marL="0">
              <a:buNone/>
            </a:pPr>
            <a:r>
              <a:rPr lang="en-US" sz="1300" dirty="0">
                <a:solidFill>
                  <a:srgbClr val="1A2233"/>
                </a:solidFill>
                <a:latin typeface="Arial" pitchFamily="34" charset="0"/>
                <a:ea typeface="Arial" pitchFamily="34" charset="-122"/>
                <a:cs typeface="Arial" pitchFamily="34" charset="-120"/>
              </a:rPr>
              <a:t>A bare category list gives no definition of "domain-specific", so the model lists generic words (low precision) and treats passive verbs, state adjectives and quantities inconsistently.</a:t>
            </a:r>
            <a:endParaRPr lang="en-US" sz="1300" dirty="0"/>
          </a:p>
        </p:txBody>
      </p:sp>
      <p:sp>
        <p:nvSpPr>
          <p:cNvPr id="7" name="Shape 5"/>
          <p:cNvSpPr/>
          <p:nvPr/>
        </p:nvSpPr>
        <p:spPr>
          <a:xfrm>
            <a:off x="3246120" y="1325880"/>
            <a:ext cx="2606040" cy="3383280"/>
          </a:xfrm>
          <a:prstGeom prst="roundRect">
            <a:avLst>
              <a:gd name="adj" fmla="val 2807"/>
            </a:avLst>
          </a:prstGeom>
          <a:solidFill>
            <a:srgbClr val="EEF3F9"/>
          </a:solidFill>
          <a:ln w="12700">
            <a:solidFill>
              <a:srgbClr val="EEF3F9"/>
            </a:solidFill>
            <a:prstDash val="solid"/>
          </a:ln>
        </p:spPr>
      </p:sp>
      <p:sp>
        <p:nvSpPr>
          <p:cNvPr id="8" name="Text 6"/>
          <p:cNvSpPr txBox="1"/>
          <p:nvPr/>
        </p:nvSpPr>
        <p:spPr>
          <a:xfrm>
            <a:off x="3410712" y="1463040"/>
            <a:ext cx="2276856" cy="320040"/>
          </a:xfrm>
          <a:prstGeom prst="rect">
            <a:avLst/>
          </a:prstGeom>
          <a:noFill/>
          <a:ln/>
        </p:spPr>
        <p:txBody>
          <a:bodyPr wrap="square" lIns="0" tIns="0" rIns="0" bIns="0" rtlCol="0" anchor="t"/>
          <a:lstStyle/>
          <a:p>
            <a:pPr indent="0" marL="0">
              <a:buNone/>
            </a:pPr>
            <a:r>
              <a:rPr lang="en-US" sz="1500" b="1" dirty="0">
                <a:solidFill>
                  <a:srgbClr val="0B2F57"/>
                </a:solidFill>
                <a:latin typeface="Arial" pitchFamily="34" charset="0"/>
                <a:ea typeface="Arial" pitchFamily="34" charset="-122"/>
                <a:cs typeface="Arial" pitchFamily="34" charset="-120"/>
              </a:rPr>
              <a:t>Modification</a:t>
            </a:r>
            <a:endParaRPr lang="en-US" sz="1500" dirty="0"/>
          </a:p>
        </p:txBody>
      </p:sp>
      <p:sp>
        <p:nvSpPr>
          <p:cNvPr id="9" name="Text 7"/>
          <p:cNvSpPr txBox="1"/>
          <p:nvPr/>
        </p:nvSpPr>
        <p:spPr>
          <a:xfrm>
            <a:off x="3410712" y="1828800"/>
            <a:ext cx="2276856" cy="2788920"/>
          </a:xfrm>
          <a:prstGeom prst="rect">
            <a:avLst/>
          </a:prstGeom>
          <a:noFill/>
          <a:ln/>
        </p:spPr>
        <p:txBody>
          <a:bodyPr wrap="square" lIns="0" tIns="0" rIns="0" bIns="0" rtlCol="0" anchor="t"/>
          <a:lstStyle/>
          <a:p>
            <a:pPr indent="0" marL="0">
              <a:buNone/>
            </a:pPr>
            <a:r>
              <a:rPr lang="en-US" sz="1300" dirty="0">
                <a:solidFill>
                  <a:srgbClr val="1A2233"/>
                </a:solidFill>
                <a:latin typeface="Arial" pitchFamily="34" charset="0"/>
                <a:ea typeface="Arial" pitchFamily="34" charset="-122"/>
                <a:cs typeface="Arial" pitchFamily="34" charset="-120"/>
              </a:rPr>
              <a:t>Added a role, the definition of domain-specific, per-category rules from the revised rules document, the course example, a sentence-by-sentence procedure with a re-scan, and output constraints.</a:t>
            </a:r>
            <a:endParaRPr lang="en-US" sz="1300" dirty="0"/>
          </a:p>
        </p:txBody>
      </p:sp>
      <p:sp>
        <p:nvSpPr>
          <p:cNvPr id="10" name="Shape 8"/>
          <p:cNvSpPr/>
          <p:nvPr/>
        </p:nvSpPr>
        <p:spPr>
          <a:xfrm>
            <a:off x="6035040" y="1325880"/>
            <a:ext cx="2606040" cy="3383280"/>
          </a:xfrm>
          <a:prstGeom prst="roundRect">
            <a:avLst>
              <a:gd name="adj" fmla="val 2807"/>
            </a:avLst>
          </a:prstGeom>
          <a:solidFill>
            <a:srgbClr val="0B2F57"/>
          </a:solidFill>
          <a:ln w="12700">
            <a:solidFill>
              <a:srgbClr val="0B2F57"/>
            </a:solidFill>
            <a:prstDash val="solid"/>
          </a:ln>
        </p:spPr>
      </p:sp>
      <p:sp>
        <p:nvSpPr>
          <p:cNvPr id="11" name="Text 9"/>
          <p:cNvSpPr txBox="1"/>
          <p:nvPr/>
        </p:nvSpPr>
        <p:spPr>
          <a:xfrm>
            <a:off x="6199632" y="1463040"/>
            <a:ext cx="2276856" cy="320040"/>
          </a:xfrm>
          <a:prstGeom prst="rect">
            <a:avLst/>
          </a:prstGeom>
          <a:noFill/>
          <a:ln/>
        </p:spPr>
        <p:txBody>
          <a:bodyPr wrap="square" lIns="0" tIns="0" rIns="0" bIns="0" rtlCol="0" anchor="t"/>
          <a:lstStyle/>
          <a:p>
            <a:pPr indent="0" marL="0">
              <a:buNone/>
            </a:pPr>
            <a:r>
              <a:rPr lang="en-US" sz="1500" b="1" dirty="0">
                <a:solidFill>
                  <a:srgbClr val="F58025"/>
                </a:solidFill>
                <a:latin typeface="Arial" pitchFamily="34" charset="0"/>
                <a:ea typeface="Arial" pitchFamily="34" charset="-122"/>
                <a:cs typeface="Arial" pitchFamily="34" charset="-120"/>
              </a:rPr>
              <a:t>Result</a:t>
            </a:r>
            <a:endParaRPr lang="en-US" sz="1500" dirty="0"/>
          </a:p>
        </p:txBody>
      </p:sp>
      <p:sp>
        <p:nvSpPr>
          <p:cNvPr id="12" name="Text 10"/>
          <p:cNvSpPr txBox="1"/>
          <p:nvPr/>
        </p:nvSpPr>
        <p:spPr>
          <a:xfrm>
            <a:off x="6199632" y="1828800"/>
            <a:ext cx="2276856" cy="2788920"/>
          </a:xfrm>
          <a:prstGeom prst="rect">
            <a:avLst/>
          </a:prstGeom>
          <a:noFill/>
          <a:ln/>
        </p:spPr>
        <p:txBody>
          <a:bodyPr wrap="square" lIns="0" tIns="0" rIns="0" bIns="0" rtlCol="0" anchor="t"/>
          <a:lstStyle/>
          <a:p>
            <a:pPr indent="0" marL="0">
              <a:buNone/>
            </a:pPr>
            <a:r>
              <a:rPr lang="en-US" sz="1300" dirty="0">
                <a:solidFill>
                  <a:srgbClr val="FFFFFF"/>
                </a:solidFill>
                <a:latin typeface="Arial" pitchFamily="34" charset="0"/>
                <a:ea typeface="Arial" pitchFamily="34" charset="-122"/>
                <a:cs typeface="Arial" pitchFamily="34" charset="-120"/>
              </a:rPr>
              <a:t>F1 by domain:</a:t>
            </a:r>
            <a:endParaRPr lang="en-US" sz="1300" dirty="0"/>
          </a:p>
          <a:p>
            <a:pPr indent="0" marL="0">
              <a:buNone/>
            </a:pPr>
            <a:endParaRPr lang="en-US" sz="1300" dirty="0"/>
          </a:p>
          <a:p>
            <a:pPr indent="0" marL="0">
              <a:buNone/>
            </a:pPr>
            <a:r>
              <a:rPr lang="en-US" sz="1300" dirty="0">
                <a:solidFill>
                  <a:srgbClr val="FFFFFF"/>
                </a:solidFill>
                <a:latin typeface="Arial" pitchFamily="34" charset="0"/>
                <a:ea typeface="Arial" pitchFamily="34" charset="-122"/>
                <a:cs typeface="Arial" pitchFamily="34" charset="-120"/>
              </a:rPr>
              <a:t>Library 68.9 → 88.7 (+19.8)</a:t>
            </a:r>
            <a:endParaRPr lang="en-US" sz="1300" dirty="0"/>
          </a:p>
          <a:p>
            <a:pPr indent="0" marL="0">
              <a:buNone/>
            </a:pPr>
            <a:r>
              <a:rPr lang="en-US" sz="1300" dirty="0">
                <a:solidFill>
                  <a:srgbClr val="FFFFFF"/>
                </a:solidFill>
                <a:latin typeface="Arial" pitchFamily="34" charset="0"/>
                <a:ea typeface="Arial" pitchFamily="34" charset="-122"/>
                <a:cs typeface="Arial" pitchFamily="34" charset="-120"/>
              </a:rPr>
              <a:t>Car rental 52.0 → 60.0 (+8.0)</a:t>
            </a:r>
            <a:endParaRPr lang="en-US" sz="1300" dirty="0"/>
          </a:p>
          <a:p>
            <a:pPr indent="0" marL="0">
              <a:buNone/>
            </a:pPr>
            <a:r>
              <a:rPr lang="en-US" sz="1300" dirty="0">
                <a:solidFill>
                  <a:srgbClr val="FFFFFF"/>
                </a:solidFill>
                <a:latin typeface="Arial" pitchFamily="34" charset="0"/>
                <a:ea typeface="Arial" pitchFamily="34" charset="-122"/>
                <a:cs typeface="Arial" pitchFamily="34" charset="-120"/>
              </a:rPr>
              <a:t>NTSS 71.2 → 80.8 (+9.6)</a:t>
            </a:r>
            <a:endParaRPr lang="en-US" sz="1300" dirty="0"/>
          </a:p>
          <a:p>
            <a:pPr indent="0" marL="0">
              <a:buNone/>
            </a:pPr>
            <a:endParaRPr lang="en-US" sz="1300" dirty="0"/>
          </a:p>
          <a:p>
            <a:pPr indent="0" marL="0">
              <a:buNone/>
            </a:pPr>
            <a:r>
              <a:rPr lang="en-US" sz="1300" dirty="0">
                <a:solidFill>
                  <a:srgbClr val="FFFFFF"/>
                </a:solidFill>
                <a:latin typeface="Arial" pitchFamily="34" charset="0"/>
                <a:ea typeface="Arial" pitchFamily="34" charset="-122"/>
                <a:cs typeface="Arial" pitchFamily="34" charset="-120"/>
              </a:rPr>
              <a:t>Hypothesis confirmed on all three domains: every gain is larger than run-to-run noise.</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548640"/>
          </a:xfrm>
          <a:prstGeom prst="rect">
            <a:avLst/>
          </a:prstGeom>
          <a:noFill/>
          <a:ln/>
        </p:spPr>
        <p:txBody>
          <a:bodyPr wrap="square" lIns="0" tIns="0" rIns="0" bIns="0" rtlCol="0" anchor="ctr"/>
          <a:lstStyle/>
          <a:p>
            <a:pPr indent="0" marL="0">
              <a:buNone/>
            </a:pPr>
            <a:r>
              <a:rPr lang="en-US" sz="2800" b="1" dirty="0">
                <a:solidFill>
                  <a:srgbClr val="0B2F57"/>
                </a:solidFill>
                <a:latin typeface="Arial" pitchFamily="34" charset="0"/>
                <a:ea typeface="Arial" pitchFamily="34" charset="-122"/>
                <a:cs typeface="Arial" pitchFamily="34" charset="-120"/>
              </a:rPr>
              <a:t>Experiment 2: one naming decision</a:t>
            </a:r>
            <a:endParaRPr lang="en-US" sz="2800" dirty="0"/>
          </a:p>
        </p:txBody>
      </p:sp>
      <p:sp>
        <p:nvSpPr>
          <p:cNvPr id="3" name="Text 1"/>
          <p:cNvSpPr txBox="1"/>
          <p:nvPr/>
        </p:nvSpPr>
        <p:spPr>
          <a:xfrm>
            <a:off x="457200" y="841248"/>
            <a:ext cx="8229600" cy="320040"/>
          </a:xfrm>
          <a:prstGeom prst="rect">
            <a:avLst/>
          </a:prstGeom>
          <a:noFill/>
          <a:ln/>
        </p:spPr>
        <p:txBody>
          <a:bodyPr wrap="square" lIns="0" tIns="0" rIns="0" bIns="0" rtlCol="0" anchor="t"/>
          <a:lstStyle/>
          <a:p>
            <a:pPr indent="0" marL="0">
              <a:buNone/>
            </a:pPr>
            <a:r>
              <a:rPr lang="en-US" sz="1300" dirty="0">
                <a:solidFill>
                  <a:srgbClr val="5B6678"/>
                </a:solidFill>
                <a:latin typeface="Arial" pitchFamily="34" charset="0"/>
                <a:ea typeface="Arial" pitchFamily="34" charset="-122"/>
                <a:cs typeface="Arial" pitchFamily="34" charset="-120"/>
              </a:rPr>
              <a:t>Classification P1 → P2</a:t>
            </a:r>
            <a:endParaRPr lang="en-US" sz="1300" dirty="0"/>
          </a:p>
        </p:txBody>
      </p:sp>
      <p:sp>
        <p:nvSpPr>
          <p:cNvPr id="4" name="Shape 2"/>
          <p:cNvSpPr/>
          <p:nvPr/>
        </p:nvSpPr>
        <p:spPr>
          <a:xfrm>
            <a:off x="457200" y="1325880"/>
            <a:ext cx="2606040" cy="3383280"/>
          </a:xfrm>
          <a:prstGeom prst="roundRect">
            <a:avLst>
              <a:gd name="adj" fmla="val 2807"/>
            </a:avLst>
          </a:prstGeom>
          <a:solidFill>
            <a:srgbClr val="EEF3F9"/>
          </a:solidFill>
          <a:ln w="12700">
            <a:solidFill>
              <a:srgbClr val="EEF3F9"/>
            </a:solidFill>
            <a:prstDash val="solid"/>
          </a:ln>
        </p:spPr>
      </p:sp>
      <p:sp>
        <p:nvSpPr>
          <p:cNvPr id="5" name="Text 3"/>
          <p:cNvSpPr txBox="1"/>
          <p:nvPr/>
        </p:nvSpPr>
        <p:spPr>
          <a:xfrm>
            <a:off x="621792" y="1463040"/>
            <a:ext cx="2276856" cy="320040"/>
          </a:xfrm>
          <a:prstGeom prst="rect">
            <a:avLst/>
          </a:prstGeom>
          <a:noFill/>
          <a:ln/>
        </p:spPr>
        <p:txBody>
          <a:bodyPr wrap="square" lIns="0" tIns="0" rIns="0" bIns="0" rtlCol="0" anchor="t"/>
          <a:lstStyle/>
          <a:p>
            <a:pPr indent="0" marL="0">
              <a:buNone/>
            </a:pPr>
            <a:r>
              <a:rPr lang="en-US" sz="1500" b="1" dirty="0">
                <a:solidFill>
                  <a:srgbClr val="0B2F57"/>
                </a:solidFill>
                <a:latin typeface="Arial" pitchFamily="34" charset="0"/>
                <a:ea typeface="Arial" pitchFamily="34" charset="-122"/>
                <a:cs typeface="Arial" pitchFamily="34" charset="-120"/>
              </a:rPr>
              <a:t>Hypothesis</a:t>
            </a:r>
            <a:endParaRPr lang="en-US" sz="1500" dirty="0"/>
          </a:p>
        </p:txBody>
      </p:sp>
      <p:sp>
        <p:nvSpPr>
          <p:cNvPr id="6" name="Text 4"/>
          <p:cNvSpPr txBox="1"/>
          <p:nvPr/>
        </p:nvSpPr>
        <p:spPr>
          <a:xfrm>
            <a:off x="621792" y="1828800"/>
            <a:ext cx="2276856" cy="2788920"/>
          </a:xfrm>
          <a:prstGeom prst="rect">
            <a:avLst/>
          </a:prstGeom>
          <a:noFill/>
          <a:ln/>
        </p:spPr>
        <p:txBody>
          <a:bodyPr wrap="square" lIns="0" tIns="0" rIns="0" bIns="0" rtlCol="0" anchor="t"/>
          <a:lstStyle/>
          <a:p>
            <a:pPr indent="0" marL="0">
              <a:buNone/>
            </a:pPr>
            <a:r>
              <a:rPr lang="en-US" sz="1300" dirty="0">
                <a:solidFill>
                  <a:srgbClr val="1A2233"/>
                </a:solidFill>
                <a:latin typeface="Arial" pitchFamily="34" charset="0"/>
                <a:ea typeface="Arial" pitchFamily="34" charset="-122"/>
                <a:cs typeface="Arial" pitchFamily="34" charset="-120"/>
              </a:rPr>
              <a:t>"Each customer is known as a member": the model named the class Member. Every attribute and association on that class then missed the expert's Customer, so one word choice cost about 14 errors.</a:t>
            </a:r>
            <a:endParaRPr lang="en-US" sz="1300" dirty="0"/>
          </a:p>
        </p:txBody>
      </p:sp>
      <p:sp>
        <p:nvSpPr>
          <p:cNvPr id="7" name="Shape 5"/>
          <p:cNvSpPr/>
          <p:nvPr/>
        </p:nvSpPr>
        <p:spPr>
          <a:xfrm>
            <a:off x="3246120" y="1325880"/>
            <a:ext cx="2606040" cy="3383280"/>
          </a:xfrm>
          <a:prstGeom prst="roundRect">
            <a:avLst>
              <a:gd name="adj" fmla="val 2807"/>
            </a:avLst>
          </a:prstGeom>
          <a:solidFill>
            <a:srgbClr val="EEF3F9"/>
          </a:solidFill>
          <a:ln w="12700">
            <a:solidFill>
              <a:srgbClr val="EEF3F9"/>
            </a:solidFill>
            <a:prstDash val="solid"/>
          </a:ln>
        </p:spPr>
      </p:sp>
      <p:sp>
        <p:nvSpPr>
          <p:cNvPr id="8" name="Text 6"/>
          <p:cNvSpPr txBox="1"/>
          <p:nvPr/>
        </p:nvSpPr>
        <p:spPr>
          <a:xfrm>
            <a:off x="3410712" y="1463040"/>
            <a:ext cx="2276856" cy="320040"/>
          </a:xfrm>
          <a:prstGeom prst="rect">
            <a:avLst/>
          </a:prstGeom>
          <a:noFill/>
          <a:ln/>
        </p:spPr>
        <p:txBody>
          <a:bodyPr wrap="square" lIns="0" tIns="0" rIns="0" bIns="0" rtlCol="0" anchor="t"/>
          <a:lstStyle/>
          <a:p>
            <a:pPr indent="0" marL="0">
              <a:buNone/>
            </a:pPr>
            <a:r>
              <a:rPr lang="en-US" sz="1500" b="1" dirty="0">
                <a:solidFill>
                  <a:srgbClr val="0B2F57"/>
                </a:solidFill>
                <a:latin typeface="Arial" pitchFamily="34" charset="0"/>
                <a:ea typeface="Arial" pitchFamily="34" charset="-122"/>
                <a:cs typeface="Arial" pitchFamily="34" charset="-120"/>
              </a:rPr>
              <a:t>Modification</a:t>
            </a:r>
            <a:endParaRPr lang="en-US" sz="1500" dirty="0"/>
          </a:p>
        </p:txBody>
      </p:sp>
      <p:sp>
        <p:nvSpPr>
          <p:cNvPr id="9" name="Text 7"/>
          <p:cNvSpPr txBox="1"/>
          <p:nvPr/>
        </p:nvSpPr>
        <p:spPr>
          <a:xfrm>
            <a:off x="3410712" y="1828800"/>
            <a:ext cx="2276856" cy="2788920"/>
          </a:xfrm>
          <a:prstGeom prst="rect">
            <a:avLst/>
          </a:prstGeom>
          <a:noFill/>
          <a:ln/>
        </p:spPr>
        <p:txBody>
          <a:bodyPr wrap="square" lIns="0" tIns="0" rIns="0" bIns="0" rtlCol="0" anchor="t"/>
          <a:lstStyle/>
          <a:p>
            <a:pPr indent="0" marL="0">
              <a:buNone/>
            </a:pPr>
            <a:r>
              <a:rPr lang="en-US" sz="1300" dirty="0">
                <a:solidFill>
                  <a:srgbClr val="1A2233"/>
                </a:solidFill>
                <a:latin typeface="Arial" pitchFamily="34" charset="0"/>
                <a:ea typeface="Arial" pitchFamily="34" charset="-122"/>
                <a:cs typeface="Arial" pitchFamily="34" charset="-120"/>
              </a:rPr>
              <a:t>Naming rule: use the name introduced first for a concept. Also: documents are classes, attribute values only for closed lists, and a mandatory association-class check.</a:t>
            </a:r>
            <a:endParaRPr lang="en-US" sz="1300" dirty="0"/>
          </a:p>
        </p:txBody>
      </p:sp>
      <p:sp>
        <p:nvSpPr>
          <p:cNvPr id="10" name="Shape 8"/>
          <p:cNvSpPr/>
          <p:nvPr/>
        </p:nvSpPr>
        <p:spPr>
          <a:xfrm>
            <a:off x="6035040" y="1325880"/>
            <a:ext cx="2606040" cy="3383280"/>
          </a:xfrm>
          <a:prstGeom prst="roundRect">
            <a:avLst>
              <a:gd name="adj" fmla="val 2807"/>
            </a:avLst>
          </a:prstGeom>
          <a:solidFill>
            <a:srgbClr val="0B2F57"/>
          </a:solidFill>
          <a:ln w="12700">
            <a:solidFill>
              <a:srgbClr val="0B2F57"/>
            </a:solidFill>
            <a:prstDash val="solid"/>
          </a:ln>
        </p:spPr>
      </p:sp>
      <p:sp>
        <p:nvSpPr>
          <p:cNvPr id="11" name="Text 9"/>
          <p:cNvSpPr txBox="1"/>
          <p:nvPr/>
        </p:nvSpPr>
        <p:spPr>
          <a:xfrm>
            <a:off x="6199632" y="1463040"/>
            <a:ext cx="2276856" cy="320040"/>
          </a:xfrm>
          <a:prstGeom prst="rect">
            <a:avLst/>
          </a:prstGeom>
          <a:noFill/>
          <a:ln/>
        </p:spPr>
        <p:txBody>
          <a:bodyPr wrap="square" lIns="0" tIns="0" rIns="0" bIns="0" rtlCol="0" anchor="t"/>
          <a:lstStyle/>
          <a:p>
            <a:pPr indent="0" marL="0">
              <a:buNone/>
            </a:pPr>
            <a:r>
              <a:rPr lang="en-US" sz="1500" b="1" dirty="0">
                <a:solidFill>
                  <a:srgbClr val="F58025"/>
                </a:solidFill>
                <a:latin typeface="Arial" pitchFamily="34" charset="0"/>
                <a:ea typeface="Arial" pitchFamily="34" charset="-122"/>
                <a:cs typeface="Arial" pitchFamily="34" charset="-120"/>
              </a:rPr>
              <a:t>Result</a:t>
            </a:r>
            <a:endParaRPr lang="en-US" sz="1500" dirty="0"/>
          </a:p>
        </p:txBody>
      </p:sp>
      <p:sp>
        <p:nvSpPr>
          <p:cNvPr id="12" name="Text 10"/>
          <p:cNvSpPr txBox="1"/>
          <p:nvPr/>
        </p:nvSpPr>
        <p:spPr>
          <a:xfrm>
            <a:off x="6199632" y="1828800"/>
            <a:ext cx="2276856" cy="2788920"/>
          </a:xfrm>
          <a:prstGeom prst="rect">
            <a:avLst/>
          </a:prstGeom>
          <a:noFill/>
          <a:ln/>
        </p:spPr>
        <p:txBody>
          <a:bodyPr wrap="square" lIns="0" tIns="0" rIns="0" bIns="0" rtlCol="0" anchor="t"/>
          <a:lstStyle/>
          <a:p>
            <a:pPr indent="0" marL="0">
              <a:buNone/>
            </a:pPr>
            <a:r>
              <a:rPr lang="en-US" sz="1300" dirty="0">
                <a:solidFill>
                  <a:srgbClr val="FFFFFF"/>
                </a:solidFill>
                <a:latin typeface="Arial" pitchFamily="34" charset="0"/>
                <a:ea typeface="Arial" pitchFamily="34" charset="-122"/>
                <a:cs typeface="Arial" pitchFamily="34" charset="-120"/>
              </a:rPr>
              <a:t>Library 42.1 → 70.6 (+28.5 points), the largest single gain of the project.</a:t>
            </a:r>
            <a:endParaRPr lang="en-US" sz="1300" dirty="0"/>
          </a:p>
          <a:p>
            <a:pPr indent="0" marL="0">
              <a:buNone/>
            </a:pPr>
            <a:endParaRPr lang="en-US" sz="1300" dirty="0"/>
          </a:p>
          <a:p>
            <a:pPr indent="0" marL="0">
              <a:buNone/>
            </a:pPr>
            <a:r>
              <a:rPr lang="en-US" sz="1300" dirty="0">
                <a:solidFill>
                  <a:srgbClr val="FFFFFF"/>
                </a:solidFill>
                <a:latin typeface="Arial" pitchFamily="34" charset="0"/>
                <a:ea typeface="Arial" pitchFamily="34" charset="-122"/>
                <a:cs typeface="Arial" pitchFamily="34" charset="-120"/>
              </a:rPr>
              <a:t>Car rental 43.0 → 45.5 (within noise)</a:t>
            </a:r>
            <a:endParaRPr lang="en-US" sz="1300" dirty="0"/>
          </a:p>
          <a:p>
            <a:pPr indent="0" marL="0">
              <a:buNone/>
            </a:pPr>
            <a:r>
              <a:rPr lang="en-US" sz="1300" dirty="0">
                <a:solidFill>
                  <a:srgbClr val="FFFFFF"/>
                </a:solidFill>
                <a:latin typeface="Arial" pitchFamily="34" charset="0"/>
                <a:ea typeface="Arial" pitchFamily="34" charset="-122"/>
                <a:cs typeface="Arial" pitchFamily="34" charset="-120"/>
              </a:rPr>
              <a:t>NTSS 57.1 → 61.0</a:t>
            </a:r>
            <a:endParaRPr lang="en-US" sz="1300" dirty="0"/>
          </a:p>
          <a:p>
            <a:pPr indent="0" marL="0">
              <a:buNone/>
            </a:pPr>
            <a:endParaRPr lang="en-US" sz="1300" dirty="0"/>
          </a:p>
          <a:p>
            <a:pPr indent="0" marL="0">
              <a:buNone/>
            </a:pPr>
            <a:r>
              <a:rPr lang="en-US" sz="1300" dirty="0">
                <a:solidFill>
                  <a:srgbClr val="FFFFFF"/>
                </a:solidFill>
                <a:latin typeface="Arial" pitchFamily="34" charset="0"/>
                <a:ea typeface="Arial" pitchFamily="34" charset="-122"/>
                <a:cs typeface="Arial" pitchFamily="34" charset="-120"/>
              </a:rPr>
              <a:t>The naming cascade was a library problem; the other domains need other fixes.</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548640"/>
          </a:xfrm>
          <a:prstGeom prst="rect">
            <a:avLst/>
          </a:prstGeom>
          <a:noFill/>
          <a:ln/>
        </p:spPr>
        <p:txBody>
          <a:bodyPr wrap="square" lIns="0" tIns="0" rIns="0" bIns="0" rtlCol="0" anchor="ctr"/>
          <a:lstStyle/>
          <a:p>
            <a:pPr indent="0" marL="0">
              <a:buNone/>
            </a:pPr>
            <a:r>
              <a:rPr lang="en-US" sz="2800" b="1" dirty="0">
                <a:solidFill>
                  <a:srgbClr val="0B2F57"/>
                </a:solidFill>
                <a:latin typeface="Arial" pitchFamily="34" charset="0"/>
                <a:ea typeface="Arial" pitchFamily="34" charset="-122"/>
                <a:cs typeface="Arial" pitchFamily="34" charset="-120"/>
              </a:rPr>
              <a:t>Experiment 3: recall rules have a price</a:t>
            </a:r>
            <a:endParaRPr lang="en-US" sz="2800" dirty="0"/>
          </a:p>
        </p:txBody>
      </p:sp>
      <p:sp>
        <p:nvSpPr>
          <p:cNvPr id="3" name="Text 1"/>
          <p:cNvSpPr txBox="1"/>
          <p:nvPr/>
        </p:nvSpPr>
        <p:spPr>
          <a:xfrm>
            <a:off x="457200" y="841248"/>
            <a:ext cx="8229600" cy="320040"/>
          </a:xfrm>
          <a:prstGeom prst="rect">
            <a:avLst/>
          </a:prstGeom>
          <a:noFill/>
          <a:ln/>
        </p:spPr>
        <p:txBody>
          <a:bodyPr wrap="square" lIns="0" tIns="0" rIns="0" bIns="0" rtlCol="0" anchor="t"/>
          <a:lstStyle/>
          <a:p>
            <a:pPr indent="0" marL="0">
              <a:buNone/>
            </a:pPr>
            <a:r>
              <a:rPr lang="en-US" sz="1300" dirty="0">
                <a:solidFill>
                  <a:srgbClr val="5B6678"/>
                </a:solidFill>
                <a:latin typeface="Arial" pitchFamily="34" charset="0"/>
                <a:ea typeface="Arial" pitchFamily="34" charset="-122"/>
                <a:cs typeface="Arial" pitchFamily="34" charset="-120"/>
              </a:rPr>
              <a:t>Identification P1 → P2</a:t>
            </a:r>
            <a:endParaRPr lang="en-US" sz="1300" dirty="0"/>
          </a:p>
        </p:txBody>
      </p:sp>
      <p:sp>
        <p:nvSpPr>
          <p:cNvPr id="4" name="Shape 2"/>
          <p:cNvSpPr/>
          <p:nvPr/>
        </p:nvSpPr>
        <p:spPr>
          <a:xfrm>
            <a:off x="457200" y="1325880"/>
            <a:ext cx="1828800" cy="3383280"/>
          </a:xfrm>
          <a:prstGeom prst="roundRect">
            <a:avLst>
              <a:gd name="adj" fmla="val 4000"/>
            </a:avLst>
          </a:prstGeom>
          <a:solidFill>
            <a:srgbClr val="EEF3F9"/>
          </a:solidFill>
          <a:ln w="12700">
            <a:solidFill>
              <a:srgbClr val="EEF3F9"/>
            </a:solidFill>
            <a:prstDash val="solid"/>
          </a:ln>
        </p:spPr>
      </p:sp>
      <p:sp>
        <p:nvSpPr>
          <p:cNvPr id="5" name="Text 3"/>
          <p:cNvSpPr txBox="1"/>
          <p:nvPr/>
        </p:nvSpPr>
        <p:spPr>
          <a:xfrm>
            <a:off x="621792" y="1463040"/>
            <a:ext cx="1499616" cy="320040"/>
          </a:xfrm>
          <a:prstGeom prst="rect">
            <a:avLst/>
          </a:prstGeom>
          <a:noFill/>
          <a:ln/>
        </p:spPr>
        <p:txBody>
          <a:bodyPr wrap="square" lIns="0" tIns="0" rIns="0" bIns="0" rtlCol="0" anchor="t"/>
          <a:lstStyle/>
          <a:p>
            <a:pPr indent="0" marL="0">
              <a:buNone/>
            </a:pPr>
            <a:r>
              <a:rPr lang="en-US" sz="1500" b="1" dirty="0">
                <a:solidFill>
                  <a:srgbClr val="0B2F57"/>
                </a:solidFill>
                <a:latin typeface="Arial" pitchFamily="34" charset="0"/>
                <a:ea typeface="Arial" pitchFamily="34" charset="-122"/>
                <a:cs typeface="Arial" pitchFamily="34" charset="-120"/>
              </a:rPr>
              <a:t>Hypothesis</a:t>
            </a:r>
            <a:endParaRPr lang="en-US" sz="1500" dirty="0"/>
          </a:p>
        </p:txBody>
      </p:sp>
      <p:sp>
        <p:nvSpPr>
          <p:cNvPr id="6" name="Text 4"/>
          <p:cNvSpPr txBox="1"/>
          <p:nvPr/>
        </p:nvSpPr>
        <p:spPr>
          <a:xfrm>
            <a:off x="621792" y="1828800"/>
            <a:ext cx="1499616" cy="2788920"/>
          </a:xfrm>
          <a:prstGeom prst="rect">
            <a:avLst/>
          </a:prstGeom>
          <a:noFill/>
          <a:ln/>
        </p:spPr>
        <p:txBody>
          <a:bodyPr wrap="square" lIns="0" tIns="0" rIns="0" bIns="0" rtlCol="0" anchor="t"/>
          <a:lstStyle/>
          <a:p>
            <a:pPr indent="0" marL="0">
              <a:buNone/>
            </a:pPr>
            <a:r>
              <a:rPr lang="en-US" sz="1150" dirty="0">
                <a:solidFill>
                  <a:srgbClr val="1A2233"/>
                </a:solidFill>
                <a:latin typeface="Arial" pitchFamily="34" charset="0"/>
                <a:ea typeface="Arial" pitchFamily="34" charset="-122"/>
                <a:cs typeface="Arial" pitchFamily="34" charset="-120"/>
              </a:rPr>
              <a:t>P1's misses fell into 9 recurring error classes (verbs after modals, literal X of Y, states written as verbs, abstract nouns ...). One rule per class should raise recall.</a:t>
            </a:r>
            <a:endParaRPr lang="en-US" sz="1150" dirty="0"/>
          </a:p>
        </p:txBody>
      </p:sp>
      <p:sp>
        <p:nvSpPr>
          <p:cNvPr id="7" name="Shape 5"/>
          <p:cNvSpPr/>
          <p:nvPr/>
        </p:nvSpPr>
        <p:spPr>
          <a:xfrm>
            <a:off x="2468880" y="1325880"/>
            <a:ext cx="1828800" cy="3383280"/>
          </a:xfrm>
          <a:prstGeom prst="roundRect">
            <a:avLst>
              <a:gd name="adj" fmla="val 4000"/>
            </a:avLst>
          </a:prstGeom>
          <a:solidFill>
            <a:srgbClr val="EEF3F9"/>
          </a:solidFill>
          <a:ln w="12700">
            <a:solidFill>
              <a:srgbClr val="EEF3F9"/>
            </a:solidFill>
            <a:prstDash val="solid"/>
          </a:ln>
        </p:spPr>
      </p:sp>
      <p:sp>
        <p:nvSpPr>
          <p:cNvPr id="8" name="Text 6"/>
          <p:cNvSpPr txBox="1"/>
          <p:nvPr/>
        </p:nvSpPr>
        <p:spPr>
          <a:xfrm>
            <a:off x="2633472" y="1463040"/>
            <a:ext cx="1499616" cy="320040"/>
          </a:xfrm>
          <a:prstGeom prst="rect">
            <a:avLst/>
          </a:prstGeom>
          <a:noFill/>
          <a:ln/>
        </p:spPr>
        <p:txBody>
          <a:bodyPr wrap="square" lIns="0" tIns="0" rIns="0" bIns="0" rtlCol="0" anchor="t"/>
          <a:lstStyle/>
          <a:p>
            <a:pPr indent="0" marL="0">
              <a:buNone/>
            </a:pPr>
            <a:r>
              <a:rPr lang="en-US" sz="1500" b="1" dirty="0">
                <a:solidFill>
                  <a:srgbClr val="0B2F57"/>
                </a:solidFill>
                <a:latin typeface="Arial" pitchFamily="34" charset="0"/>
                <a:ea typeface="Arial" pitchFamily="34" charset="-122"/>
                <a:cs typeface="Arial" pitchFamily="34" charset="-120"/>
              </a:rPr>
              <a:t>Modification</a:t>
            </a:r>
            <a:endParaRPr lang="en-US" sz="1500" dirty="0"/>
          </a:p>
        </p:txBody>
      </p:sp>
      <p:sp>
        <p:nvSpPr>
          <p:cNvPr id="9" name="Text 7"/>
          <p:cNvSpPr txBox="1"/>
          <p:nvPr/>
        </p:nvSpPr>
        <p:spPr>
          <a:xfrm>
            <a:off x="2633472" y="1828800"/>
            <a:ext cx="1499616" cy="2788920"/>
          </a:xfrm>
          <a:prstGeom prst="rect">
            <a:avLst/>
          </a:prstGeom>
          <a:noFill/>
          <a:ln/>
        </p:spPr>
        <p:txBody>
          <a:bodyPr wrap="square" lIns="0" tIns="0" rIns="0" bIns="0" rtlCol="0" anchor="t"/>
          <a:lstStyle/>
          <a:p>
            <a:pPr indent="0" marL="0">
              <a:buNone/>
            </a:pPr>
            <a:r>
              <a:rPr lang="en-US" sz="1150" dirty="0">
                <a:solidFill>
                  <a:srgbClr val="1A2233"/>
                </a:solidFill>
                <a:latin typeface="Arial" pitchFamily="34" charset="0"/>
                <a:ea typeface="Arial" pitchFamily="34" charset="-122"/>
                <a:cs typeface="Arial" pitchFamily="34" charset="-120"/>
              </a:rPr>
              <a:t>Added the 9 inclusion rules and a business-operation-only scope filter; moved every example to neutral domains (hotel, clinic, school).</a:t>
            </a:r>
            <a:endParaRPr lang="en-US" sz="1150" dirty="0"/>
          </a:p>
        </p:txBody>
      </p:sp>
      <p:sp>
        <p:nvSpPr>
          <p:cNvPr id="10" name="Shape 8"/>
          <p:cNvSpPr/>
          <p:nvPr/>
        </p:nvSpPr>
        <p:spPr>
          <a:xfrm>
            <a:off x="4480560" y="1325880"/>
            <a:ext cx="1828800" cy="3383280"/>
          </a:xfrm>
          <a:prstGeom prst="roundRect">
            <a:avLst>
              <a:gd name="adj" fmla="val 4000"/>
            </a:avLst>
          </a:prstGeom>
          <a:solidFill>
            <a:srgbClr val="0B2F57"/>
          </a:solidFill>
          <a:ln w="12700">
            <a:solidFill>
              <a:srgbClr val="0B2F57"/>
            </a:solidFill>
            <a:prstDash val="solid"/>
          </a:ln>
        </p:spPr>
      </p:sp>
      <p:sp>
        <p:nvSpPr>
          <p:cNvPr id="11" name="Text 9"/>
          <p:cNvSpPr txBox="1"/>
          <p:nvPr/>
        </p:nvSpPr>
        <p:spPr>
          <a:xfrm>
            <a:off x="4645152" y="1463040"/>
            <a:ext cx="1499616" cy="320040"/>
          </a:xfrm>
          <a:prstGeom prst="rect">
            <a:avLst/>
          </a:prstGeom>
          <a:noFill/>
          <a:ln/>
        </p:spPr>
        <p:txBody>
          <a:bodyPr wrap="square" lIns="0" tIns="0" rIns="0" bIns="0" rtlCol="0" anchor="t"/>
          <a:lstStyle/>
          <a:p>
            <a:pPr indent="0" marL="0">
              <a:buNone/>
            </a:pPr>
            <a:r>
              <a:rPr lang="en-US" sz="1500" b="1" dirty="0">
                <a:solidFill>
                  <a:srgbClr val="F58025"/>
                </a:solidFill>
                <a:latin typeface="Arial" pitchFamily="34" charset="0"/>
                <a:ea typeface="Arial" pitchFamily="34" charset="-122"/>
                <a:cs typeface="Arial" pitchFamily="34" charset="-120"/>
              </a:rPr>
              <a:t>Result</a:t>
            </a:r>
            <a:endParaRPr lang="en-US" sz="1500" dirty="0"/>
          </a:p>
        </p:txBody>
      </p:sp>
      <p:sp>
        <p:nvSpPr>
          <p:cNvPr id="12" name="Text 10"/>
          <p:cNvSpPr txBox="1"/>
          <p:nvPr/>
        </p:nvSpPr>
        <p:spPr>
          <a:xfrm>
            <a:off x="4645152" y="1828800"/>
            <a:ext cx="1499616" cy="2788920"/>
          </a:xfrm>
          <a:prstGeom prst="rect">
            <a:avLst/>
          </a:prstGeom>
          <a:noFill/>
          <a:ln/>
        </p:spPr>
        <p:txBody>
          <a:bodyPr wrap="square" lIns="0" tIns="0" rIns="0" bIns="0" rtlCol="0" anchor="t"/>
          <a:lstStyle/>
          <a:p>
            <a:pPr indent="0" marL="0">
              <a:buNone/>
            </a:pPr>
            <a:r>
              <a:rPr lang="en-US" sz="1150" dirty="0">
                <a:solidFill>
                  <a:srgbClr val="FFFFFF"/>
                </a:solidFill>
                <a:latin typeface="Arial" pitchFamily="34" charset="0"/>
                <a:ea typeface="Arial" pitchFamily="34" charset="-122"/>
                <a:cs typeface="Arial" pitchFamily="34" charset="-120"/>
              </a:rPr>
              <a:t>Recall rose as predicted, but precision fell by about as much, so F1 stayed flat. Several new false positives were created by the new rules themselves (e.g. "new domains", "invited speakers").</a:t>
            </a:r>
            <a:endParaRPr lang="en-US" sz="1150" dirty="0"/>
          </a:p>
        </p:txBody>
      </p:sp>
      <p:graphicFrame>
        <p:nvGraphicFramePr>
          <p:cNvPr id="13" name="Chart 0" descr=""/>
          <p:cNvGraphicFramePr/>
          <p:nvPr/>
        </p:nvGraphicFramePr>
        <p:xfrm>
          <a:off x="6446520" y="1280160"/>
          <a:ext cx="2240280" cy="347472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548640"/>
          </a:xfrm>
          <a:prstGeom prst="rect">
            <a:avLst/>
          </a:prstGeom>
          <a:noFill/>
          <a:ln/>
        </p:spPr>
        <p:txBody>
          <a:bodyPr wrap="square" lIns="0" tIns="0" rIns="0" bIns="0" rtlCol="0" anchor="ctr"/>
          <a:lstStyle/>
          <a:p>
            <a:pPr indent="0" marL="0">
              <a:buNone/>
            </a:pPr>
            <a:r>
              <a:rPr lang="en-US" sz="2800" b="1" dirty="0">
                <a:solidFill>
                  <a:srgbClr val="0B2F57"/>
                </a:solidFill>
                <a:latin typeface="Arial" pitchFamily="34" charset="0"/>
                <a:ea typeface="Arial" pitchFamily="34" charset="-122"/>
                <a:cs typeface="Arial" pitchFamily="34" charset="-120"/>
              </a:rPr>
              <a:t>Experiment 4: fixing what over-fired</a:t>
            </a:r>
            <a:endParaRPr lang="en-US" sz="2800" dirty="0"/>
          </a:p>
        </p:txBody>
      </p:sp>
      <p:sp>
        <p:nvSpPr>
          <p:cNvPr id="3" name="Text 1"/>
          <p:cNvSpPr txBox="1"/>
          <p:nvPr/>
        </p:nvSpPr>
        <p:spPr>
          <a:xfrm>
            <a:off x="457200" y="841248"/>
            <a:ext cx="8229600" cy="320040"/>
          </a:xfrm>
          <a:prstGeom prst="rect">
            <a:avLst/>
          </a:prstGeom>
          <a:noFill/>
          <a:ln/>
        </p:spPr>
        <p:txBody>
          <a:bodyPr wrap="square" lIns="0" tIns="0" rIns="0" bIns="0" rtlCol="0" anchor="t"/>
          <a:lstStyle/>
          <a:p>
            <a:pPr indent="0" marL="0">
              <a:buNone/>
            </a:pPr>
            <a:r>
              <a:rPr lang="en-US" sz="1300" dirty="0">
                <a:solidFill>
                  <a:srgbClr val="5B6678"/>
                </a:solidFill>
                <a:latin typeface="Arial" pitchFamily="34" charset="0"/>
                <a:ea typeface="Arial" pitchFamily="34" charset="-122"/>
                <a:cs typeface="Arial" pitchFamily="34" charset="-120"/>
              </a:rPr>
              <a:t>Identification P2 → P3, classification P2 → P3</a:t>
            </a:r>
            <a:endParaRPr lang="en-US" sz="1300" dirty="0"/>
          </a:p>
        </p:txBody>
      </p:sp>
      <p:sp>
        <p:nvSpPr>
          <p:cNvPr id="4" name="Shape 2"/>
          <p:cNvSpPr/>
          <p:nvPr/>
        </p:nvSpPr>
        <p:spPr>
          <a:xfrm>
            <a:off x="457200" y="1325880"/>
            <a:ext cx="2606040" cy="3383280"/>
          </a:xfrm>
          <a:prstGeom prst="roundRect">
            <a:avLst>
              <a:gd name="adj" fmla="val 2807"/>
            </a:avLst>
          </a:prstGeom>
          <a:solidFill>
            <a:srgbClr val="EEF3F9"/>
          </a:solidFill>
          <a:ln w="12700">
            <a:solidFill>
              <a:srgbClr val="EEF3F9"/>
            </a:solidFill>
            <a:prstDash val="solid"/>
          </a:ln>
        </p:spPr>
      </p:sp>
      <p:sp>
        <p:nvSpPr>
          <p:cNvPr id="5" name="Text 3"/>
          <p:cNvSpPr txBox="1"/>
          <p:nvPr/>
        </p:nvSpPr>
        <p:spPr>
          <a:xfrm>
            <a:off x="621792" y="1463040"/>
            <a:ext cx="2276856" cy="320040"/>
          </a:xfrm>
          <a:prstGeom prst="rect">
            <a:avLst/>
          </a:prstGeom>
          <a:noFill/>
          <a:ln/>
        </p:spPr>
        <p:txBody>
          <a:bodyPr wrap="square" lIns="0" tIns="0" rIns="0" bIns="0" rtlCol="0" anchor="t"/>
          <a:lstStyle/>
          <a:p>
            <a:pPr indent="0" marL="0">
              <a:buNone/>
            </a:pPr>
            <a:r>
              <a:rPr lang="en-US" sz="1500" b="1" dirty="0">
                <a:solidFill>
                  <a:srgbClr val="0B2F57"/>
                </a:solidFill>
                <a:latin typeface="Arial" pitchFamily="34" charset="0"/>
                <a:ea typeface="Arial" pitchFamily="34" charset="-122"/>
                <a:cs typeface="Arial" pitchFamily="34" charset="-120"/>
              </a:rPr>
              <a:t>Hypothesis</a:t>
            </a:r>
            <a:endParaRPr lang="en-US" sz="1500" dirty="0"/>
          </a:p>
        </p:txBody>
      </p:sp>
      <p:sp>
        <p:nvSpPr>
          <p:cNvPr id="6" name="Text 4"/>
          <p:cNvSpPr txBox="1"/>
          <p:nvPr/>
        </p:nvSpPr>
        <p:spPr>
          <a:xfrm>
            <a:off x="621792" y="1828800"/>
            <a:ext cx="2276856" cy="2788920"/>
          </a:xfrm>
          <a:prstGeom prst="rect">
            <a:avLst/>
          </a:prstGeom>
          <a:noFill/>
          <a:ln/>
        </p:spPr>
        <p:txBody>
          <a:bodyPr wrap="square" lIns="0" tIns="0" rIns="0" bIns="0" rtlCol="0" anchor="t"/>
          <a:lstStyle/>
          <a:p>
            <a:pPr indent="0" marL="0">
              <a:buNone/>
            </a:pPr>
            <a:r>
              <a:rPr lang="en-US" sz="1300" dirty="0">
                <a:solidFill>
                  <a:srgbClr val="1A2233"/>
                </a:solidFill>
                <a:latin typeface="Arial" pitchFamily="34" charset="0"/>
                <a:ea typeface="Arial" pitchFamily="34" charset="-122"/>
                <a:cs typeface="Arial" pitchFamily="34" charset="-120"/>
              </a:rPr>
              <a:t>Identification: narrowing exactly the P2 rules that over-fired, plus a self-verification pass, recovers precision without losing recall.</a:t>
            </a:r>
            <a:endParaRPr lang="en-US" sz="1300" dirty="0"/>
          </a:p>
          <a:p>
            <a:pPr indent="0" marL="0">
              <a:buNone/>
            </a:pPr>
            <a:endParaRPr lang="en-US" sz="1300" dirty="0"/>
          </a:p>
          <a:p>
            <a:pPr indent="0" marL="0">
              <a:buNone/>
            </a:pPr>
            <a:r>
              <a:rPr lang="en-US" sz="1300" dirty="0">
                <a:solidFill>
                  <a:srgbClr val="1A2233"/>
                </a:solidFill>
                <a:latin typeface="Arial" pitchFamily="34" charset="0"/>
                <a:ea typeface="Arial" pitchFamily="34" charset="-122"/>
                <a:cs typeface="Arial" pitchFamily="34" charset="-120"/>
              </a:rPr>
              <a:t>Classification: association classes need their association and attributes; subclasses need something of their own.</a:t>
            </a:r>
            <a:endParaRPr lang="en-US" sz="1300" dirty="0"/>
          </a:p>
        </p:txBody>
      </p:sp>
      <p:sp>
        <p:nvSpPr>
          <p:cNvPr id="7" name="Shape 5"/>
          <p:cNvSpPr/>
          <p:nvPr/>
        </p:nvSpPr>
        <p:spPr>
          <a:xfrm>
            <a:off x="3246120" y="1325880"/>
            <a:ext cx="2606040" cy="3383280"/>
          </a:xfrm>
          <a:prstGeom prst="roundRect">
            <a:avLst>
              <a:gd name="adj" fmla="val 2807"/>
            </a:avLst>
          </a:prstGeom>
          <a:solidFill>
            <a:srgbClr val="EEF3F9"/>
          </a:solidFill>
          <a:ln w="12700">
            <a:solidFill>
              <a:srgbClr val="EEF3F9"/>
            </a:solidFill>
            <a:prstDash val="solid"/>
          </a:ln>
        </p:spPr>
      </p:sp>
      <p:sp>
        <p:nvSpPr>
          <p:cNvPr id="8" name="Text 6"/>
          <p:cNvSpPr txBox="1"/>
          <p:nvPr/>
        </p:nvSpPr>
        <p:spPr>
          <a:xfrm>
            <a:off x="3410712" y="1463040"/>
            <a:ext cx="2276856" cy="320040"/>
          </a:xfrm>
          <a:prstGeom prst="rect">
            <a:avLst/>
          </a:prstGeom>
          <a:noFill/>
          <a:ln/>
        </p:spPr>
        <p:txBody>
          <a:bodyPr wrap="square" lIns="0" tIns="0" rIns="0" bIns="0" rtlCol="0" anchor="t"/>
          <a:lstStyle/>
          <a:p>
            <a:pPr indent="0" marL="0">
              <a:buNone/>
            </a:pPr>
            <a:r>
              <a:rPr lang="en-US" sz="1500" b="1" dirty="0">
                <a:solidFill>
                  <a:srgbClr val="0B2F57"/>
                </a:solidFill>
                <a:latin typeface="Arial" pitchFamily="34" charset="0"/>
                <a:ea typeface="Arial" pitchFamily="34" charset="-122"/>
                <a:cs typeface="Arial" pitchFamily="34" charset="-120"/>
              </a:rPr>
              <a:t>Modification</a:t>
            </a:r>
            <a:endParaRPr lang="en-US" sz="1500" dirty="0"/>
          </a:p>
        </p:txBody>
      </p:sp>
      <p:sp>
        <p:nvSpPr>
          <p:cNvPr id="9" name="Text 7"/>
          <p:cNvSpPr txBox="1"/>
          <p:nvPr/>
        </p:nvSpPr>
        <p:spPr>
          <a:xfrm>
            <a:off x="3410712" y="1828800"/>
            <a:ext cx="2276856" cy="2788920"/>
          </a:xfrm>
          <a:prstGeom prst="rect">
            <a:avLst/>
          </a:prstGeom>
          <a:noFill/>
          <a:ln/>
        </p:spPr>
        <p:txBody>
          <a:bodyPr wrap="square" lIns="0" tIns="0" rIns="0" bIns="0" rtlCol="0" anchor="t"/>
          <a:lstStyle/>
          <a:p>
            <a:pPr indent="0" marL="0">
              <a:buNone/>
            </a:pPr>
            <a:r>
              <a:rPr lang="en-US" sz="1300" dirty="0">
                <a:solidFill>
                  <a:srgbClr val="1A2233"/>
                </a:solidFill>
                <a:latin typeface="Arial" pitchFamily="34" charset="0"/>
                <a:ea typeface="Arial" pitchFamily="34" charset="-122"/>
                <a:cs typeface="Arial" pitchFamily="34" charset="-120"/>
              </a:rPr>
              <a:t>Identification: noun-noun compounds only, X of Y excludes groups and quantifiers, kinds stay nouns, numbers once, dedupe/scope/category self-check.</a:t>
            </a:r>
            <a:endParaRPr lang="en-US" sz="1300" dirty="0"/>
          </a:p>
          <a:p>
            <a:pPr indent="0" marL="0">
              <a:buNone/>
            </a:pPr>
            <a:endParaRPr lang="en-US" sz="1300" dirty="0"/>
          </a:p>
          <a:p>
            <a:pPr indent="0" marL="0">
              <a:buNone/>
            </a:pPr>
            <a:r>
              <a:rPr lang="en-US" sz="1300" dirty="0">
                <a:solidFill>
                  <a:srgbClr val="1A2233"/>
                </a:solidFill>
                <a:latin typeface="Arial" pitchFamily="34" charset="0"/>
                <a:ea typeface="Arial" pitchFamily="34" charset="-122"/>
                <a:cs typeface="Arial" pitchFamily="34" charset="-120"/>
              </a:rPr>
              <a:t>Classification: AS + AC + attributes, course inheritance criterion, attach to the class the sentence names.</a:t>
            </a:r>
            <a:endParaRPr lang="en-US" sz="1300" dirty="0"/>
          </a:p>
        </p:txBody>
      </p:sp>
      <p:sp>
        <p:nvSpPr>
          <p:cNvPr id="10" name="Shape 8"/>
          <p:cNvSpPr/>
          <p:nvPr/>
        </p:nvSpPr>
        <p:spPr>
          <a:xfrm>
            <a:off x="6035040" y="1325880"/>
            <a:ext cx="2606040" cy="3383280"/>
          </a:xfrm>
          <a:prstGeom prst="roundRect">
            <a:avLst>
              <a:gd name="adj" fmla="val 2807"/>
            </a:avLst>
          </a:prstGeom>
          <a:solidFill>
            <a:srgbClr val="0B2F57"/>
          </a:solidFill>
          <a:ln w="12700">
            <a:solidFill>
              <a:srgbClr val="0B2F57"/>
            </a:solidFill>
            <a:prstDash val="solid"/>
          </a:ln>
        </p:spPr>
      </p:sp>
      <p:sp>
        <p:nvSpPr>
          <p:cNvPr id="11" name="Text 9"/>
          <p:cNvSpPr txBox="1"/>
          <p:nvPr/>
        </p:nvSpPr>
        <p:spPr>
          <a:xfrm>
            <a:off x="6199632" y="1463040"/>
            <a:ext cx="2276856" cy="320040"/>
          </a:xfrm>
          <a:prstGeom prst="rect">
            <a:avLst/>
          </a:prstGeom>
          <a:noFill/>
          <a:ln/>
        </p:spPr>
        <p:txBody>
          <a:bodyPr wrap="square" lIns="0" tIns="0" rIns="0" bIns="0" rtlCol="0" anchor="t"/>
          <a:lstStyle/>
          <a:p>
            <a:pPr indent="0" marL="0">
              <a:buNone/>
            </a:pPr>
            <a:r>
              <a:rPr lang="en-US" sz="1500" b="1" dirty="0">
                <a:solidFill>
                  <a:srgbClr val="F58025"/>
                </a:solidFill>
                <a:latin typeface="Arial" pitchFamily="34" charset="0"/>
                <a:ea typeface="Arial" pitchFamily="34" charset="-122"/>
                <a:cs typeface="Arial" pitchFamily="34" charset="-120"/>
              </a:rPr>
              <a:t>Result</a:t>
            </a:r>
            <a:endParaRPr lang="en-US" sz="1500" dirty="0"/>
          </a:p>
        </p:txBody>
      </p:sp>
      <p:sp>
        <p:nvSpPr>
          <p:cNvPr id="12" name="Text 10"/>
          <p:cNvSpPr txBox="1"/>
          <p:nvPr/>
        </p:nvSpPr>
        <p:spPr>
          <a:xfrm>
            <a:off x="6199632" y="1828800"/>
            <a:ext cx="2276856" cy="2788920"/>
          </a:xfrm>
          <a:prstGeom prst="rect">
            <a:avLst/>
          </a:prstGeom>
          <a:noFill/>
          <a:ln/>
        </p:spPr>
        <p:txBody>
          <a:bodyPr wrap="square" lIns="0" tIns="0" rIns="0" bIns="0" rtlCol="0" anchor="t"/>
          <a:lstStyle/>
          <a:p>
            <a:pPr indent="0" marL="0">
              <a:buNone/>
            </a:pPr>
            <a:r>
              <a:rPr lang="en-US" sz="1300" dirty="0">
                <a:solidFill>
                  <a:srgbClr val="FFFFFF"/>
                </a:solidFill>
                <a:latin typeface="Arial" pitchFamily="34" charset="0"/>
                <a:ea typeface="Arial" pitchFamily="34" charset="-122"/>
                <a:cs typeface="Arial" pitchFamily="34" charset="-120"/>
              </a:rPr>
              <a:t>Identification:</a:t>
            </a:r>
            <a:endParaRPr lang="en-US" sz="1300" dirty="0"/>
          </a:p>
          <a:p>
            <a:pPr indent="0" marL="0">
              <a:buNone/>
            </a:pPr>
            <a:r>
              <a:rPr lang="en-US" sz="1300" dirty="0">
                <a:solidFill>
                  <a:srgbClr val="FFFFFF"/>
                </a:solidFill>
                <a:latin typeface="Arial" pitchFamily="34" charset="0"/>
                <a:ea typeface="Arial" pitchFamily="34" charset="-122"/>
                <a:cs typeface="Arial" pitchFamily="34" charset="-120"/>
              </a:rPr>
              <a:t>Library 87.7 → 89.9 (within noise)</a:t>
            </a:r>
            <a:endParaRPr lang="en-US" sz="1300" dirty="0"/>
          </a:p>
          <a:p>
            <a:pPr indent="0" marL="0">
              <a:buNone/>
            </a:pPr>
            <a:r>
              <a:rPr lang="en-US" sz="1300" dirty="0">
                <a:solidFill>
                  <a:srgbClr val="FFFFFF"/>
                </a:solidFill>
                <a:latin typeface="Arial" pitchFamily="34" charset="0"/>
                <a:ea typeface="Arial" pitchFamily="34" charset="-122"/>
                <a:cs typeface="Arial" pitchFamily="34" charset="-120"/>
              </a:rPr>
              <a:t>Car rental 63.8 → 74.5</a:t>
            </a:r>
            <a:endParaRPr lang="en-US" sz="1300" dirty="0"/>
          </a:p>
          <a:p>
            <a:pPr indent="0" marL="0">
              <a:buNone/>
            </a:pPr>
            <a:r>
              <a:rPr lang="en-US" sz="1300" dirty="0">
                <a:solidFill>
                  <a:srgbClr val="FFFFFF"/>
                </a:solidFill>
                <a:latin typeface="Arial" pitchFamily="34" charset="0"/>
                <a:ea typeface="Arial" pitchFamily="34" charset="-122"/>
                <a:cs typeface="Arial" pitchFamily="34" charset="-120"/>
              </a:rPr>
              <a:t>NTSS 79.8 → 85.4</a:t>
            </a:r>
            <a:endParaRPr lang="en-US" sz="1300" dirty="0"/>
          </a:p>
          <a:p>
            <a:pPr indent="0" marL="0">
              <a:buNone/>
            </a:pPr>
            <a:endParaRPr lang="en-US" sz="1300" dirty="0"/>
          </a:p>
          <a:p>
            <a:pPr indent="0" marL="0">
              <a:buNone/>
            </a:pPr>
            <a:r>
              <a:rPr lang="en-US" sz="1300" dirty="0">
                <a:solidFill>
                  <a:srgbClr val="FFFFFF"/>
                </a:solidFill>
                <a:latin typeface="Arial" pitchFamily="34" charset="0"/>
                <a:ea typeface="Arial" pitchFamily="34" charset="-122"/>
                <a:cs typeface="Arial" pitchFamily="34" charset="-120"/>
              </a:rPr>
              <a:t>Classification:</a:t>
            </a:r>
            <a:endParaRPr lang="en-US" sz="1300" dirty="0"/>
          </a:p>
          <a:p>
            <a:pPr indent="0" marL="0">
              <a:buNone/>
            </a:pPr>
            <a:r>
              <a:rPr lang="en-US" sz="1300" dirty="0">
                <a:solidFill>
                  <a:srgbClr val="FFFFFF"/>
                </a:solidFill>
                <a:latin typeface="Arial" pitchFamily="34" charset="0"/>
                <a:ea typeface="Arial" pitchFamily="34" charset="-122"/>
                <a:cs typeface="Arial" pitchFamily="34" charset="-120"/>
              </a:rPr>
              <a:t>Library 70.6 → 70.8 (within noise)</a:t>
            </a:r>
            <a:endParaRPr lang="en-US" sz="1300" dirty="0"/>
          </a:p>
          <a:p>
            <a:pPr indent="0" marL="0">
              <a:buNone/>
            </a:pPr>
            <a:r>
              <a:rPr lang="en-US" sz="1300" dirty="0">
                <a:solidFill>
                  <a:srgbClr val="FFFFFF"/>
                </a:solidFill>
                <a:latin typeface="Arial" pitchFamily="34" charset="0"/>
                <a:ea typeface="Arial" pitchFamily="34" charset="-122"/>
                <a:cs typeface="Arial" pitchFamily="34" charset="-120"/>
              </a:rPr>
              <a:t>Car rental 45.5 → 47.2 (within noise)</a:t>
            </a:r>
            <a:endParaRPr lang="en-US" sz="1300" dirty="0"/>
          </a:p>
          <a:p>
            <a:pPr indent="0" marL="0">
              <a:buNone/>
            </a:pPr>
            <a:r>
              <a:rPr lang="en-US" sz="1300" dirty="0">
                <a:solidFill>
                  <a:srgbClr val="FFFFFF"/>
                </a:solidFill>
                <a:latin typeface="Arial" pitchFamily="34" charset="0"/>
                <a:ea typeface="Arial" pitchFamily="34" charset="-122"/>
                <a:cs typeface="Arial" pitchFamily="34" charset="-120"/>
              </a:rPr>
              <a:t>NTSS 61.0 → 64.3 (within noise)</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548640"/>
          </a:xfrm>
          <a:prstGeom prst="rect">
            <a:avLst/>
          </a:prstGeom>
          <a:noFill/>
          <a:ln/>
        </p:spPr>
        <p:txBody>
          <a:bodyPr wrap="square" lIns="0" tIns="0" rIns="0" bIns="0" rtlCol="0" anchor="ctr"/>
          <a:lstStyle/>
          <a:p>
            <a:pPr indent="0" marL="0">
              <a:buNone/>
            </a:pPr>
            <a:r>
              <a:rPr lang="en-US" sz="2800" b="1" dirty="0">
                <a:solidFill>
                  <a:srgbClr val="0B2F57"/>
                </a:solidFill>
                <a:latin typeface="Arial" pitchFamily="34" charset="0"/>
                <a:ea typeface="Arial" pitchFamily="34" charset="-122"/>
                <a:cs typeface="Arial" pitchFamily="34" charset="-120"/>
              </a:rPr>
              <a:t>Optimization results: identification</a:t>
            </a:r>
            <a:endParaRPr lang="en-US" sz="2800" dirty="0"/>
          </a:p>
        </p:txBody>
      </p:sp>
      <p:sp>
        <p:nvSpPr>
          <p:cNvPr id="3" name="Text 1"/>
          <p:cNvSpPr txBox="1"/>
          <p:nvPr/>
        </p:nvSpPr>
        <p:spPr>
          <a:xfrm>
            <a:off x="457200" y="841248"/>
            <a:ext cx="8229600" cy="320040"/>
          </a:xfrm>
          <a:prstGeom prst="rect">
            <a:avLst/>
          </a:prstGeom>
          <a:noFill/>
          <a:ln/>
        </p:spPr>
        <p:txBody>
          <a:bodyPr wrap="square" lIns="0" tIns="0" rIns="0" bIns="0" rtlCol="0" anchor="t"/>
          <a:lstStyle/>
          <a:p>
            <a:pPr indent="0" marL="0">
              <a:buNone/>
            </a:pPr>
            <a:r>
              <a:rPr lang="en-US" sz="1300" dirty="0">
                <a:solidFill>
                  <a:srgbClr val="5B6678"/>
                </a:solidFill>
                <a:latin typeface="Arial" pitchFamily="34" charset="0"/>
                <a:ea typeface="Arial" pitchFamily="34" charset="-122"/>
                <a:cs typeface="Arial" pitchFamily="34" charset="-120"/>
              </a:rPr>
              <a:t>Mean F1 by prompt version; orange line is the 90% target</a:t>
            </a:r>
            <a:endParaRPr lang="en-US" sz="1300" dirty="0"/>
          </a:p>
        </p:txBody>
      </p:sp>
      <p:graphicFrame>
        <p:nvGraphicFramePr>
          <p:cNvPr id="4" name="Chart 0" descr=""/>
          <p:cNvGraphicFramePr/>
          <p:nvPr/>
        </p:nvGraphicFramePr>
        <p:xfrm>
          <a:off x="365760" y="1234440"/>
          <a:ext cx="5394960" cy="3611880"/>
        </p:xfrm>
        <a:graphic xmlns:a="http://schemas.openxmlformats.org/drawingml/2006/main">
          <a:graphicData uri="http://schemas.openxmlformats.org/drawingml/2006/chart">
            <c:chart xmlns:c="http://schemas.openxmlformats.org/drawingml/2006/chart" r:id="rId1"/>
          </a:graphicData>
        </a:graphic>
      </p:graphicFrame>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943600" y="1417320"/>
          <a:ext cx="2743200" cy="914400"/>
        </p:xfrm>
        <a:graphic>
          <a:graphicData uri="http://schemas.openxmlformats.org/drawingml/2006/table">
            <a:tbl>
              <a:tblPr/>
              <a:tblGrid>
                <a:gridCol w="731520"/>
                <a:gridCol w="670560"/>
                <a:gridCol w="670560"/>
                <a:gridCol w="670560"/>
              </a:tblGrid>
              <a:tr h="274320">
                <a:tc>
                  <a:txBody>
                    <a:bodyPr/>
                    <a:lstStyle/>
                    <a:p>
                      <a:pPr indent="0" marL="0">
                        <a:buNone/>
                      </a:pPr>
                      <a:r>
                        <a:rPr lang="en-US" sz="1100" b="1" dirty="0">
                          <a:solidFill>
                            <a:srgbClr val="FFFFFF"/>
                          </a:solidFill>
                          <a:latin typeface="Arial" pitchFamily="34" charset="0"/>
                          <a:ea typeface="Arial" pitchFamily="34" charset="-122"/>
                          <a:cs typeface="Arial" pitchFamily="34" charset="-120"/>
                        </a:rPr>
                        <a:t>Version</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0B2F57"/>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Library</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0B2F57"/>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Car rental</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0B2F57"/>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NTSS</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0B2F57"/>
                    </a:solidFill>
                  </a:tcPr>
                </a:tc>
              </a:tr>
              <a:tr h="274320">
                <a:tc>
                  <a:txBody>
                    <a:bodyPr/>
                    <a:lstStyle/>
                    <a:p>
                      <a:pPr indent="0" marL="0">
                        <a:buNone/>
                      </a:pPr>
                      <a:r>
                        <a:rPr lang="en-US" sz="1100" b="1" dirty="0">
                          <a:solidFill>
                            <a:srgbClr val="1A2233"/>
                          </a:solidFill>
                          <a:latin typeface="Arial" pitchFamily="34" charset="0"/>
                          <a:ea typeface="Arial" pitchFamily="34" charset="-122"/>
                          <a:cs typeface="Arial" pitchFamily="34" charset="-120"/>
                        </a:rPr>
                        <a:t>P0</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c>
                  <a:txBody>
                    <a:bodyPr/>
                    <a:lstStyle/>
                    <a:p>
                      <a:pPr indent="0" marL="0">
                        <a:buNone/>
                      </a:pPr>
                      <a:r>
                        <a:rPr lang="en-US" sz="1100" dirty="0">
                          <a:solidFill>
                            <a:srgbClr val="1A2233"/>
                          </a:solidFill>
                          <a:latin typeface="Arial" pitchFamily="34" charset="0"/>
                          <a:ea typeface="Arial" pitchFamily="34" charset="-122"/>
                          <a:cs typeface="Arial" pitchFamily="34" charset="-120"/>
                        </a:rPr>
                        <a:t>68.9</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c>
                  <a:txBody>
                    <a:bodyPr/>
                    <a:lstStyle/>
                    <a:p>
                      <a:pPr indent="0" marL="0">
                        <a:buNone/>
                      </a:pPr>
                      <a:r>
                        <a:rPr lang="en-US" sz="1100" dirty="0">
                          <a:solidFill>
                            <a:srgbClr val="1A2233"/>
                          </a:solidFill>
                          <a:latin typeface="Arial" pitchFamily="34" charset="0"/>
                          <a:ea typeface="Arial" pitchFamily="34" charset="-122"/>
                          <a:cs typeface="Arial" pitchFamily="34" charset="-120"/>
                        </a:rPr>
                        <a:t>52.0</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c>
                  <a:txBody>
                    <a:bodyPr/>
                    <a:lstStyle/>
                    <a:p>
                      <a:pPr indent="0" marL="0">
                        <a:buNone/>
                      </a:pPr>
                      <a:r>
                        <a:rPr lang="en-US" sz="1100" dirty="0">
                          <a:solidFill>
                            <a:srgbClr val="1A2233"/>
                          </a:solidFill>
                          <a:latin typeface="Arial" pitchFamily="34" charset="0"/>
                          <a:ea typeface="Arial" pitchFamily="34" charset="-122"/>
                          <a:cs typeface="Arial" pitchFamily="34" charset="-120"/>
                        </a:rPr>
                        <a:t>71.2</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r>
              <a:tr h="274320">
                <a:tc>
                  <a:txBody>
                    <a:bodyPr/>
                    <a:lstStyle/>
                    <a:p>
                      <a:pPr indent="0" marL="0">
                        <a:buNone/>
                      </a:pPr>
                      <a:r>
                        <a:rPr lang="en-US" sz="1100" b="1" dirty="0">
                          <a:solidFill>
                            <a:srgbClr val="1A2233"/>
                          </a:solidFill>
                          <a:latin typeface="Arial" pitchFamily="34" charset="0"/>
                          <a:ea typeface="Arial" pitchFamily="34" charset="-122"/>
                          <a:cs typeface="Arial" pitchFamily="34" charset="-120"/>
                        </a:rPr>
                        <a:t>P1</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c>
                  <a:txBody>
                    <a:bodyPr/>
                    <a:lstStyle/>
                    <a:p>
                      <a:pPr indent="0" marL="0">
                        <a:buNone/>
                      </a:pPr>
                      <a:r>
                        <a:rPr lang="en-US" sz="1100" dirty="0">
                          <a:solidFill>
                            <a:srgbClr val="1A2233"/>
                          </a:solidFill>
                          <a:latin typeface="Arial" pitchFamily="34" charset="0"/>
                          <a:ea typeface="Arial" pitchFamily="34" charset="-122"/>
                          <a:cs typeface="Arial" pitchFamily="34" charset="-120"/>
                        </a:rPr>
                        <a:t>88.7</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c>
                  <a:txBody>
                    <a:bodyPr/>
                    <a:lstStyle/>
                    <a:p>
                      <a:pPr indent="0" marL="0">
                        <a:buNone/>
                      </a:pPr>
                      <a:r>
                        <a:rPr lang="en-US" sz="1100" dirty="0">
                          <a:solidFill>
                            <a:srgbClr val="1A2233"/>
                          </a:solidFill>
                          <a:latin typeface="Arial" pitchFamily="34" charset="0"/>
                          <a:ea typeface="Arial" pitchFamily="34" charset="-122"/>
                          <a:cs typeface="Arial" pitchFamily="34" charset="-120"/>
                        </a:rPr>
                        <a:t>60.0</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c>
                  <a:txBody>
                    <a:bodyPr/>
                    <a:lstStyle/>
                    <a:p>
                      <a:pPr indent="0" marL="0">
                        <a:buNone/>
                      </a:pPr>
                      <a:r>
                        <a:rPr lang="en-US" sz="1100" dirty="0">
                          <a:solidFill>
                            <a:srgbClr val="1A2233"/>
                          </a:solidFill>
                          <a:latin typeface="Arial" pitchFamily="34" charset="0"/>
                          <a:ea typeface="Arial" pitchFamily="34" charset="-122"/>
                          <a:cs typeface="Arial" pitchFamily="34" charset="-120"/>
                        </a:rPr>
                        <a:t>80.8</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r>
              <a:tr h="274320">
                <a:tc>
                  <a:txBody>
                    <a:bodyPr/>
                    <a:lstStyle/>
                    <a:p>
                      <a:pPr indent="0" marL="0">
                        <a:buNone/>
                      </a:pPr>
                      <a:r>
                        <a:rPr lang="en-US" sz="1100" b="1" dirty="0">
                          <a:solidFill>
                            <a:srgbClr val="1A2233"/>
                          </a:solidFill>
                          <a:latin typeface="Arial" pitchFamily="34" charset="0"/>
                          <a:ea typeface="Arial" pitchFamily="34" charset="-122"/>
                          <a:cs typeface="Arial" pitchFamily="34" charset="-120"/>
                        </a:rPr>
                        <a:t>P2</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c>
                  <a:txBody>
                    <a:bodyPr/>
                    <a:lstStyle/>
                    <a:p>
                      <a:pPr indent="0" marL="0">
                        <a:buNone/>
                      </a:pPr>
                      <a:r>
                        <a:rPr lang="en-US" sz="1100" dirty="0">
                          <a:solidFill>
                            <a:srgbClr val="1A2233"/>
                          </a:solidFill>
                          <a:latin typeface="Arial" pitchFamily="34" charset="0"/>
                          <a:ea typeface="Arial" pitchFamily="34" charset="-122"/>
                          <a:cs typeface="Arial" pitchFamily="34" charset="-120"/>
                        </a:rPr>
                        <a:t>87.7</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c>
                  <a:txBody>
                    <a:bodyPr/>
                    <a:lstStyle/>
                    <a:p>
                      <a:pPr indent="0" marL="0">
                        <a:buNone/>
                      </a:pPr>
                      <a:r>
                        <a:rPr lang="en-US" sz="1100" dirty="0">
                          <a:solidFill>
                            <a:srgbClr val="1A2233"/>
                          </a:solidFill>
                          <a:latin typeface="Arial" pitchFamily="34" charset="0"/>
                          <a:ea typeface="Arial" pitchFamily="34" charset="-122"/>
                          <a:cs typeface="Arial" pitchFamily="34" charset="-120"/>
                        </a:rPr>
                        <a:t>63.8</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c>
                  <a:txBody>
                    <a:bodyPr/>
                    <a:lstStyle/>
                    <a:p>
                      <a:pPr indent="0" marL="0">
                        <a:buNone/>
                      </a:pPr>
                      <a:r>
                        <a:rPr lang="en-US" sz="1100" dirty="0">
                          <a:solidFill>
                            <a:srgbClr val="1A2233"/>
                          </a:solidFill>
                          <a:latin typeface="Arial" pitchFamily="34" charset="0"/>
                          <a:ea typeface="Arial" pitchFamily="34" charset="-122"/>
                          <a:cs typeface="Arial" pitchFamily="34" charset="-120"/>
                        </a:rPr>
                        <a:t>79.8</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r>
              <a:tr h="274320">
                <a:tc>
                  <a:txBody>
                    <a:bodyPr/>
                    <a:lstStyle/>
                    <a:p>
                      <a:pPr indent="0" marL="0">
                        <a:buNone/>
                      </a:pPr>
                      <a:r>
                        <a:rPr lang="en-US" sz="1100" b="1" dirty="0">
                          <a:solidFill>
                            <a:srgbClr val="1A2233"/>
                          </a:solidFill>
                          <a:latin typeface="Arial" pitchFamily="34" charset="0"/>
                          <a:ea typeface="Arial" pitchFamily="34" charset="-122"/>
                          <a:cs typeface="Arial" pitchFamily="34" charset="-120"/>
                        </a:rPr>
                        <a:t>P3</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c>
                  <a:txBody>
                    <a:bodyPr/>
                    <a:lstStyle/>
                    <a:p>
                      <a:pPr indent="0" marL="0">
                        <a:buNone/>
                      </a:pPr>
                      <a:r>
                        <a:rPr lang="en-US" sz="1100" dirty="0">
                          <a:solidFill>
                            <a:srgbClr val="1A2233"/>
                          </a:solidFill>
                          <a:latin typeface="Arial" pitchFamily="34" charset="0"/>
                          <a:ea typeface="Arial" pitchFamily="34" charset="-122"/>
                          <a:cs typeface="Arial" pitchFamily="34" charset="-120"/>
                        </a:rPr>
                        <a:t>89.9</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c>
                  <a:txBody>
                    <a:bodyPr/>
                    <a:lstStyle/>
                    <a:p>
                      <a:pPr indent="0" marL="0">
                        <a:buNone/>
                      </a:pPr>
                      <a:r>
                        <a:rPr lang="en-US" sz="1100" dirty="0">
                          <a:solidFill>
                            <a:srgbClr val="1A2233"/>
                          </a:solidFill>
                          <a:latin typeface="Arial" pitchFamily="34" charset="0"/>
                          <a:ea typeface="Arial" pitchFamily="34" charset="-122"/>
                          <a:cs typeface="Arial" pitchFamily="34" charset="-120"/>
                        </a:rPr>
                        <a:t>74.5</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c>
                  <a:txBody>
                    <a:bodyPr/>
                    <a:lstStyle/>
                    <a:p>
                      <a:pPr indent="0" marL="0">
                        <a:buNone/>
                      </a:pPr>
                      <a:r>
                        <a:rPr lang="en-US" sz="1100" dirty="0">
                          <a:solidFill>
                            <a:srgbClr val="1A2233"/>
                          </a:solidFill>
                          <a:latin typeface="Arial" pitchFamily="34" charset="0"/>
                          <a:ea typeface="Arial" pitchFamily="34" charset="-122"/>
                          <a:cs typeface="Arial" pitchFamily="34" charset="-120"/>
                        </a:rPr>
                        <a:t>85.4</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r>
              <a:tr h="274320">
                <a:tc>
                  <a:txBody>
                    <a:bodyPr/>
                    <a:lstStyle/>
                    <a:p>
                      <a:pPr indent="0" marL="0">
                        <a:buNone/>
                      </a:pPr>
                      <a:r>
                        <a:rPr lang="en-US" sz="1100" b="1" dirty="0">
                          <a:solidFill>
                            <a:srgbClr val="1A2233"/>
                          </a:solidFill>
                          <a:latin typeface="Arial" pitchFamily="34" charset="0"/>
                          <a:ea typeface="Arial" pitchFamily="34" charset="-122"/>
                          <a:cs typeface="Arial" pitchFamily="34" charset="-120"/>
                        </a:rPr>
                        <a:t>P4</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c>
                  <a:txBody>
                    <a:bodyPr/>
                    <a:lstStyle/>
                    <a:p>
                      <a:pPr indent="0" marL="0">
                        <a:buNone/>
                      </a:pPr>
                      <a:r>
                        <a:rPr lang="en-US" sz="1100" b="1" dirty="0">
                          <a:solidFill>
                            <a:srgbClr val="0064B1"/>
                          </a:solidFill>
                          <a:latin typeface="Arial" pitchFamily="34" charset="0"/>
                          <a:ea typeface="Arial" pitchFamily="34" charset="-122"/>
                          <a:cs typeface="Arial" pitchFamily="34" charset="-120"/>
                        </a:rPr>
                        <a:t>93.7</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c>
                  <a:txBody>
                    <a:bodyPr/>
                    <a:lstStyle/>
                    <a:p>
                      <a:pPr indent="0" marL="0">
                        <a:buNone/>
                      </a:pPr>
                      <a:r>
                        <a:rPr lang="en-US" sz="1100" dirty="0">
                          <a:solidFill>
                            <a:srgbClr val="1A2233"/>
                          </a:solidFill>
                          <a:latin typeface="Arial" pitchFamily="34" charset="0"/>
                          <a:ea typeface="Arial" pitchFamily="34" charset="-122"/>
                          <a:cs typeface="Arial" pitchFamily="34" charset="-120"/>
                        </a:rPr>
                        <a:t>71.9</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c>
                  <a:txBody>
                    <a:bodyPr/>
                    <a:lstStyle/>
                    <a:p>
                      <a:pPr indent="0" marL="0">
                        <a:buNone/>
                      </a:pPr>
                      <a:r>
                        <a:rPr lang="en-US" sz="1100" dirty="0">
                          <a:solidFill>
                            <a:srgbClr val="1A2233"/>
                          </a:solidFill>
                          <a:latin typeface="Arial" pitchFamily="34" charset="0"/>
                          <a:ea typeface="Arial" pitchFamily="34" charset="-122"/>
                          <a:cs typeface="Arial" pitchFamily="34" charset="-120"/>
                        </a:rPr>
                        <a:t>89.6</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r>
            </a:tbl>
          </a:graphicData>
        </a:graphic>
      </p:graphicFrame>
      <p:sp>
        <p:nvSpPr>
          <p:cNvPr id="6" name="Text 2"/>
          <p:cNvSpPr txBox="1"/>
          <p:nvPr/>
        </p:nvSpPr>
        <p:spPr>
          <a:xfrm>
            <a:off x="5943600" y="3291840"/>
            <a:ext cx="2743200" cy="1097280"/>
          </a:xfrm>
          <a:prstGeom prst="rect">
            <a:avLst/>
          </a:prstGeom>
          <a:noFill/>
          <a:ln/>
        </p:spPr>
        <p:txBody>
          <a:bodyPr wrap="square" lIns="0" tIns="0" rIns="0" bIns="0" rtlCol="0" anchor="t"/>
          <a:lstStyle/>
          <a:p>
            <a:pPr indent="0" marL="0">
              <a:buNone/>
            </a:pPr>
            <a:r>
              <a:rPr lang="en-US" sz="1100" dirty="0">
                <a:solidFill>
                  <a:srgbClr val="5B6678"/>
                </a:solidFill>
                <a:latin typeface="Arial" pitchFamily="34" charset="0"/>
                <a:ea typeface="Arial" pitchFamily="34" charset="-122"/>
                <a:cs typeface="Arial" pitchFamily="34" charset="-120"/>
              </a:rPr>
              <a:t>Biggest step: P0 → P1 (course methodology). Cells with repeated runs show the mean (library P0 averages 4 runs). Best version on the three-domain mean: P4.</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548640"/>
          </a:xfrm>
          <a:prstGeom prst="rect">
            <a:avLst/>
          </a:prstGeom>
          <a:noFill/>
          <a:ln/>
        </p:spPr>
        <p:txBody>
          <a:bodyPr wrap="square" lIns="0" tIns="0" rIns="0" bIns="0" rtlCol="0" anchor="ctr"/>
          <a:lstStyle/>
          <a:p>
            <a:pPr indent="0" marL="0">
              <a:buNone/>
            </a:pPr>
            <a:r>
              <a:rPr lang="en-US" sz="2800" b="1" dirty="0">
                <a:solidFill>
                  <a:srgbClr val="0B2F57"/>
                </a:solidFill>
                <a:latin typeface="Arial" pitchFamily="34" charset="0"/>
                <a:ea typeface="Arial" pitchFamily="34" charset="-122"/>
                <a:cs typeface="Arial" pitchFamily="34" charset="-120"/>
              </a:rPr>
              <a:t>Optimization results: classification</a:t>
            </a:r>
            <a:endParaRPr lang="en-US" sz="2800" dirty="0"/>
          </a:p>
        </p:txBody>
      </p:sp>
      <p:sp>
        <p:nvSpPr>
          <p:cNvPr id="3" name="Text 1"/>
          <p:cNvSpPr txBox="1"/>
          <p:nvPr/>
        </p:nvSpPr>
        <p:spPr>
          <a:xfrm>
            <a:off x="457200" y="841248"/>
            <a:ext cx="8229600" cy="320040"/>
          </a:xfrm>
          <a:prstGeom prst="rect">
            <a:avLst/>
          </a:prstGeom>
          <a:noFill/>
          <a:ln/>
        </p:spPr>
        <p:txBody>
          <a:bodyPr wrap="square" lIns="0" tIns="0" rIns="0" bIns="0" rtlCol="0" anchor="t"/>
          <a:lstStyle/>
          <a:p>
            <a:pPr indent="0" marL="0">
              <a:buNone/>
            </a:pPr>
            <a:r>
              <a:rPr lang="en-US" sz="1300" dirty="0">
                <a:solidFill>
                  <a:srgbClr val="5B6678"/>
                </a:solidFill>
                <a:latin typeface="Arial" pitchFamily="34" charset="0"/>
                <a:ea typeface="Arial" pitchFamily="34" charset="-122"/>
                <a:cs typeface="Arial" pitchFamily="34" charset="-120"/>
              </a:rPr>
              <a:t>Mean F1 by prompt version; orange line is the 90% target</a:t>
            </a:r>
            <a:endParaRPr lang="en-US" sz="1300" dirty="0"/>
          </a:p>
        </p:txBody>
      </p:sp>
      <p:graphicFrame>
        <p:nvGraphicFramePr>
          <p:cNvPr id="4" name="Chart 0" descr=""/>
          <p:cNvGraphicFramePr/>
          <p:nvPr/>
        </p:nvGraphicFramePr>
        <p:xfrm>
          <a:off x="365760" y="1234440"/>
          <a:ext cx="5394960" cy="3611880"/>
        </p:xfrm>
        <a:graphic xmlns:a="http://schemas.openxmlformats.org/drawingml/2006/main">
          <a:graphicData uri="http://schemas.openxmlformats.org/drawingml/2006/chart">
            <c:chart xmlns:c="http://schemas.openxmlformats.org/drawingml/2006/chart" r:id="rId1"/>
          </a:graphicData>
        </a:graphic>
      </p:graphicFrame>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943600" y="1417320"/>
          <a:ext cx="2743200" cy="914400"/>
        </p:xfrm>
        <a:graphic>
          <a:graphicData uri="http://schemas.openxmlformats.org/drawingml/2006/table">
            <a:tbl>
              <a:tblPr/>
              <a:tblGrid>
                <a:gridCol w="731520"/>
                <a:gridCol w="670560"/>
                <a:gridCol w="670560"/>
                <a:gridCol w="670560"/>
              </a:tblGrid>
              <a:tr h="274320">
                <a:tc>
                  <a:txBody>
                    <a:bodyPr/>
                    <a:lstStyle/>
                    <a:p>
                      <a:pPr indent="0" marL="0">
                        <a:buNone/>
                      </a:pPr>
                      <a:r>
                        <a:rPr lang="en-US" sz="1100" b="1" dirty="0">
                          <a:solidFill>
                            <a:srgbClr val="FFFFFF"/>
                          </a:solidFill>
                          <a:latin typeface="Arial" pitchFamily="34" charset="0"/>
                          <a:ea typeface="Arial" pitchFamily="34" charset="-122"/>
                          <a:cs typeface="Arial" pitchFamily="34" charset="-120"/>
                        </a:rPr>
                        <a:t>Version</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0B2F57"/>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Library</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0B2F57"/>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Car rental</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0B2F57"/>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NTSS</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0B2F57"/>
                    </a:solidFill>
                  </a:tcPr>
                </a:tc>
              </a:tr>
              <a:tr h="274320">
                <a:tc>
                  <a:txBody>
                    <a:bodyPr/>
                    <a:lstStyle/>
                    <a:p>
                      <a:pPr indent="0" marL="0">
                        <a:buNone/>
                      </a:pPr>
                      <a:r>
                        <a:rPr lang="en-US" sz="1100" b="1" dirty="0">
                          <a:solidFill>
                            <a:srgbClr val="1A2233"/>
                          </a:solidFill>
                          <a:latin typeface="Arial" pitchFamily="34" charset="0"/>
                          <a:ea typeface="Arial" pitchFamily="34" charset="-122"/>
                          <a:cs typeface="Arial" pitchFamily="34" charset="-120"/>
                        </a:rPr>
                        <a:t>P0</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c>
                  <a:txBody>
                    <a:bodyPr/>
                    <a:lstStyle/>
                    <a:p>
                      <a:pPr indent="0" marL="0">
                        <a:buNone/>
                      </a:pPr>
                      <a:r>
                        <a:rPr lang="en-US" sz="1100" dirty="0">
                          <a:solidFill>
                            <a:srgbClr val="1A2233"/>
                          </a:solidFill>
                          <a:latin typeface="Arial" pitchFamily="34" charset="0"/>
                          <a:ea typeface="Arial" pitchFamily="34" charset="-122"/>
                          <a:cs typeface="Arial" pitchFamily="34" charset="-120"/>
                        </a:rPr>
                        <a:t>30.4</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c>
                  <a:txBody>
                    <a:bodyPr/>
                    <a:lstStyle/>
                    <a:p>
                      <a:pPr indent="0" marL="0">
                        <a:buNone/>
                      </a:pPr>
                      <a:r>
                        <a:rPr lang="en-US" sz="1100" dirty="0">
                          <a:solidFill>
                            <a:srgbClr val="1A2233"/>
                          </a:solidFill>
                          <a:latin typeface="Arial" pitchFamily="34" charset="0"/>
                          <a:ea typeface="Arial" pitchFamily="34" charset="-122"/>
                          <a:cs typeface="Arial" pitchFamily="34" charset="-120"/>
                        </a:rPr>
                        <a:t>44.1</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c>
                  <a:txBody>
                    <a:bodyPr/>
                    <a:lstStyle/>
                    <a:p>
                      <a:pPr indent="0" marL="0">
                        <a:buNone/>
                      </a:pPr>
                      <a:r>
                        <a:rPr lang="en-US" sz="1100" dirty="0">
                          <a:solidFill>
                            <a:srgbClr val="1A2233"/>
                          </a:solidFill>
                          <a:latin typeface="Arial" pitchFamily="34" charset="0"/>
                          <a:ea typeface="Arial" pitchFamily="34" charset="-122"/>
                          <a:cs typeface="Arial" pitchFamily="34" charset="-120"/>
                        </a:rPr>
                        <a:t>51.4</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r>
              <a:tr h="274320">
                <a:tc>
                  <a:txBody>
                    <a:bodyPr/>
                    <a:lstStyle/>
                    <a:p>
                      <a:pPr indent="0" marL="0">
                        <a:buNone/>
                      </a:pPr>
                      <a:r>
                        <a:rPr lang="en-US" sz="1100" b="1" dirty="0">
                          <a:solidFill>
                            <a:srgbClr val="1A2233"/>
                          </a:solidFill>
                          <a:latin typeface="Arial" pitchFamily="34" charset="0"/>
                          <a:ea typeface="Arial" pitchFamily="34" charset="-122"/>
                          <a:cs typeface="Arial" pitchFamily="34" charset="-120"/>
                        </a:rPr>
                        <a:t>P1</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c>
                  <a:txBody>
                    <a:bodyPr/>
                    <a:lstStyle/>
                    <a:p>
                      <a:pPr indent="0" marL="0">
                        <a:buNone/>
                      </a:pPr>
                      <a:r>
                        <a:rPr lang="en-US" sz="1100" dirty="0">
                          <a:solidFill>
                            <a:srgbClr val="1A2233"/>
                          </a:solidFill>
                          <a:latin typeface="Arial" pitchFamily="34" charset="0"/>
                          <a:ea typeface="Arial" pitchFamily="34" charset="-122"/>
                          <a:cs typeface="Arial" pitchFamily="34" charset="-120"/>
                        </a:rPr>
                        <a:t>42.1</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c>
                  <a:txBody>
                    <a:bodyPr/>
                    <a:lstStyle/>
                    <a:p>
                      <a:pPr indent="0" marL="0">
                        <a:buNone/>
                      </a:pPr>
                      <a:r>
                        <a:rPr lang="en-US" sz="1100" dirty="0">
                          <a:solidFill>
                            <a:srgbClr val="1A2233"/>
                          </a:solidFill>
                          <a:latin typeface="Arial" pitchFamily="34" charset="0"/>
                          <a:ea typeface="Arial" pitchFamily="34" charset="-122"/>
                          <a:cs typeface="Arial" pitchFamily="34" charset="-120"/>
                        </a:rPr>
                        <a:t>43.0</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c>
                  <a:txBody>
                    <a:bodyPr/>
                    <a:lstStyle/>
                    <a:p>
                      <a:pPr indent="0" marL="0">
                        <a:buNone/>
                      </a:pPr>
                      <a:r>
                        <a:rPr lang="en-US" sz="1100" dirty="0">
                          <a:solidFill>
                            <a:srgbClr val="1A2233"/>
                          </a:solidFill>
                          <a:latin typeface="Arial" pitchFamily="34" charset="0"/>
                          <a:ea typeface="Arial" pitchFamily="34" charset="-122"/>
                          <a:cs typeface="Arial" pitchFamily="34" charset="-120"/>
                        </a:rPr>
                        <a:t>57.1</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r>
              <a:tr h="274320">
                <a:tc>
                  <a:txBody>
                    <a:bodyPr/>
                    <a:lstStyle/>
                    <a:p>
                      <a:pPr indent="0" marL="0">
                        <a:buNone/>
                      </a:pPr>
                      <a:r>
                        <a:rPr lang="en-US" sz="1100" b="1" dirty="0">
                          <a:solidFill>
                            <a:srgbClr val="1A2233"/>
                          </a:solidFill>
                          <a:latin typeface="Arial" pitchFamily="34" charset="0"/>
                          <a:ea typeface="Arial" pitchFamily="34" charset="-122"/>
                          <a:cs typeface="Arial" pitchFamily="34" charset="-120"/>
                        </a:rPr>
                        <a:t>P2</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c>
                  <a:txBody>
                    <a:bodyPr/>
                    <a:lstStyle/>
                    <a:p>
                      <a:pPr indent="0" marL="0">
                        <a:buNone/>
                      </a:pPr>
                      <a:r>
                        <a:rPr lang="en-US" sz="1100" dirty="0">
                          <a:solidFill>
                            <a:srgbClr val="1A2233"/>
                          </a:solidFill>
                          <a:latin typeface="Arial" pitchFamily="34" charset="0"/>
                          <a:ea typeface="Arial" pitchFamily="34" charset="-122"/>
                          <a:cs typeface="Arial" pitchFamily="34" charset="-120"/>
                        </a:rPr>
                        <a:t>70.6</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c>
                  <a:txBody>
                    <a:bodyPr/>
                    <a:lstStyle/>
                    <a:p>
                      <a:pPr indent="0" marL="0">
                        <a:buNone/>
                      </a:pPr>
                      <a:r>
                        <a:rPr lang="en-US" sz="1100" dirty="0">
                          <a:solidFill>
                            <a:srgbClr val="1A2233"/>
                          </a:solidFill>
                          <a:latin typeface="Arial" pitchFamily="34" charset="0"/>
                          <a:ea typeface="Arial" pitchFamily="34" charset="-122"/>
                          <a:cs typeface="Arial" pitchFamily="34" charset="-120"/>
                        </a:rPr>
                        <a:t>45.5</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c>
                  <a:txBody>
                    <a:bodyPr/>
                    <a:lstStyle/>
                    <a:p>
                      <a:pPr indent="0" marL="0">
                        <a:buNone/>
                      </a:pPr>
                      <a:r>
                        <a:rPr lang="en-US" sz="1100" dirty="0">
                          <a:solidFill>
                            <a:srgbClr val="1A2233"/>
                          </a:solidFill>
                          <a:latin typeface="Arial" pitchFamily="34" charset="0"/>
                          <a:ea typeface="Arial" pitchFamily="34" charset="-122"/>
                          <a:cs typeface="Arial" pitchFamily="34" charset="-120"/>
                        </a:rPr>
                        <a:t>61.0</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r>
              <a:tr h="274320">
                <a:tc>
                  <a:txBody>
                    <a:bodyPr/>
                    <a:lstStyle/>
                    <a:p>
                      <a:pPr indent="0" marL="0">
                        <a:buNone/>
                      </a:pPr>
                      <a:r>
                        <a:rPr lang="en-US" sz="1100" b="1" dirty="0">
                          <a:solidFill>
                            <a:srgbClr val="1A2233"/>
                          </a:solidFill>
                          <a:latin typeface="Arial" pitchFamily="34" charset="0"/>
                          <a:ea typeface="Arial" pitchFamily="34" charset="-122"/>
                          <a:cs typeface="Arial" pitchFamily="34" charset="-120"/>
                        </a:rPr>
                        <a:t>P3</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c>
                  <a:txBody>
                    <a:bodyPr/>
                    <a:lstStyle/>
                    <a:p>
                      <a:pPr indent="0" marL="0">
                        <a:buNone/>
                      </a:pPr>
                      <a:r>
                        <a:rPr lang="en-US" sz="1100" dirty="0">
                          <a:solidFill>
                            <a:srgbClr val="1A2233"/>
                          </a:solidFill>
                          <a:latin typeface="Arial" pitchFamily="34" charset="0"/>
                          <a:ea typeface="Arial" pitchFamily="34" charset="-122"/>
                          <a:cs typeface="Arial" pitchFamily="34" charset="-120"/>
                        </a:rPr>
                        <a:t>70.8</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c>
                  <a:txBody>
                    <a:bodyPr/>
                    <a:lstStyle/>
                    <a:p>
                      <a:pPr indent="0" marL="0">
                        <a:buNone/>
                      </a:pPr>
                      <a:r>
                        <a:rPr lang="en-US" sz="1100" dirty="0">
                          <a:solidFill>
                            <a:srgbClr val="1A2233"/>
                          </a:solidFill>
                          <a:latin typeface="Arial" pitchFamily="34" charset="0"/>
                          <a:ea typeface="Arial" pitchFamily="34" charset="-122"/>
                          <a:cs typeface="Arial" pitchFamily="34" charset="-120"/>
                        </a:rPr>
                        <a:t>47.2</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c>
                  <a:txBody>
                    <a:bodyPr/>
                    <a:lstStyle/>
                    <a:p>
                      <a:pPr indent="0" marL="0">
                        <a:buNone/>
                      </a:pPr>
                      <a:r>
                        <a:rPr lang="en-US" sz="1100" dirty="0">
                          <a:solidFill>
                            <a:srgbClr val="1A2233"/>
                          </a:solidFill>
                          <a:latin typeface="Arial" pitchFamily="34" charset="0"/>
                          <a:ea typeface="Arial" pitchFamily="34" charset="-122"/>
                          <a:cs typeface="Arial" pitchFamily="34" charset="-120"/>
                        </a:rPr>
                        <a:t>64.3</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r>
            </a:tbl>
          </a:graphicData>
        </a:graphic>
      </p:graphicFrame>
      <p:sp>
        <p:nvSpPr>
          <p:cNvPr id="6" name="Text 2"/>
          <p:cNvSpPr txBox="1"/>
          <p:nvPr/>
        </p:nvSpPr>
        <p:spPr>
          <a:xfrm>
            <a:off x="5943600" y="3017520"/>
            <a:ext cx="2743200" cy="1463040"/>
          </a:xfrm>
          <a:prstGeom prst="rect">
            <a:avLst/>
          </a:prstGeom>
          <a:noFill/>
          <a:ln/>
        </p:spPr>
        <p:txBody>
          <a:bodyPr wrap="square" lIns="0" tIns="0" rIns="0" bIns="0" rtlCol="0" anchor="t"/>
          <a:lstStyle/>
          <a:p>
            <a:pPr indent="0" marL="0">
              <a:buNone/>
            </a:pPr>
            <a:r>
              <a:rPr lang="en-US" sz="1100" dirty="0">
                <a:solidFill>
                  <a:srgbClr val="5B6678"/>
                </a:solidFill>
                <a:latin typeface="Arial" pitchFamily="34" charset="0"/>
                <a:ea typeface="Arial" pitchFamily="34" charset="-122"/>
                <a:cs typeface="Arial" pitchFamily="34" charset="-120"/>
              </a:rPr>
              <a:t>Biggest step: P1 → P2 (naming rule). Car rental stays lowest because the expert renamed attributes (e.g. "transmission" for the text's "gear change"). Best version so far: P3.</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548640"/>
          </a:xfrm>
          <a:prstGeom prst="rect">
            <a:avLst/>
          </a:prstGeom>
          <a:noFill/>
          <a:ln/>
        </p:spPr>
        <p:txBody>
          <a:bodyPr wrap="square" lIns="0" tIns="0" rIns="0" bIns="0" rtlCol="0" anchor="ctr"/>
          <a:lstStyle/>
          <a:p>
            <a:pPr indent="0" marL="0">
              <a:buNone/>
            </a:pPr>
            <a:r>
              <a:rPr lang="en-US" sz="2800" b="1" dirty="0">
                <a:solidFill>
                  <a:srgbClr val="0B2F57"/>
                </a:solidFill>
                <a:latin typeface="Arial" pitchFamily="34" charset="0"/>
                <a:ea typeface="Arial" pitchFamily="34" charset="-122"/>
                <a:cs typeface="Arial" pitchFamily="34" charset="-120"/>
              </a:rPr>
              <a:t>Experiment 5: closing the library gap</a:t>
            </a:r>
            <a:endParaRPr lang="en-US" sz="2800" dirty="0"/>
          </a:p>
        </p:txBody>
      </p:sp>
      <p:sp>
        <p:nvSpPr>
          <p:cNvPr id="3" name="Text 1"/>
          <p:cNvSpPr txBox="1"/>
          <p:nvPr/>
        </p:nvSpPr>
        <p:spPr>
          <a:xfrm>
            <a:off x="457200" y="841248"/>
            <a:ext cx="8229600" cy="320040"/>
          </a:xfrm>
          <a:prstGeom prst="rect">
            <a:avLst/>
          </a:prstGeom>
          <a:noFill/>
          <a:ln/>
        </p:spPr>
        <p:txBody>
          <a:bodyPr wrap="square" lIns="0" tIns="0" rIns="0" bIns="0" rtlCol="0" anchor="t"/>
          <a:lstStyle/>
          <a:p>
            <a:pPr indent="0" marL="0">
              <a:buNone/>
            </a:pPr>
            <a:r>
              <a:rPr lang="en-US" sz="1300" dirty="0">
                <a:solidFill>
                  <a:srgbClr val="5B6678"/>
                </a:solidFill>
                <a:latin typeface="Arial" pitchFamily="34" charset="0"/>
                <a:ea typeface="Arial" pitchFamily="34" charset="-122"/>
                <a:cs typeface="Arial" pitchFamily="34" charset="-120"/>
              </a:rPr>
              <a:t>Identification P3 → P4</a:t>
            </a:r>
            <a:endParaRPr lang="en-US" sz="1300" dirty="0"/>
          </a:p>
        </p:txBody>
      </p:sp>
      <p:sp>
        <p:nvSpPr>
          <p:cNvPr id="4" name="Shape 2"/>
          <p:cNvSpPr/>
          <p:nvPr/>
        </p:nvSpPr>
        <p:spPr>
          <a:xfrm>
            <a:off x="457200" y="1325880"/>
            <a:ext cx="2606040" cy="3383280"/>
          </a:xfrm>
          <a:prstGeom prst="roundRect">
            <a:avLst>
              <a:gd name="adj" fmla="val 2807"/>
            </a:avLst>
          </a:prstGeom>
          <a:solidFill>
            <a:srgbClr val="EEF3F9"/>
          </a:solidFill>
          <a:ln w="12700">
            <a:solidFill>
              <a:srgbClr val="EEF3F9"/>
            </a:solidFill>
            <a:prstDash val="solid"/>
          </a:ln>
        </p:spPr>
      </p:sp>
      <p:sp>
        <p:nvSpPr>
          <p:cNvPr id="5" name="Text 3"/>
          <p:cNvSpPr txBox="1"/>
          <p:nvPr/>
        </p:nvSpPr>
        <p:spPr>
          <a:xfrm>
            <a:off x="621792" y="1463040"/>
            <a:ext cx="2276856" cy="320040"/>
          </a:xfrm>
          <a:prstGeom prst="rect">
            <a:avLst/>
          </a:prstGeom>
          <a:noFill/>
          <a:ln/>
        </p:spPr>
        <p:txBody>
          <a:bodyPr wrap="square" lIns="0" tIns="0" rIns="0" bIns="0" rtlCol="0" anchor="t"/>
          <a:lstStyle/>
          <a:p>
            <a:pPr indent="0" marL="0">
              <a:buNone/>
            </a:pPr>
            <a:r>
              <a:rPr lang="en-US" sz="1500" b="1" dirty="0">
                <a:solidFill>
                  <a:srgbClr val="0B2F57"/>
                </a:solidFill>
                <a:latin typeface="Arial" pitchFamily="34" charset="0"/>
                <a:ea typeface="Arial" pitchFamily="34" charset="-122"/>
                <a:cs typeface="Arial" pitchFamily="34" charset="-120"/>
              </a:rPr>
              <a:t>Hypothesis</a:t>
            </a:r>
            <a:endParaRPr lang="en-US" sz="1500" dirty="0"/>
          </a:p>
        </p:txBody>
      </p:sp>
      <p:sp>
        <p:nvSpPr>
          <p:cNvPr id="6" name="Text 4"/>
          <p:cNvSpPr txBox="1"/>
          <p:nvPr/>
        </p:nvSpPr>
        <p:spPr>
          <a:xfrm>
            <a:off x="621792" y="1828800"/>
            <a:ext cx="2276856" cy="2788920"/>
          </a:xfrm>
          <a:prstGeom prst="rect">
            <a:avLst/>
          </a:prstGeom>
          <a:noFill/>
          <a:ln/>
        </p:spPr>
        <p:txBody>
          <a:bodyPr wrap="square" lIns="0" tIns="0" rIns="0" bIns="0" rtlCol="0" anchor="t"/>
          <a:lstStyle/>
          <a:p>
            <a:pPr indent="0" marL="0">
              <a:buNone/>
            </a:pPr>
            <a:r>
              <a:rPr lang="en-US" sz="1300" dirty="0">
                <a:solidFill>
                  <a:srgbClr val="1A2233"/>
                </a:solidFill>
                <a:latin typeface="Arial" pitchFamily="34" charset="0"/>
                <a:ea typeface="Arial" pitchFamily="34" charset="-122"/>
                <a:cs typeface="Arial" pitchFamily="34" charset="-120"/>
              </a:rPr>
              <a:t>P3 left library 0.1 below 90 with 11 specific errors: split possession clauses, a skipped X of Y inside a generalization, the verb "kept", the example value "French", and words pulled out of longer phrases.</a:t>
            </a:r>
            <a:endParaRPr lang="en-US" sz="1300" dirty="0"/>
          </a:p>
        </p:txBody>
      </p:sp>
      <p:sp>
        <p:nvSpPr>
          <p:cNvPr id="7" name="Shape 5"/>
          <p:cNvSpPr/>
          <p:nvPr/>
        </p:nvSpPr>
        <p:spPr>
          <a:xfrm>
            <a:off x="3246120" y="1325880"/>
            <a:ext cx="2606040" cy="3383280"/>
          </a:xfrm>
          <a:prstGeom prst="roundRect">
            <a:avLst>
              <a:gd name="adj" fmla="val 2807"/>
            </a:avLst>
          </a:prstGeom>
          <a:solidFill>
            <a:srgbClr val="EEF3F9"/>
          </a:solidFill>
          <a:ln w="12700">
            <a:solidFill>
              <a:srgbClr val="EEF3F9"/>
            </a:solidFill>
            <a:prstDash val="solid"/>
          </a:ln>
        </p:spPr>
      </p:sp>
      <p:sp>
        <p:nvSpPr>
          <p:cNvPr id="8" name="Text 6"/>
          <p:cNvSpPr txBox="1"/>
          <p:nvPr/>
        </p:nvSpPr>
        <p:spPr>
          <a:xfrm>
            <a:off x="3410712" y="1463040"/>
            <a:ext cx="2276856" cy="320040"/>
          </a:xfrm>
          <a:prstGeom prst="rect">
            <a:avLst/>
          </a:prstGeom>
          <a:noFill/>
          <a:ln/>
        </p:spPr>
        <p:txBody>
          <a:bodyPr wrap="square" lIns="0" tIns="0" rIns="0" bIns="0" rtlCol="0" anchor="t"/>
          <a:lstStyle/>
          <a:p>
            <a:pPr indent="0" marL="0">
              <a:buNone/>
            </a:pPr>
            <a:r>
              <a:rPr lang="en-US" sz="1500" b="1" dirty="0">
                <a:solidFill>
                  <a:srgbClr val="0B2F57"/>
                </a:solidFill>
                <a:latin typeface="Arial" pitchFamily="34" charset="0"/>
                <a:ea typeface="Arial" pitchFamily="34" charset="-122"/>
                <a:cs typeface="Arial" pitchFamily="34" charset="-120"/>
              </a:rPr>
              <a:t>Modification</a:t>
            </a:r>
            <a:endParaRPr lang="en-US" sz="1500" dirty="0"/>
          </a:p>
        </p:txBody>
      </p:sp>
      <p:sp>
        <p:nvSpPr>
          <p:cNvPr id="9" name="Text 7"/>
          <p:cNvSpPr txBox="1"/>
          <p:nvPr/>
        </p:nvSpPr>
        <p:spPr>
          <a:xfrm>
            <a:off x="3410712" y="1828800"/>
            <a:ext cx="2276856" cy="2788920"/>
          </a:xfrm>
          <a:prstGeom prst="rect">
            <a:avLst/>
          </a:prstGeom>
          <a:noFill/>
          <a:ln/>
        </p:spPr>
        <p:txBody>
          <a:bodyPr wrap="square" lIns="0" tIns="0" rIns="0" bIns="0" rtlCol="0" anchor="t"/>
          <a:lstStyle/>
          <a:p>
            <a:pPr indent="0" marL="0">
              <a:buNone/>
            </a:pPr>
            <a:r>
              <a:rPr lang="en-US" sz="1300" dirty="0">
                <a:solidFill>
                  <a:srgbClr val="1A2233"/>
                </a:solidFill>
                <a:latin typeface="Arial" pitchFamily="34" charset="0"/>
                <a:ea typeface="Arial" pitchFamily="34" charset="-122"/>
                <a:cs typeface="Arial" pitchFamily="34" charset="-120"/>
              </a:rPr>
              <a:t>One rule per error: keep possession clauses whole; one sentence can give rows under several rules; record-keeping verbs are domain verbs; example values are enumeration values; don't split words out of listed phrases.</a:t>
            </a:r>
            <a:endParaRPr lang="en-US" sz="1300" dirty="0"/>
          </a:p>
        </p:txBody>
      </p:sp>
      <p:sp>
        <p:nvSpPr>
          <p:cNvPr id="10" name="Shape 8"/>
          <p:cNvSpPr/>
          <p:nvPr/>
        </p:nvSpPr>
        <p:spPr>
          <a:xfrm>
            <a:off x="6035040" y="1325880"/>
            <a:ext cx="2606040" cy="3383280"/>
          </a:xfrm>
          <a:prstGeom prst="roundRect">
            <a:avLst>
              <a:gd name="adj" fmla="val 2807"/>
            </a:avLst>
          </a:prstGeom>
          <a:solidFill>
            <a:srgbClr val="0B2F57"/>
          </a:solidFill>
          <a:ln w="12700">
            <a:solidFill>
              <a:srgbClr val="0B2F57"/>
            </a:solidFill>
            <a:prstDash val="solid"/>
          </a:ln>
        </p:spPr>
      </p:sp>
      <p:sp>
        <p:nvSpPr>
          <p:cNvPr id="11" name="Text 9"/>
          <p:cNvSpPr txBox="1"/>
          <p:nvPr/>
        </p:nvSpPr>
        <p:spPr>
          <a:xfrm>
            <a:off x="6199632" y="1463040"/>
            <a:ext cx="2276856" cy="320040"/>
          </a:xfrm>
          <a:prstGeom prst="rect">
            <a:avLst/>
          </a:prstGeom>
          <a:noFill/>
          <a:ln/>
        </p:spPr>
        <p:txBody>
          <a:bodyPr wrap="square" lIns="0" tIns="0" rIns="0" bIns="0" rtlCol="0" anchor="t"/>
          <a:lstStyle/>
          <a:p>
            <a:pPr indent="0" marL="0">
              <a:buNone/>
            </a:pPr>
            <a:r>
              <a:rPr lang="en-US" sz="1500" b="1" dirty="0">
                <a:solidFill>
                  <a:srgbClr val="F58025"/>
                </a:solidFill>
                <a:latin typeface="Arial" pitchFamily="34" charset="0"/>
                <a:ea typeface="Arial" pitchFamily="34" charset="-122"/>
                <a:cs typeface="Arial" pitchFamily="34" charset="-120"/>
              </a:rPr>
              <a:t>Result</a:t>
            </a:r>
            <a:endParaRPr lang="en-US" sz="1500" dirty="0"/>
          </a:p>
        </p:txBody>
      </p:sp>
      <p:sp>
        <p:nvSpPr>
          <p:cNvPr id="12" name="Text 10"/>
          <p:cNvSpPr txBox="1"/>
          <p:nvPr/>
        </p:nvSpPr>
        <p:spPr>
          <a:xfrm>
            <a:off x="6199632" y="1828800"/>
            <a:ext cx="2276856" cy="2788920"/>
          </a:xfrm>
          <a:prstGeom prst="rect">
            <a:avLst/>
          </a:prstGeom>
          <a:noFill/>
          <a:ln/>
        </p:spPr>
        <p:txBody>
          <a:bodyPr wrap="square" lIns="0" tIns="0" rIns="0" bIns="0" rtlCol="0" anchor="t"/>
          <a:lstStyle/>
          <a:p>
            <a:pPr indent="0" marL="0">
              <a:buNone/>
            </a:pPr>
            <a:r>
              <a:rPr lang="en-US" sz="1300" dirty="0">
                <a:solidFill>
                  <a:srgbClr val="FFFFFF"/>
                </a:solidFill>
                <a:latin typeface="Arial" pitchFamily="34" charset="0"/>
                <a:ea typeface="Arial" pitchFamily="34" charset="-122"/>
                <a:cs typeface="Arial" pitchFamily="34" charset="-120"/>
              </a:rPr>
              <a:t>Library 89.9 → 93.7 (within noise)</a:t>
            </a:r>
            <a:endParaRPr lang="en-US" sz="1300" dirty="0"/>
          </a:p>
          <a:p>
            <a:pPr indent="0" marL="0">
              <a:buNone/>
            </a:pPr>
            <a:r>
              <a:rPr lang="en-US" sz="1300" dirty="0">
                <a:solidFill>
                  <a:srgbClr val="FFFFFF"/>
                </a:solidFill>
                <a:latin typeface="Arial" pitchFamily="34" charset="0"/>
                <a:ea typeface="Arial" pitchFamily="34" charset="-122"/>
                <a:cs typeface="Arial" pitchFamily="34" charset="-120"/>
              </a:rPr>
              <a:t>Car rental 74.5 → 71.9 (within noise)</a:t>
            </a:r>
            <a:endParaRPr lang="en-US" sz="1300" dirty="0"/>
          </a:p>
          <a:p>
            <a:pPr indent="0" marL="0">
              <a:buNone/>
            </a:pPr>
            <a:r>
              <a:rPr lang="en-US" sz="1300" dirty="0">
                <a:solidFill>
                  <a:srgbClr val="FFFFFF"/>
                </a:solidFill>
                <a:latin typeface="Arial" pitchFamily="34" charset="0"/>
                <a:ea typeface="Arial" pitchFamily="34" charset="-122"/>
                <a:cs typeface="Arial" pitchFamily="34" charset="-120"/>
              </a:rPr>
              <a:t>NTSS 85.4 → 89.6</a:t>
            </a:r>
            <a:endParaRPr lang="en-US" sz="1300" dirty="0"/>
          </a:p>
          <a:p>
            <a:pPr indent="0" marL="0">
              <a:buNone/>
            </a:pPr>
            <a:endParaRPr lang="en-US" sz="1300" dirty="0"/>
          </a:p>
          <a:p>
            <a:pPr indent="0" marL="0">
              <a:buNone/>
            </a:pPr>
            <a:r>
              <a:rPr lang="en-US" sz="1300" dirty="0">
                <a:solidFill>
                  <a:srgbClr val="FFFFFF"/>
                </a:solidFill>
                <a:latin typeface="Arial" pitchFamily="34" charset="0"/>
                <a:ea typeface="Arial" pitchFamily="34" charset="-122"/>
                <a:cs typeface="Arial" pitchFamily="34" charset="-120"/>
              </a:rPr>
              <a:t>Library meets the 90% target: every run is above 90 (95.5, 91.9). The step from P3 is labeled noise only because P3 had a single run.</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548640"/>
          </a:xfrm>
          <a:prstGeom prst="rect">
            <a:avLst/>
          </a:prstGeom>
          <a:noFill/>
          <a:ln/>
        </p:spPr>
        <p:txBody>
          <a:bodyPr wrap="square" lIns="0" tIns="0" rIns="0" bIns="0" rtlCol="0" anchor="ctr"/>
          <a:lstStyle/>
          <a:p>
            <a:pPr indent="0" marL="0">
              <a:buNone/>
            </a:pPr>
            <a:r>
              <a:rPr lang="en-US" sz="2800" b="1" dirty="0">
                <a:solidFill>
                  <a:srgbClr val="0B2F57"/>
                </a:solidFill>
                <a:latin typeface="Arial" pitchFamily="34" charset="0"/>
                <a:ea typeface="Arial" pitchFamily="34" charset="-122"/>
                <a:cs typeface="Arial" pitchFamily="34" charset="-120"/>
              </a:rPr>
              <a:t>Testing what the research recommends</a:t>
            </a:r>
            <a:endParaRPr lang="en-US" sz="2800" dirty="0"/>
          </a:p>
        </p:txBody>
      </p:sp>
      <p:sp>
        <p:nvSpPr>
          <p:cNvPr id="3" name="Text 1"/>
          <p:cNvSpPr txBox="1"/>
          <p:nvPr/>
        </p:nvSpPr>
        <p:spPr>
          <a:xfrm>
            <a:off x="457200" y="841248"/>
            <a:ext cx="8229600" cy="320040"/>
          </a:xfrm>
          <a:prstGeom prst="rect">
            <a:avLst/>
          </a:prstGeom>
          <a:noFill/>
          <a:ln/>
        </p:spPr>
        <p:txBody>
          <a:bodyPr wrap="square" lIns="0" tIns="0" rIns="0" bIns="0" rtlCol="0" anchor="t"/>
          <a:lstStyle/>
          <a:p>
            <a:pPr indent="0" marL="0">
              <a:buNone/>
            </a:pPr>
            <a:r>
              <a:rPr lang="en-US" sz="1300" dirty="0">
                <a:solidFill>
                  <a:srgbClr val="5B6678"/>
                </a:solidFill>
                <a:latin typeface="Arial" pitchFamily="34" charset="0"/>
                <a:ea typeface="Arial" pitchFamily="34" charset="-122"/>
                <a:cs typeface="Arial" pitchFamily="34" charset="-120"/>
              </a:rPr>
              <a:t>Two techniques from the domain-modeling literature, tested on our own runs</a:t>
            </a:r>
            <a:endParaRPr lang="en-US" sz="1300" dirty="0"/>
          </a:p>
        </p:txBody>
      </p:sp>
      <p:sp>
        <p:nvSpPr>
          <p:cNvPr id="4" name="Shape 2"/>
          <p:cNvSpPr/>
          <p:nvPr/>
        </p:nvSpPr>
        <p:spPr>
          <a:xfrm>
            <a:off x="457200" y="1325880"/>
            <a:ext cx="4023360" cy="2788920"/>
          </a:xfrm>
          <a:prstGeom prst="roundRect">
            <a:avLst>
              <a:gd name="adj" fmla="val 2623"/>
            </a:avLst>
          </a:prstGeom>
          <a:solidFill>
            <a:srgbClr val="EEF3F9"/>
          </a:solidFill>
          <a:ln w="12700">
            <a:solidFill>
              <a:srgbClr val="EEF3F9"/>
            </a:solidFill>
            <a:prstDash val="solid"/>
          </a:ln>
        </p:spPr>
      </p:sp>
      <p:sp>
        <p:nvSpPr>
          <p:cNvPr id="5" name="Text 3"/>
          <p:cNvSpPr txBox="1"/>
          <p:nvPr/>
        </p:nvSpPr>
        <p:spPr>
          <a:xfrm>
            <a:off x="640080" y="1417320"/>
            <a:ext cx="3657600" cy="274320"/>
          </a:xfrm>
          <a:prstGeom prst="rect">
            <a:avLst/>
          </a:prstGeom>
          <a:noFill/>
          <a:ln/>
        </p:spPr>
        <p:txBody>
          <a:bodyPr wrap="square" lIns="0" tIns="0" rIns="0" bIns="0" rtlCol="0" anchor="t"/>
          <a:lstStyle/>
          <a:p>
            <a:pPr indent="0" marL="0">
              <a:buNone/>
            </a:pPr>
            <a:r>
              <a:rPr lang="en-US" sz="1350" b="1" dirty="0">
                <a:solidFill>
                  <a:srgbClr val="0B2F57"/>
                </a:solidFill>
                <a:latin typeface="Arial" pitchFamily="34" charset="0"/>
                <a:ea typeface="Arial" pitchFamily="34" charset="-122"/>
                <a:cs typeface="Arial" pitchFamily="34" charset="-120"/>
              </a:rPr>
              <a:t>Self-consistency voting</a:t>
            </a:r>
            <a:endParaRPr lang="en-US" sz="1350" dirty="0"/>
          </a:p>
        </p:txBody>
      </p:sp>
      <p:sp>
        <p:nvSpPr>
          <p:cNvPr id="6" name="Text 4"/>
          <p:cNvSpPr txBox="1"/>
          <p:nvPr/>
        </p:nvSpPr>
        <p:spPr>
          <a:xfrm>
            <a:off x="640080" y="1709928"/>
            <a:ext cx="3657600" cy="411480"/>
          </a:xfrm>
          <a:prstGeom prst="rect">
            <a:avLst/>
          </a:prstGeom>
          <a:noFill/>
          <a:ln/>
        </p:spPr>
        <p:txBody>
          <a:bodyPr wrap="square" lIns="0" tIns="0" rIns="0" bIns="0" rtlCol="0" anchor="t"/>
          <a:lstStyle/>
          <a:p>
            <a:pPr indent="0" marL="0">
              <a:buNone/>
            </a:pPr>
            <a:r>
              <a:rPr lang="en-US" sz="1000" dirty="0">
                <a:solidFill>
                  <a:srgbClr val="5B6678"/>
                </a:solidFill>
                <a:latin typeface="Arial" pitchFamily="34" charset="0"/>
                <a:ea typeface="Arial" pitchFamily="34" charset="-122"/>
                <a:cs typeface="Arial" pitchFamily="34" charset="-120"/>
              </a:rPr>
              <a:t>Keep a phrase only if k of n repeated runs list it (suggested by Chen et al. 2023; AbsCon 2025).</a:t>
            </a:r>
            <a:endParaRPr lang="en-US" sz="10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40080" y="2194560"/>
          <a:ext cx="3657600" cy="914400"/>
        </p:xfrm>
        <a:graphic>
          <a:graphicData uri="http://schemas.openxmlformats.org/drawingml/2006/table">
            <a:tbl>
              <a:tblPr/>
              <a:tblGrid>
                <a:gridCol w="1737360"/>
                <a:gridCol w="914400"/>
                <a:gridCol w="1005840"/>
              </a:tblGrid>
              <a:tr h="274320">
                <a:tc>
                  <a:txBody>
                    <a:bodyPr/>
                    <a:lstStyle/>
                    <a:p>
                      <a:pPr indent="0" marL="0">
                        <a:buNone/>
                      </a:pPr>
                      <a:r>
                        <a:rPr lang="en-US" sz="1100" b="1" dirty="0">
                          <a:solidFill>
                            <a:srgbClr val="FFFFFF"/>
                          </a:solidFill>
                          <a:latin typeface="Arial" pitchFamily="34" charset="0"/>
                          <a:ea typeface="Arial" pitchFamily="34" charset="-122"/>
                          <a:cs typeface="Arial" pitchFamily="34" charset="-120"/>
                        </a:rPr>
                        <a:t>Repeated runs</a:t>
                      </a:r>
                      <a:endParaRPr lang="en-US" sz="1100" dirty="0">
                        <a:latin typeface="Arial" charset="0"/>
                        <a:ea typeface="Arial" charset="0"/>
                        <a:cs typeface="Arial" charset="0"/>
                      </a:endParaRPr>
                    </a:p>
                  </a:txBody>
                  <a:tcPr marL="91440" marR="91440" marT="45720" marB="45720">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0B2F57"/>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Single run</a:t>
                      </a:r>
                      <a:endParaRPr lang="en-US" sz="1100" dirty="0">
                        <a:latin typeface="Arial" charset="0"/>
                        <a:ea typeface="Arial" charset="0"/>
                        <a:cs typeface="Arial" charset="0"/>
                      </a:endParaRPr>
                    </a:p>
                  </a:txBody>
                  <a:tcPr marL="91440" marR="91440" marT="45720" marB="45720">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0B2F57"/>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Best voting*</a:t>
                      </a:r>
                      <a:endParaRPr lang="en-US" sz="1100" dirty="0">
                        <a:latin typeface="Arial" charset="0"/>
                        <a:ea typeface="Arial" charset="0"/>
                        <a:cs typeface="Arial" charset="0"/>
                      </a:endParaRPr>
                    </a:p>
                  </a:txBody>
                  <a:tcPr marL="91440" marR="91440" marT="45720" marB="45720">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0B2F57"/>
                    </a:solidFill>
                  </a:tcPr>
                </a:tc>
              </a:tr>
              <a:tr h="274320">
                <a:tc>
                  <a:txBody>
                    <a:bodyPr/>
                    <a:lstStyle/>
                    <a:p>
                      <a:pPr indent="0" marL="0">
                        <a:buNone/>
                      </a:pPr>
                      <a:r>
                        <a:rPr lang="en-US" sz="1100" dirty="0">
                          <a:solidFill>
                            <a:srgbClr val="1A2233"/>
                          </a:solidFill>
                          <a:latin typeface="Arial" pitchFamily="34" charset="0"/>
                          <a:ea typeface="Arial" pitchFamily="34" charset="-122"/>
                          <a:cs typeface="Arial" pitchFamily="34" charset="-120"/>
                        </a:rPr>
                        <a:t>P1 Car rental (n=2)</a:t>
                      </a:r>
                      <a:endParaRPr lang="en-US" sz="1100" dirty="0">
                        <a:latin typeface="Arial" charset="0"/>
                        <a:ea typeface="Arial" charset="0"/>
                        <a:cs typeface="Arial" charset="0"/>
                      </a:endParaRPr>
                    </a:p>
                  </a:txBody>
                  <a:tcPr marL="91440" marR="91440" marT="45720" marB="45720">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c>
                  <a:txBody>
                    <a:bodyPr/>
                    <a:lstStyle/>
                    <a:p>
                      <a:pPr indent="0" marL="0">
                        <a:buNone/>
                      </a:pPr>
                      <a:r>
                        <a:rPr lang="en-US" sz="1100" dirty="0">
                          <a:solidFill>
                            <a:srgbClr val="1A2233"/>
                          </a:solidFill>
                          <a:latin typeface="Arial" pitchFamily="34" charset="0"/>
                          <a:ea typeface="Arial" pitchFamily="34" charset="-122"/>
                          <a:cs typeface="Arial" pitchFamily="34" charset="-120"/>
                        </a:rPr>
                        <a:t>60.0</a:t>
                      </a:r>
                      <a:endParaRPr lang="en-US" sz="1100" dirty="0">
                        <a:latin typeface="Arial" charset="0"/>
                        <a:ea typeface="Arial" charset="0"/>
                        <a:cs typeface="Arial" charset="0"/>
                      </a:endParaRPr>
                    </a:p>
                  </a:txBody>
                  <a:tcPr marL="91440" marR="91440" marT="45720" marB="45720">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c>
                  <a:txBody>
                    <a:bodyPr/>
                    <a:lstStyle/>
                    <a:p>
                      <a:pPr indent="0" marL="0">
                        <a:buNone/>
                      </a:pPr>
                      <a:r>
                        <a:rPr lang="en-US" sz="1100" b="1" dirty="0">
                          <a:solidFill>
                            <a:srgbClr val="1A2233"/>
                          </a:solidFill>
                          <a:latin typeface="Arial" pitchFamily="34" charset="0"/>
                          <a:ea typeface="Arial" pitchFamily="34" charset="-122"/>
                          <a:cs typeface="Arial" pitchFamily="34" charset="-120"/>
                        </a:rPr>
                        <a:t>60.4</a:t>
                      </a:r>
                      <a:endParaRPr lang="en-US" sz="1100" dirty="0">
                        <a:latin typeface="Arial" charset="0"/>
                        <a:ea typeface="Arial" charset="0"/>
                        <a:cs typeface="Arial" charset="0"/>
                      </a:endParaRPr>
                    </a:p>
                  </a:txBody>
                  <a:tcPr marL="91440" marR="91440" marT="45720" marB="45720">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r>
              <a:tr h="274320">
                <a:tc>
                  <a:txBody>
                    <a:bodyPr/>
                    <a:lstStyle/>
                    <a:p>
                      <a:pPr indent="0" marL="0">
                        <a:buNone/>
                      </a:pPr>
                      <a:r>
                        <a:rPr lang="en-US" sz="1100" dirty="0">
                          <a:solidFill>
                            <a:srgbClr val="1A2233"/>
                          </a:solidFill>
                          <a:latin typeface="Arial" pitchFamily="34" charset="0"/>
                          <a:ea typeface="Arial" pitchFamily="34" charset="-122"/>
                          <a:cs typeface="Arial" pitchFamily="34" charset="-120"/>
                        </a:rPr>
                        <a:t>P1 Library (n=2)</a:t>
                      </a:r>
                      <a:endParaRPr lang="en-US" sz="1100" dirty="0">
                        <a:latin typeface="Arial" charset="0"/>
                        <a:ea typeface="Arial" charset="0"/>
                        <a:cs typeface="Arial" charset="0"/>
                      </a:endParaRPr>
                    </a:p>
                  </a:txBody>
                  <a:tcPr marL="91440" marR="91440" marT="45720" marB="45720">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c>
                  <a:txBody>
                    <a:bodyPr/>
                    <a:lstStyle/>
                    <a:p>
                      <a:pPr indent="0" marL="0">
                        <a:buNone/>
                      </a:pPr>
                      <a:r>
                        <a:rPr lang="en-US" sz="1100" dirty="0">
                          <a:solidFill>
                            <a:srgbClr val="1A2233"/>
                          </a:solidFill>
                          <a:latin typeface="Arial" pitchFamily="34" charset="0"/>
                          <a:ea typeface="Arial" pitchFamily="34" charset="-122"/>
                          <a:cs typeface="Arial" pitchFamily="34" charset="-120"/>
                        </a:rPr>
                        <a:t>88.7</a:t>
                      </a:r>
                      <a:endParaRPr lang="en-US" sz="1100" dirty="0">
                        <a:latin typeface="Arial" charset="0"/>
                        <a:ea typeface="Arial" charset="0"/>
                        <a:cs typeface="Arial" charset="0"/>
                      </a:endParaRPr>
                    </a:p>
                  </a:txBody>
                  <a:tcPr marL="91440" marR="91440" marT="45720" marB="45720">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c>
                  <a:txBody>
                    <a:bodyPr/>
                    <a:lstStyle/>
                    <a:p>
                      <a:pPr indent="0" marL="0">
                        <a:buNone/>
                      </a:pPr>
                      <a:r>
                        <a:rPr lang="en-US" sz="1100" b="1" dirty="0">
                          <a:solidFill>
                            <a:srgbClr val="1A2233"/>
                          </a:solidFill>
                          <a:latin typeface="Arial" pitchFamily="34" charset="0"/>
                          <a:ea typeface="Arial" pitchFamily="34" charset="-122"/>
                          <a:cs typeface="Arial" pitchFamily="34" charset="-120"/>
                        </a:rPr>
                        <a:t>84.6</a:t>
                      </a:r>
                      <a:endParaRPr lang="en-US" sz="1100" dirty="0">
                        <a:latin typeface="Arial" charset="0"/>
                        <a:ea typeface="Arial" charset="0"/>
                        <a:cs typeface="Arial" charset="0"/>
                      </a:endParaRPr>
                    </a:p>
                  </a:txBody>
                  <a:tcPr marL="91440" marR="91440" marT="45720" marB="45720">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r>
              <a:tr h="274320">
                <a:tc>
                  <a:txBody>
                    <a:bodyPr/>
                    <a:lstStyle/>
                    <a:p>
                      <a:pPr indent="0" marL="0">
                        <a:buNone/>
                      </a:pPr>
                      <a:r>
                        <a:rPr lang="en-US" sz="1100" dirty="0">
                          <a:solidFill>
                            <a:srgbClr val="1A2233"/>
                          </a:solidFill>
                          <a:latin typeface="Arial" pitchFamily="34" charset="0"/>
                          <a:ea typeface="Arial" pitchFamily="34" charset="-122"/>
                          <a:cs typeface="Arial" pitchFamily="34" charset="-120"/>
                        </a:rPr>
                        <a:t>P1 NTSS (n=2)</a:t>
                      </a:r>
                      <a:endParaRPr lang="en-US" sz="1100" dirty="0">
                        <a:latin typeface="Arial" charset="0"/>
                        <a:ea typeface="Arial" charset="0"/>
                        <a:cs typeface="Arial" charset="0"/>
                      </a:endParaRPr>
                    </a:p>
                  </a:txBody>
                  <a:tcPr marL="91440" marR="91440" marT="45720" marB="45720">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c>
                  <a:txBody>
                    <a:bodyPr/>
                    <a:lstStyle/>
                    <a:p>
                      <a:pPr indent="0" marL="0">
                        <a:buNone/>
                      </a:pPr>
                      <a:r>
                        <a:rPr lang="en-US" sz="1100" dirty="0">
                          <a:solidFill>
                            <a:srgbClr val="1A2233"/>
                          </a:solidFill>
                          <a:latin typeface="Arial" pitchFamily="34" charset="0"/>
                          <a:ea typeface="Arial" pitchFamily="34" charset="-122"/>
                          <a:cs typeface="Arial" pitchFamily="34" charset="-120"/>
                        </a:rPr>
                        <a:t>80.8</a:t>
                      </a:r>
                      <a:endParaRPr lang="en-US" sz="1100" dirty="0">
                        <a:latin typeface="Arial" charset="0"/>
                        <a:ea typeface="Arial" charset="0"/>
                        <a:cs typeface="Arial" charset="0"/>
                      </a:endParaRPr>
                    </a:p>
                  </a:txBody>
                  <a:tcPr marL="91440" marR="91440" marT="45720" marB="45720">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c>
                  <a:txBody>
                    <a:bodyPr/>
                    <a:lstStyle/>
                    <a:p>
                      <a:pPr indent="0" marL="0">
                        <a:buNone/>
                      </a:pPr>
                      <a:r>
                        <a:rPr lang="en-US" sz="1100" b="1" dirty="0">
                          <a:solidFill>
                            <a:srgbClr val="1A2233"/>
                          </a:solidFill>
                          <a:latin typeface="Arial" pitchFamily="34" charset="0"/>
                          <a:ea typeface="Arial" pitchFamily="34" charset="-122"/>
                          <a:cs typeface="Arial" pitchFamily="34" charset="-120"/>
                        </a:rPr>
                        <a:t>80.5</a:t>
                      </a:r>
                      <a:endParaRPr lang="en-US" sz="1100" dirty="0">
                        <a:latin typeface="Arial" charset="0"/>
                        <a:ea typeface="Arial" charset="0"/>
                        <a:cs typeface="Arial" charset="0"/>
                      </a:endParaRPr>
                    </a:p>
                  </a:txBody>
                  <a:tcPr marL="91440" marR="91440" marT="45720" marB="45720">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r>
              <a:tr h="274320">
                <a:tc>
                  <a:txBody>
                    <a:bodyPr/>
                    <a:lstStyle/>
                    <a:p>
                      <a:pPr indent="0" marL="0">
                        <a:buNone/>
                      </a:pPr>
                      <a:r>
                        <a:rPr lang="en-US" sz="1100" dirty="0">
                          <a:solidFill>
                            <a:srgbClr val="1A2233"/>
                          </a:solidFill>
                          <a:latin typeface="Arial" pitchFamily="34" charset="0"/>
                          <a:ea typeface="Arial" pitchFamily="34" charset="-122"/>
                          <a:cs typeface="Arial" pitchFamily="34" charset="-120"/>
                        </a:rPr>
                        <a:t>P4 Library (n=2)</a:t>
                      </a:r>
                      <a:endParaRPr lang="en-US" sz="1100" dirty="0">
                        <a:latin typeface="Arial" charset="0"/>
                        <a:ea typeface="Arial" charset="0"/>
                        <a:cs typeface="Arial" charset="0"/>
                      </a:endParaRPr>
                    </a:p>
                  </a:txBody>
                  <a:tcPr marL="91440" marR="91440" marT="45720" marB="45720">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c>
                  <a:txBody>
                    <a:bodyPr/>
                    <a:lstStyle/>
                    <a:p>
                      <a:pPr indent="0" marL="0">
                        <a:buNone/>
                      </a:pPr>
                      <a:r>
                        <a:rPr lang="en-US" sz="1100" dirty="0">
                          <a:solidFill>
                            <a:srgbClr val="1A2233"/>
                          </a:solidFill>
                          <a:latin typeface="Arial" pitchFamily="34" charset="0"/>
                          <a:ea typeface="Arial" pitchFamily="34" charset="-122"/>
                          <a:cs typeface="Arial" pitchFamily="34" charset="-120"/>
                        </a:rPr>
                        <a:t>93.7</a:t>
                      </a:r>
                      <a:endParaRPr lang="en-US" sz="1100" dirty="0">
                        <a:latin typeface="Arial" charset="0"/>
                        <a:ea typeface="Arial" charset="0"/>
                        <a:cs typeface="Arial" charset="0"/>
                      </a:endParaRPr>
                    </a:p>
                  </a:txBody>
                  <a:tcPr marL="91440" marR="91440" marT="45720" marB="45720">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c>
                  <a:txBody>
                    <a:bodyPr/>
                    <a:lstStyle/>
                    <a:p>
                      <a:pPr indent="0" marL="0">
                        <a:buNone/>
                      </a:pPr>
                      <a:r>
                        <a:rPr lang="en-US" sz="1100" b="1" dirty="0">
                          <a:solidFill>
                            <a:srgbClr val="1A2233"/>
                          </a:solidFill>
                          <a:latin typeface="Arial" pitchFamily="34" charset="0"/>
                          <a:ea typeface="Arial" pitchFamily="34" charset="-122"/>
                          <a:cs typeface="Arial" pitchFamily="34" charset="-120"/>
                        </a:rPr>
                        <a:t>91.5</a:t>
                      </a:r>
                      <a:endParaRPr lang="en-US" sz="1100" dirty="0">
                        <a:latin typeface="Arial" charset="0"/>
                        <a:ea typeface="Arial" charset="0"/>
                        <a:cs typeface="Arial" charset="0"/>
                      </a:endParaRPr>
                    </a:p>
                  </a:txBody>
                  <a:tcPr marL="91440" marR="91440" marT="45720" marB="45720">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r>
            </a:tbl>
          </a:graphicData>
        </a:graphic>
      </p:graphicFrame>
      <p:sp>
        <p:nvSpPr>
          <p:cNvPr id="8" name="Text 5"/>
          <p:cNvSpPr txBox="1"/>
          <p:nvPr/>
        </p:nvSpPr>
        <p:spPr>
          <a:xfrm>
            <a:off x="640080" y="3657600"/>
            <a:ext cx="3657600" cy="274320"/>
          </a:xfrm>
          <a:prstGeom prst="rect">
            <a:avLst/>
          </a:prstGeom>
          <a:noFill/>
          <a:ln/>
        </p:spPr>
        <p:txBody>
          <a:bodyPr wrap="square" lIns="0" tIns="0" rIns="0" bIns="0" rtlCol="0" anchor="t"/>
          <a:lstStyle/>
          <a:p>
            <a:pPr indent="0" marL="0">
              <a:buNone/>
            </a:pPr>
            <a:r>
              <a:rPr lang="en-US" sz="900" dirty="0">
                <a:solidFill>
                  <a:srgbClr val="5B6678"/>
                </a:solidFill>
                <a:latin typeface="Arial" pitchFamily="34" charset="0"/>
                <a:ea typeface="Arial" pitchFamily="34" charset="-122"/>
                <a:cs typeface="Arial" pitchFamily="34" charset="-120"/>
              </a:rPr>
              <a:t>* threshold chosen after seeing the scores, an advantage voting would not have in practice.</a:t>
            </a:r>
            <a:endParaRPr lang="en-US" sz="900" dirty="0"/>
          </a:p>
        </p:txBody>
      </p:sp>
      <p:sp>
        <p:nvSpPr>
          <p:cNvPr id="9" name="Shape 6"/>
          <p:cNvSpPr/>
          <p:nvPr/>
        </p:nvSpPr>
        <p:spPr>
          <a:xfrm>
            <a:off x="4663440" y="1325880"/>
            <a:ext cx="4023360" cy="2788920"/>
          </a:xfrm>
          <a:prstGeom prst="roundRect">
            <a:avLst>
              <a:gd name="adj" fmla="val 2623"/>
            </a:avLst>
          </a:prstGeom>
          <a:solidFill>
            <a:srgbClr val="EEF3F9"/>
          </a:solidFill>
          <a:ln w="12700">
            <a:solidFill>
              <a:srgbClr val="EEF3F9"/>
            </a:solidFill>
            <a:prstDash val="solid"/>
          </a:ln>
        </p:spPr>
      </p:sp>
      <p:sp>
        <p:nvSpPr>
          <p:cNvPr id="10" name="Text 7"/>
          <p:cNvSpPr txBox="1"/>
          <p:nvPr/>
        </p:nvSpPr>
        <p:spPr>
          <a:xfrm>
            <a:off x="4846320" y="1417320"/>
            <a:ext cx="3657600" cy="274320"/>
          </a:xfrm>
          <a:prstGeom prst="rect">
            <a:avLst/>
          </a:prstGeom>
          <a:noFill/>
          <a:ln/>
        </p:spPr>
        <p:txBody>
          <a:bodyPr wrap="square" lIns="0" tIns="0" rIns="0" bIns="0" rtlCol="0" anchor="t"/>
          <a:lstStyle/>
          <a:p>
            <a:pPr indent="0" marL="0">
              <a:buNone/>
            </a:pPr>
            <a:r>
              <a:rPr lang="en-US" sz="1350" b="1" dirty="0">
                <a:solidFill>
                  <a:srgbClr val="0B2F57"/>
                </a:solidFill>
                <a:latin typeface="Arial" pitchFamily="34" charset="0"/>
                <a:ea typeface="Arial" pitchFamily="34" charset="-122"/>
                <a:cs typeface="Arial" pitchFamily="34" charset="-120"/>
              </a:rPr>
              <a:t>Most capable model, same prompt</a:t>
            </a:r>
            <a:endParaRPr lang="en-US" sz="1350" dirty="0"/>
          </a:p>
        </p:txBody>
      </p:sp>
      <p:sp>
        <p:nvSpPr>
          <p:cNvPr id="11" name="Text 8"/>
          <p:cNvSpPr txBox="1"/>
          <p:nvPr/>
        </p:nvSpPr>
        <p:spPr>
          <a:xfrm>
            <a:off x="4846320" y="1709928"/>
            <a:ext cx="3657600" cy="411480"/>
          </a:xfrm>
          <a:prstGeom prst="rect">
            <a:avLst/>
          </a:prstGeom>
          <a:noFill/>
          <a:ln/>
        </p:spPr>
        <p:txBody>
          <a:bodyPr wrap="square" lIns="0" tIns="0" rIns="0" bIns="0" rtlCol="0" anchor="t"/>
          <a:lstStyle/>
          <a:p>
            <a:pPr indent="0" marL="0">
              <a:buNone/>
            </a:pPr>
            <a:r>
              <a:rPr lang="en-US" sz="1000" dirty="0">
                <a:solidFill>
                  <a:srgbClr val="5B6678"/>
                </a:solidFill>
                <a:latin typeface="Arial" pitchFamily="34" charset="0"/>
                <a:ea typeface="Arial" pitchFamily="34" charset="-122"/>
                <a:cs typeface="Arial" pitchFamily="34" charset="-120"/>
              </a:rPr>
              <a:t>Larger models do better in both papers. Identical final prompts, run on the most capable tier.</a:t>
            </a:r>
            <a:endParaRPr lang="en-US" sz="1000" dirty="0"/>
          </a:p>
        </p:txBody>
      </p:sp>
      <p:graphicFrame>
        <p:nvGraphicFramePr>
          <p:cNvPr id="29" name="Table 1"/>
          <p:cNvGraphicFramePr>
            <a:graphicFrameLocks noGrp="1"/>
          </p:cNvGraphicFramePr>
          <p:nvPr>
            <p:extLst>
              <p:ext uri="{D42A27DB-BD31-4B8C-83A1-F6EECF244321}">
                <p14:modId xmlns:p14="http://schemas.microsoft.com/office/powerpoint/2010/main" val="1579011935"/>
              </p:ext>
            </p:extLst>
          </p:nvPr>
        </p:nvGraphicFramePr>
        <p:xfrm>
          <a:off x="4846320" y="2194560"/>
          <a:ext cx="3657600" cy="914400"/>
        </p:xfrm>
        <a:graphic>
          <a:graphicData uri="http://schemas.openxmlformats.org/drawingml/2006/table">
            <a:tbl>
              <a:tblPr/>
              <a:tblGrid>
                <a:gridCol w="1554480"/>
                <a:gridCol w="1051560"/>
                <a:gridCol w="1051560"/>
              </a:tblGrid>
              <a:tr h="246888">
                <a:tc>
                  <a:txBody>
                    <a:bodyPr/>
                    <a:lstStyle/>
                    <a:p>
                      <a:pPr indent="0" marL="0">
                        <a:buNone/>
                      </a:pPr>
                      <a:r>
                        <a:rPr lang="en-US" sz="1100" b="1" dirty="0">
                          <a:solidFill>
                            <a:srgbClr val="FFFFFF"/>
                          </a:solidFill>
                          <a:latin typeface="Arial" pitchFamily="34" charset="0"/>
                          <a:ea typeface="Arial" pitchFamily="34" charset="-122"/>
                          <a:cs typeface="Arial" pitchFamily="34" charset="-120"/>
                        </a:rPr>
                        <a:t>F1 (precision)</a:t>
                      </a:r>
                      <a:endParaRPr lang="en-US" sz="1100" dirty="0">
                        <a:latin typeface="Arial" charset="0"/>
                        <a:ea typeface="Arial" charset="0"/>
                        <a:cs typeface="Arial" charset="0"/>
                      </a:endParaRPr>
                    </a:p>
                  </a:txBody>
                  <a:tcPr marL="91440" marR="91440" marT="45720" marB="45720">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0B2F57"/>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Default</a:t>
                      </a:r>
                      <a:endParaRPr lang="en-US" sz="1100" dirty="0">
                        <a:latin typeface="Arial" charset="0"/>
                        <a:ea typeface="Arial" charset="0"/>
                        <a:cs typeface="Arial" charset="0"/>
                      </a:endParaRPr>
                    </a:p>
                  </a:txBody>
                  <a:tcPr marL="91440" marR="91440" marT="45720" marB="45720">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0B2F57"/>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Capable</a:t>
                      </a:r>
                      <a:endParaRPr lang="en-US" sz="1100" dirty="0">
                        <a:latin typeface="Arial" charset="0"/>
                        <a:ea typeface="Arial" charset="0"/>
                        <a:cs typeface="Arial" charset="0"/>
                      </a:endParaRPr>
                    </a:p>
                  </a:txBody>
                  <a:tcPr marL="91440" marR="91440" marT="45720" marB="45720">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0B2F57"/>
                    </a:solidFill>
                  </a:tcPr>
                </a:tc>
              </a:tr>
              <a:tr h="246888">
                <a:tc>
                  <a:txBody>
                    <a:bodyPr/>
                    <a:lstStyle/>
                    <a:p>
                      <a:pPr indent="0" marL="0">
                        <a:buNone/>
                      </a:pPr>
                      <a:r>
                        <a:rPr lang="en-US" sz="1100" dirty="0">
                          <a:solidFill>
                            <a:srgbClr val="1A2233"/>
                          </a:solidFill>
                          <a:latin typeface="Arial" pitchFamily="34" charset="0"/>
                          <a:ea typeface="Arial" pitchFamily="34" charset="-122"/>
                          <a:cs typeface="Arial" pitchFamily="34" charset="-120"/>
                        </a:rPr>
                        <a:t>Identify Library</a:t>
                      </a:r>
                      <a:endParaRPr lang="en-US" sz="1100" dirty="0">
                        <a:latin typeface="Arial" charset="0"/>
                        <a:ea typeface="Arial" charset="0"/>
                        <a:cs typeface="Arial" charset="0"/>
                      </a:endParaRPr>
                    </a:p>
                  </a:txBody>
                  <a:tcPr marL="91440" marR="91440" marT="45720" marB="45720">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c>
                  <a:txBody>
                    <a:bodyPr/>
                    <a:lstStyle/>
                    <a:p>
                      <a:pPr indent="0" marL="0">
                        <a:buNone/>
                      </a:pPr>
                      <a:r>
                        <a:rPr lang="en-US" sz="1100" dirty="0">
                          <a:solidFill>
                            <a:srgbClr val="1A2233"/>
                          </a:solidFill>
                          <a:latin typeface="Arial" pitchFamily="34" charset="0"/>
                          <a:ea typeface="Arial" pitchFamily="34" charset="-122"/>
                          <a:cs typeface="Arial" pitchFamily="34" charset="-120"/>
                        </a:rPr>
                        <a:t>93.7 (95)</a:t>
                      </a:r>
                      <a:endParaRPr lang="en-US" sz="1100" dirty="0">
                        <a:latin typeface="Arial" charset="0"/>
                        <a:ea typeface="Arial" charset="0"/>
                        <a:cs typeface="Arial" charset="0"/>
                      </a:endParaRPr>
                    </a:p>
                  </a:txBody>
                  <a:tcPr marL="91440" marR="91440" marT="45720" marB="45720">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c>
                  <a:txBody>
                    <a:bodyPr/>
                    <a:lstStyle/>
                    <a:p>
                      <a:pPr indent="0" marL="0">
                        <a:buNone/>
                      </a:pPr>
                      <a:r>
                        <a:rPr lang="en-US" sz="1100" dirty="0">
                          <a:solidFill>
                            <a:srgbClr val="B42318"/>
                          </a:solidFill>
                          <a:latin typeface="Arial" pitchFamily="34" charset="0"/>
                          <a:ea typeface="Arial" pitchFamily="34" charset="-122"/>
                          <a:cs typeface="Arial" pitchFamily="34" charset="-120"/>
                        </a:rPr>
                        <a:t>92.3 (89)</a:t>
                      </a:r>
                      <a:endParaRPr lang="en-US" sz="1100" dirty="0">
                        <a:latin typeface="Arial" charset="0"/>
                        <a:ea typeface="Arial" charset="0"/>
                        <a:cs typeface="Arial" charset="0"/>
                      </a:endParaRPr>
                    </a:p>
                  </a:txBody>
                  <a:tcPr marL="91440" marR="91440" marT="45720" marB="45720">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r>
              <a:tr h="246888">
                <a:tc>
                  <a:txBody>
                    <a:bodyPr/>
                    <a:lstStyle/>
                    <a:p>
                      <a:pPr indent="0" marL="0">
                        <a:buNone/>
                      </a:pPr>
                      <a:r>
                        <a:rPr lang="en-US" sz="1100" dirty="0">
                          <a:solidFill>
                            <a:srgbClr val="1A2233"/>
                          </a:solidFill>
                          <a:latin typeface="Arial" pitchFamily="34" charset="0"/>
                          <a:ea typeface="Arial" pitchFamily="34" charset="-122"/>
                          <a:cs typeface="Arial" pitchFamily="34" charset="-120"/>
                        </a:rPr>
                        <a:t>Identify Car rental</a:t>
                      </a:r>
                      <a:endParaRPr lang="en-US" sz="1100" dirty="0">
                        <a:latin typeface="Arial" charset="0"/>
                        <a:ea typeface="Arial" charset="0"/>
                        <a:cs typeface="Arial" charset="0"/>
                      </a:endParaRPr>
                    </a:p>
                  </a:txBody>
                  <a:tcPr marL="91440" marR="91440" marT="45720" marB="45720">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c>
                  <a:txBody>
                    <a:bodyPr/>
                    <a:lstStyle/>
                    <a:p>
                      <a:pPr indent="0" marL="0">
                        <a:buNone/>
                      </a:pPr>
                      <a:r>
                        <a:rPr lang="en-US" sz="1100" dirty="0">
                          <a:solidFill>
                            <a:srgbClr val="1A2233"/>
                          </a:solidFill>
                          <a:latin typeface="Arial" pitchFamily="34" charset="0"/>
                          <a:ea typeface="Arial" pitchFamily="34" charset="-122"/>
                          <a:cs typeface="Arial" pitchFamily="34" charset="-120"/>
                        </a:rPr>
                        <a:t>71.9 (63)</a:t>
                      </a:r>
                      <a:endParaRPr lang="en-US" sz="1100" dirty="0">
                        <a:latin typeface="Arial" charset="0"/>
                        <a:ea typeface="Arial" charset="0"/>
                        <a:cs typeface="Arial" charset="0"/>
                      </a:endParaRPr>
                    </a:p>
                  </a:txBody>
                  <a:tcPr marL="91440" marR="91440" marT="45720" marB="45720">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c>
                  <a:txBody>
                    <a:bodyPr/>
                    <a:lstStyle/>
                    <a:p>
                      <a:pPr indent="0" marL="0">
                        <a:buNone/>
                      </a:pPr>
                      <a:r>
                        <a:rPr lang="en-US" sz="1100" dirty="0">
                          <a:solidFill>
                            <a:srgbClr val="B42318"/>
                          </a:solidFill>
                          <a:latin typeface="Arial" pitchFamily="34" charset="0"/>
                          <a:ea typeface="Arial" pitchFamily="34" charset="-122"/>
                          <a:cs typeface="Arial" pitchFamily="34" charset="-120"/>
                        </a:rPr>
                        <a:t>71.9 (59)</a:t>
                      </a:r>
                      <a:endParaRPr lang="en-US" sz="1100" dirty="0">
                        <a:latin typeface="Arial" charset="0"/>
                        <a:ea typeface="Arial" charset="0"/>
                        <a:cs typeface="Arial" charset="0"/>
                      </a:endParaRPr>
                    </a:p>
                  </a:txBody>
                  <a:tcPr marL="91440" marR="91440" marT="45720" marB="45720">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r>
              <a:tr h="246888">
                <a:tc>
                  <a:txBody>
                    <a:bodyPr/>
                    <a:lstStyle/>
                    <a:p>
                      <a:pPr indent="0" marL="0">
                        <a:buNone/>
                      </a:pPr>
                      <a:r>
                        <a:rPr lang="en-US" sz="1100" dirty="0">
                          <a:solidFill>
                            <a:srgbClr val="1A2233"/>
                          </a:solidFill>
                          <a:latin typeface="Arial" pitchFamily="34" charset="0"/>
                          <a:ea typeface="Arial" pitchFamily="34" charset="-122"/>
                          <a:cs typeface="Arial" pitchFamily="34" charset="-120"/>
                        </a:rPr>
                        <a:t>Identify NTSS</a:t>
                      </a:r>
                      <a:endParaRPr lang="en-US" sz="1100" dirty="0">
                        <a:latin typeface="Arial" charset="0"/>
                        <a:ea typeface="Arial" charset="0"/>
                        <a:cs typeface="Arial" charset="0"/>
                      </a:endParaRPr>
                    </a:p>
                  </a:txBody>
                  <a:tcPr marL="91440" marR="91440" marT="45720" marB="45720">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c>
                  <a:txBody>
                    <a:bodyPr/>
                    <a:lstStyle/>
                    <a:p>
                      <a:pPr indent="0" marL="0">
                        <a:buNone/>
                      </a:pPr>
                      <a:r>
                        <a:rPr lang="en-US" sz="1100" dirty="0">
                          <a:solidFill>
                            <a:srgbClr val="1A2233"/>
                          </a:solidFill>
                          <a:latin typeface="Arial" pitchFamily="34" charset="0"/>
                          <a:ea typeface="Arial" pitchFamily="34" charset="-122"/>
                          <a:cs typeface="Arial" pitchFamily="34" charset="-120"/>
                        </a:rPr>
                        <a:t>89.6 (85)</a:t>
                      </a:r>
                      <a:endParaRPr lang="en-US" sz="1100" dirty="0">
                        <a:latin typeface="Arial" charset="0"/>
                        <a:ea typeface="Arial" charset="0"/>
                        <a:cs typeface="Arial" charset="0"/>
                      </a:endParaRPr>
                    </a:p>
                  </a:txBody>
                  <a:tcPr marL="91440" marR="91440" marT="45720" marB="45720">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c>
                  <a:txBody>
                    <a:bodyPr/>
                    <a:lstStyle/>
                    <a:p>
                      <a:pPr indent="0" marL="0">
                        <a:buNone/>
                      </a:pPr>
                      <a:r>
                        <a:rPr lang="en-US" sz="1100" dirty="0">
                          <a:solidFill>
                            <a:srgbClr val="B42318"/>
                          </a:solidFill>
                          <a:latin typeface="Arial" pitchFamily="34" charset="0"/>
                          <a:ea typeface="Arial" pitchFamily="34" charset="-122"/>
                          <a:cs typeface="Arial" pitchFamily="34" charset="-120"/>
                        </a:rPr>
                        <a:t>83.7 (75)</a:t>
                      </a:r>
                      <a:endParaRPr lang="en-US" sz="1100" dirty="0">
                        <a:latin typeface="Arial" charset="0"/>
                        <a:ea typeface="Arial" charset="0"/>
                        <a:cs typeface="Arial" charset="0"/>
                      </a:endParaRPr>
                    </a:p>
                  </a:txBody>
                  <a:tcPr marL="91440" marR="91440" marT="45720" marB="45720">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r>
              <a:tr h="246888">
                <a:tc>
                  <a:txBody>
                    <a:bodyPr/>
                    <a:lstStyle/>
                    <a:p>
                      <a:pPr indent="0" marL="0">
                        <a:buNone/>
                      </a:pPr>
                      <a:r>
                        <a:rPr lang="en-US" sz="1100" dirty="0">
                          <a:solidFill>
                            <a:srgbClr val="1A2233"/>
                          </a:solidFill>
                          <a:latin typeface="Arial" pitchFamily="34" charset="0"/>
                          <a:ea typeface="Arial" pitchFamily="34" charset="-122"/>
                          <a:cs typeface="Arial" pitchFamily="34" charset="-120"/>
                        </a:rPr>
                        <a:t>Classify Library</a:t>
                      </a:r>
                      <a:endParaRPr lang="en-US" sz="1100" dirty="0">
                        <a:latin typeface="Arial" charset="0"/>
                        <a:ea typeface="Arial" charset="0"/>
                        <a:cs typeface="Arial" charset="0"/>
                      </a:endParaRPr>
                    </a:p>
                  </a:txBody>
                  <a:tcPr marL="91440" marR="91440" marT="45720" marB="45720">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c>
                  <a:txBody>
                    <a:bodyPr/>
                    <a:lstStyle/>
                    <a:p>
                      <a:pPr indent="0" marL="0">
                        <a:buNone/>
                      </a:pPr>
                      <a:r>
                        <a:rPr lang="en-US" sz="1100" dirty="0">
                          <a:solidFill>
                            <a:srgbClr val="1A2233"/>
                          </a:solidFill>
                          <a:latin typeface="Arial" pitchFamily="34" charset="0"/>
                          <a:ea typeface="Arial" pitchFamily="34" charset="-122"/>
                          <a:cs typeface="Arial" pitchFamily="34" charset="-120"/>
                        </a:rPr>
                        <a:t>70.8 (71)</a:t>
                      </a:r>
                      <a:endParaRPr lang="en-US" sz="1100" dirty="0">
                        <a:latin typeface="Arial" charset="0"/>
                        <a:ea typeface="Arial" charset="0"/>
                        <a:cs typeface="Arial" charset="0"/>
                      </a:endParaRPr>
                    </a:p>
                  </a:txBody>
                  <a:tcPr marL="91440" marR="91440" marT="45720" marB="45720">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c>
                  <a:txBody>
                    <a:bodyPr/>
                    <a:lstStyle/>
                    <a:p>
                      <a:pPr indent="0" marL="0">
                        <a:buNone/>
                      </a:pPr>
                      <a:r>
                        <a:rPr lang="en-US" sz="1100" dirty="0">
                          <a:solidFill>
                            <a:srgbClr val="B42318"/>
                          </a:solidFill>
                          <a:latin typeface="Arial" pitchFamily="34" charset="0"/>
                          <a:ea typeface="Arial" pitchFamily="34" charset="-122"/>
                          <a:cs typeface="Arial" pitchFamily="34" charset="-120"/>
                        </a:rPr>
                        <a:t>63.2 (60)</a:t>
                      </a:r>
                      <a:endParaRPr lang="en-US" sz="1100" dirty="0">
                        <a:latin typeface="Arial" charset="0"/>
                        <a:ea typeface="Arial" charset="0"/>
                        <a:cs typeface="Arial" charset="0"/>
                      </a:endParaRPr>
                    </a:p>
                  </a:txBody>
                  <a:tcPr marL="91440" marR="91440" marT="45720" marB="45720">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r>
              <a:tr h="246888">
                <a:tc>
                  <a:txBody>
                    <a:bodyPr/>
                    <a:lstStyle/>
                    <a:p>
                      <a:pPr indent="0" marL="0">
                        <a:buNone/>
                      </a:pPr>
                      <a:r>
                        <a:rPr lang="en-US" sz="1100" dirty="0">
                          <a:solidFill>
                            <a:srgbClr val="1A2233"/>
                          </a:solidFill>
                          <a:latin typeface="Arial" pitchFamily="34" charset="0"/>
                          <a:ea typeface="Arial" pitchFamily="34" charset="-122"/>
                          <a:cs typeface="Arial" pitchFamily="34" charset="-120"/>
                        </a:rPr>
                        <a:t>Classify Car rental</a:t>
                      </a:r>
                      <a:endParaRPr lang="en-US" sz="1100" dirty="0">
                        <a:latin typeface="Arial" charset="0"/>
                        <a:ea typeface="Arial" charset="0"/>
                        <a:cs typeface="Arial" charset="0"/>
                      </a:endParaRPr>
                    </a:p>
                  </a:txBody>
                  <a:tcPr marL="91440" marR="91440" marT="45720" marB="45720">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c>
                  <a:txBody>
                    <a:bodyPr/>
                    <a:lstStyle/>
                    <a:p>
                      <a:pPr indent="0" marL="0">
                        <a:buNone/>
                      </a:pPr>
                      <a:r>
                        <a:rPr lang="en-US" sz="1100" dirty="0">
                          <a:solidFill>
                            <a:srgbClr val="1A2233"/>
                          </a:solidFill>
                          <a:latin typeface="Arial" pitchFamily="34" charset="0"/>
                          <a:ea typeface="Arial" pitchFamily="34" charset="-122"/>
                          <a:cs typeface="Arial" pitchFamily="34" charset="-120"/>
                        </a:rPr>
                        <a:t>47.2 (48)</a:t>
                      </a:r>
                      <a:endParaRPr lang="en-US" sz="1100" dirty="0">
                        <a:latin typeface="Arial" charset="0"/>
                        <a:ea typeface="Arial" charset="0"/>
                        <a:cs typeface="Arial" charset="0"/>
                      </a:endParaRPr>
                    </a:p>
                  </a:txBody>
                  <a:tcPr marL="91440" marR="91440" marT="45720" marB="45720">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c>
                  <a:txBody>
                    <a:bodyPr/>
                    <a:lstStyle/>
                    <a:p>
                      <a:pPr indent="0" marL="0">
                        <a:buNone/>
                      </a:pPr>
                      <a:r>
                        <a:rPr lang="en-US" sz="1100" dirty="0">
                          <a:solidFill>
                            <a:srgbClr val="B42318"/>
                          </a:solidFill>
                          <a:latin typeface="Arial" pitchFamily="34" charset="0"/>
                          <a:ea typeface="Arial" pitchFamily="34" charset="-122"/>
                          <a:cs typeface="Arial" pitchFamily="34" charset="-120"/>
                        </a:rPr>
                        <a:t>37.7 (33)</a:t>
                      </a:r>
                      <a:endParaRPr lang="en-US" sz="1100" dirty="0">
                        <a:latin typeface="Arial" charset="0"/>
                        <a:ea typeface="Arial" charset="0"/>
                        <a:cs typeface="Arial" charset="0"/>
                      </a:endParaRPr>
                    </a:p>
                  </a:txBody>
                  <a:tcPr marL="91440" marR="91440" marT="45720" marB="45720">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r>
              <a:tr h="246888">
                <a:tc>
                  <a:txBody>
                    <a:bodyPr/>
                    <a:lstStyle/>
                    <a:p>
                      <a:pPr indent="0" marL="0">
                        <a:buNone/>
                      </a:pPr>
                      <a:r>
                        <a:rPr lang="en-US" sz="1100" dirty="0">
                          <a:solidFill>
                            <a:srgbClr val="1A2233"/>
                          </a:solidFill>
                          <a:latin typeface="Arial" pitchFamily="34" charset="0"/>
                          <a:ea typeface="Arial" pitchFamily="34" charset="-122"/>
                          <a:cs typeface="Arial" pitchFamily="34" charset="-120"/>
                        </a:rPr>
                        <a:t>Classify NTSS</a:t>
                      </a:r>
                      <a:endParaRPr lang="en-US" sz="1100" dirty="0">
                        <a:latin typeface="Arial" charset="0"/>
                        <a:ea typeface="Arial" charset="0"/>
                        <a:cs typeface="Arial" charset="0"/>
                      </a:endParaRPr>
                    </a:p>
                  </a:txBody>
                  <a:tcPr marL="91440" marR="91440" marT="45720" marB="45720">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c>
                  <a:txBody>
                    <a:bodyPr/>
                    <a:lstStyle/>
                    <a:p>
                      <a:pPr indent="0" marL="0">
                        <a:buNone/>
                      </a:pPr>
                      <a:r>
                        <a:rPr lang="en-US" sz="1100" dirty="0">
                          <a:solidFill>
                            <a:srgbClr val="1A2233"/>
                          </a:solidFill>
                          <a:latin typeface="Arial" pitchFamily="34" charset="0"/>
                          <a:ea typeface="Arial" pitchFamily="34" charset="-122"/>
                          <a:cs typeface="Arial" pitchFamily="34" charset="-120"/>
                        </a:rPr>
                        <a:t>64.3 (56)</a:t>
                      </a:r>
                      <a:endParaRPr lang="en-US" sz="1100" dirty="0">
                        <a:latin typeface="Arial" charset="0"/>
                        <a:ea typeface="Arial" charset="0"/>
                        <a:cs typeface="Arial" charset="0"/>
                      </a:endParaRPr>
                    </a:p>
                  </a:txBody>
                  <a:tcPr marL="91440" marR="91440" marT="45720" marB="45720">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c>
                  <a:txBody>
                    <a:bodyPr/>
                    <a:lstStyle/>
                    <a:p>
                      <a:pPr indent="0" marL="0">
                        <a:buNone/>
                      </a:pPr>
                      <a:r>
                        <a:rPr lang="en-US" sz="1100" dirty="0">
                          <a:solidFill>
                            <a:srgbClr val="B42318"/>
                          </a:solidFill>
                          <a:latin typeface="Arial" pitchFamily="34" charset="0"/>
                          <a:ea typeface="Arial" pitchFamily="34" charset="-122"/>
                          <a:cs typeface="Arial" pitchFamily="34" charset="-120"/>
                        </a:rPr>
                        <a:t>62.3 (51)</a:t>
                      </a:r>
                      <a:endParaRPr lang="en-US" sz="1100" dirty="0">
                        <a:latin typeface="Arial" charset="0"/>
                        <a:ea typeface="Arial" charset="0"/>
                        <a:cs typeface="Arial" charset="0"/>
                      </a:endParaRPr>
                    </a:p>
                  </a:txBody>
                  <a:tcPr marL="91440" marR="91440" marT="45720" marB="45720">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r>
            </a:tbl>
          </a:graphicData>
        </a:graphic>
      </p:graphicFrame>
      <p:sp>
        <p:nvSpPr>
          <p:cNvPr id="13" name="Shape 9"/>
          <p:cNvSpPr/>
          <p:nvPr/>
        </p:nvSpPr>
        <p:spPr>
          <a:xfrm>
            <a:off x="457200" y="4224528"/>
            <a:ext cx="8229600" cy="548640"/>
          </a:xfrm>
          <a:prstGeom prst="roundRect">
            <a:avLst>
              <a:gd name="adj" fmla="val 13333"/>
            </a:avLst>
          </a:prstGeom>
          <a:solidFill>
            <a:srgbClr val="0B2F57"/>
          </a:solidFill>
          <a:ln w="12700">
            <a:solidFill>
              <a:srgbClr val="0B2F57"/>
            </a:solidFill>
            <a:prstDash val="solid"/>
          </a:ln>
        </p:spPr>
      </p:sp>
      <p:sp>
        <p:nvSpPr>
          <p:cNvPr id="14" name="Text 10"/>
          <p:cNvSpPr txBox="1"/>
          <p:nvPr/>
        </p:nvSpPr>
        <p:spPr>
          <a:xfrm>
            <a:off x="640080" y="4251960"/>
            <a:ext cx="7863840" cy="502920"/>
          </a:xfrm>
          <a:prstGeom prst="rect">
            <a:avLst/>
          </a:prstGeom>
          <a:noFill/>
          <a:ln/>
        </p:spPr>
        <p:txBody>
          <a:bodyPr wrap="square" lIns="0" tIns="0" rIns="0" bIns="0" rtlCol="0" anchor="ctr"/>
          <a:lstStyle/>
          <a:p>
            <a:pPr indent="0" marL="0">
              <a:buNone/>
            </a:pPr>
            <a:r>
              <a:rPr lang="en-US" sz="1050" dirty="0">
                <a:solidFill>
                  <a:srgbClr val="FFFFFF"/>
                </a:solidFill>
                <a:latin typeface="Arial" pitchFamily="34" charset="0"/>
                <a:ea typeface="Arial" pitchFamily="34" charset="-122"/>
                <a:cs typeface="Arial" pitchFamily="34" charset="-120"/>
              </a:rPr>
              <a:t>Both point the same way. Voting trades recall for precision one-for-one. The stronger model lowered precision in 6 of 6 cells by listing more genuine domain elements that the sparser expert keys omit: the remaining gap is annotation convention, not model error.</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548640"/>
          </a:xfrm>
          <a:prstGeom prst="rect">
            <a:avLst/>
          </a:prstGeom>
          <a:noFill/>
          <a:ln/>
        </p:spPr>
        <p:txBody>
          <a:bodyPr wrap="square" lIns="0" tIns="0" rIns="0" bIns="0" rtlCol="0" anchor="ctr"/>
          <a:lstStyle/>
          <a:p>
            <a:pPr indent="0" marL="0">
              <a:buNone/>
            </a:pPr>
            <a:r>
              <a:rPr lang="en-US" sz="2800" b="1" dirty="0">
                <a:solidFill>
                  <a:srgbClr val="0B2F57"/>
                </a:solidFill>
                <a:latin typeface="Arial" pitchFamily="34" charset="0"/>
                <a:ea typeface="Arial" pitchFamily="34" charset="-122"/>
                <a:cs typeface="Arial" pitchFamily="34" charset="-120"/>
              </a:rPr>
              <a:t>Why classification stops short of 90%</a:t>
            </a:r>
            <a:endParaRPr lang="en-US" sz="2800" dirty="0"/>
          </a:p>
        </p:txBody>
      </p:sp>
      <p:sp>
        <p:nvSpPr>
          <p:cNvPr id="3" name="Text 1"/>
          <p:cNvSpPr txBox="1"/>
          <p:nvPr/>
        </p:nvSpPr>
        <p:spPr>
          <a:xfrm>
            <a:off x="457200" y="841248"/>
            <a:ext cx="8229600" cy="320040"/>
          </a:xfrm>
          <a:prstGeom prst="rect">
            <a:avLst/>
          </a:prstGeom>
          <a:noFill/>
          <a:ln/>
        </p:spPr>
        <p:txBody>
          <a:bodyPr wrap="square" lIns="0" tIns="0" rIns="0" bIns="0" rtlCol="0" anchor="t"/>
          <a:lstStyle/>
          <a:p>
            <a:pPr indent="0" marL="0">
              <a:buNone/>
            </a:pPr>
            <a:r>
              <a:rPr lang="en-US" sz="1300" dirty="0">
                <a:solidFill>
                  <a:srgbClr val="5B6678"/>
                </a:solidFill>
                <a:latin typeface="Arial" pitchFamily="34" charset="0"/>
                <a:ea typeface="Arial" pitchFamily="34" charset="-122"/>
                <a:cs typeface="Arial" pitchFamily="34" charset="-120"/>
              </a:rPr>
              <a:t>The remaining library misses are modeling choices the text does not support</a:t>
            </a:r>
            <a:endParaRPr lang="en-US" sz="13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5394960" cy="914400"/>
        </p:xfrm>
        <a:graphic>
          <a:graphicData uri="http://schemas.openxmlformats.org/drawingml/2006/table">
            <a:tbl>
              <a:tblPr/>
              <a:tblGrid>
                <a:gridCol w="1737360"/>
                <a:gridCol w="2103120"/>
                <a:gridCol w="1554480"/>
              </a:tblGrid>
              <a:tr h="384048">
                <a:tc>
                  <a:txBody>
                    <a:bodyPr/>
                    <a:lstStyle/>
                    <a:p>
                      <a:pPr indent="0" marL="0">
                        <a:buNone/>
                      </a:pPr>
                      <a:r>
                        <a:rPr lang="en-US" sz="1100" b="1" dirty="0">
                          <a:solidFill>
                            <a:srgbClr val="FFFFFF"/>
                          </a:solidFill>
                          <a:latin typeface="Arial" pitchFamily="34" charset="0"/>
                          <a:ea typeface="Arial" pitchFamily="34" charset="-122"/>
                          <a:cs typeface="Arial" pitchFamily="34" charset="-120"/>
                        </a:rPr>
                        <a:t>Expert solution</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0B2F57"/>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What the description says</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0B2F57"/>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Model output</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0B2F57"/>
                    </a:solidFill>
                  </a:tcPr>
                </a:tc>
              </a:tr>
              <a:tr h="384048">
                <a:tc>
                  <a:txBody>
                    <a:bodyPr/>
                    <a:lstStyle/>
                    <a:p>
                      <a:pPr indent="0" marL="0">
                        <a:buNone/>
                      </a:pPr>
                      <a:r>
                        <a:rPr lang="en-US" sz="1100" dirty="0">
                          <a:solidFill>
                            <a:srgbClr val="1A2233"/>
                          </a:solidFill>
                          <a:latin typeface="Arial" pitchFamily="34" charset="0"/>
                          <a:ea typeface="Arial" pitchFamily="34" charset="-122"/>
                          <a:cs typeface="Arial" pitchFamily="34" charset="-120"/>
                        </a:rPr>
                        <a:t>borrow(customer, book)</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c>
                  <a:txBody>
                    <a:bodyPr/>
                    <a:lstStyle/>
                    <a:p>
                      <a:pPr indent="0" marL="0">
                        <a:buNone/>
                      </a:pPr>
                      <a:r>
                        <a:rPr lang="en-US" sz="1100" dirty="0">
                          <a:solidFill>
                            <a:srgbClr val="1A2233"/>
                          </a:solidFill>
                          <a:latin typeface="Arial" pitchFamily="34" charset="0"/>
                          <a:ea typeface="Arial" pitchFamily="34" charset="-122"/>
                          <a:cs typeface="Arial" pitchFamily="34" charset="-120"/>
                        </a:rPr>
                        <a:t>"A customer may borrow up to a maximum of 8 items"</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c>
                  <a:txBody>
                    <a:bodyPr/>
                    <a:lstStyle/>
                    <a:p>
                      <a:pPr indent="0" marL="0">
                        <a:buNone/>
                      </a:pPr>
                      <a:r>
                        <a:rPr lang="en-US" sz="1100" dirty="0">
                          <a:solidFill>
                            <a:srgbClr val="1A2233"/>
                          </a:solidFill>
                          <a:latin typeface="Arial" pitchFamily="34" charset="0"/>
                          <a:ea typeface="Arial" pitchFamily="34" charset="-122"/>
                          <a:cs typeface="Arial" pitchFamily="34" charset="-120"/>
                        </a:rPr>
                        <a:t>borrow(customer, loan item)</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r>
              <a:tr h="384048">
                <a:tc>
                  <a:txBody>
                    <a:bodyPr/>
                    <a:lstStyle/>
                    <a:p>
                      <a:pPr indent="0" marL="0">
                        <a:buNone/>
                      </a:pPr>
                      <a:r>
                        <a:rPr lang="en-US" sz="1100" dirty="0">
                          <a:solidFill>
                            <a:srgbClr val="1A2233"/>
                          </a:solidFill>
                          <a:latin typeface="Arial" pitchFamily="34" charset="0"/>
                          <a:ea typeface="Arial" pitchFamily="34" charset="-122"/>
                          <a:cs typeface="Arial" pitchFamily="34" charset="-120"/>
                        </a:rPr>
                        <a:t>loan item.title</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c>
                  <a:txBody>
                    <a:bodyPr/>
                    <a:lstStyle/>
                    <a:p>
                      <a:pPr indent="0" marL="0">
                        <a:buNone/>
                      </a:pPr>
                      <a:r>
                        <a:rPr lang="en-US" sz="1100" dirty="0">
                          <a:solidFill>
                            <a:srgbClr val="1A2233"/>
                          </a:solidFill>
                          <a:latin typeface="Arial" pitchFamily="34" charset="0"/>
                          <a:ea typeface="Arial" pitchFamily="34" charset="-122"/>
                          <a:cs typeface="Arial" pitchFamily="34" charset="-120"/>
                        </a:rPr>
                        <a:t>"A book has a title"</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c>
                  <a:txBody>
                    <a:bodyPr/>
                    <a:lstStyle/>
                    <a:p>
                      <a:pPr indent="0" marL="0">
                        <a:buNone/>
                      </a:pPr>
                      <a:r>
                        <a:rPr lang="en-US" sz="1100" dirty="0">
                          <a:solidFill>
                            <a:srgbClr val="1A2233"/>
                          </a:solidFill>
                          <a:latin typeface="Arial" pitchFamily="34" charset="0"/>
                          <a:ea typeface="Arial" pitchFamily="34" charset="-122"/>
                          <a:cs typeface="Arial" pitchFamily="34" charset="-120"/>
                        </a:rPr>
                        <a:t>book.title</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r>
              <a:tr h="384048">
                <a:tc>
                  <a:txBody>
                    <a:bodyPr/>
                    <a:lstStyle/>
                    <a:p>
                      <a:pPr indent="0" marL="0">
                        <a:buNone/>
                      </a:pPr>
                      <a:r>
                        <a:rPr lang="en-US" sz="1100" dirty="0">
                          <a:solidFill>
                            <a:srgbClr val="1A2233"/>
                          </a:solidFill>
                          <a:latin typeface="Arial" pitchFamily="34" charset="0"/>
                          <a:ea typeface="Arial" pitchFamily="34" charset="-122"/>
                          <a:cs typeface="Arial" pitchFamily="34" charset="-120"/>
                        </a:rPr>
                        <a:t>book.subject</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c>
                  <a:txBody>
                    <a:bodyPr/>
                    <a:lstStyle/>
                    <a:p>
                      <a:pPr indent="0" marL="0">
                        <a:buNone/>
                      </a:pPr>
                      <a:r>
                        <a:rPr lang="en-US" sz="1100" dirty="0">
                          <a:solidFill>
                            <a:srgbClr val="1A2233"/>
                          </a:solidFill>
                          <a:latin typeface="Arial" pitchFamily="34" charset="0"/>
                          <a:ea typeface="Arial" pitchFamily="34" charset="-122"/>
                          <a:cs typeface="Arial" pitchFamily="34" charset="-120"/>
                        </a:rPr>
                        <a:t>not mentioned</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c>
                  <a:txBody>
                    <a:bodyPr/>
                    <a:lstStyle/>
                    <a:p>
                      <a:pPr indent="0" marL="0">
                        <a:buNone/>
                      </a:pPr>
                      <a:r>
                        <a:rPr lang="en-US" sz="1100" dirty="0">
                          <a:solidFill>
                            <a:srgbClr val="1A2233"/>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r>
              <a:tr h="384048">
                <a:tc>
                  <a:txBody>
                    <a:bodyPr/>
                    <a:lstStyle/>
                    <a:p>
                      <a:pPr indent="0" marL="0">
                        <a:buNone/>
                      </a:pPr>
                      <a:r>
                        <a:rPr lang="en-US" sz="1100" dirty="0">
                          <a:solidFill>
                            <a:srgbClr val="1A2233"/>
                          </a:solidFill>
                          <a:latin typeface="Arial" pitchFamily="34" charset="0"/>
                          <a:ea typeface="Arial" pitchFamily="34" charset="-122"/>
                          <a:cs typeface="Arial" pitchFamily="34" charset="-120"/>
                        </a:rPr>
                        <a:t>hold(section, loan item)</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c>
                  <a:txBody>
                    <a:bodyPr/>
                    <a:lstStyle/>
                    <a:p>
                      <a:pPr indent="0" marL="0">
                        <a:buNone/>
                      </a:pPr>
                      <a:r>
                        <a:rPr lang="en-US" sz="1100" dirty="0">
                          <a:solidFill>
                            <a:srgbClr val="1A2233"/>
                          </a:solidFill>
                          <a:latin typeface="Arial" pitchFamily="34" charset="0"/>
                          <a:ea typeface="Arial" pitchFamily="34" charset="-122"/>
                          <a:cs typeface="Arial" pitchFamily="34" charset="-120"/>
                        </a:rPr>
                        <a:t>not mentioned</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c>
                  <a:txBody>
                    <a:bodyPr/>
                    <a:lstStyle/>
                    <a:p>
                      <a:pPr indent="0" marL="0">
                        <a:buNone/>
                      </a:pPr>
                      <a:r>
                        <a:rPr lang="en-US" sz="1100" dirty="0">
                          <a:solidFill>
                            <a:srgbClr val="1A2233"/>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r>
              <a:tr h="384048">
                <a:tc>
                  <a:txBody>
                    <a:bodyPr/>
                    <a:lstStyle/>
                    <a:p>
                      <a:pPr indent="0" marL="0">
                        <a:buNone/>
                      </a:pPr>
                      <a:r>
                        <a:rPr lang="en-US" sz="1100" dirty="0">
                          <a:solidFill>
                            <a:srgbClr val="1A2233"/>
                          </a:solidFill>
                          <a:latin typeface="Arial" pitchFamily="34" charset="0"/>
                          <a:ea typeface="Arial" pitchFamily="34" charset="-122"/>
                          <a:cs typeface="Arial" pitchFamily="34" charset="-120"/>
                        </a:rPr>
                        <a:t>membership card.id</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c>
                  <a:txBody>
                    <a:bodyPr/>
                    <a:lstStyle/>
                    <a:p>
                      <a:pPr indent="0" marL="0">
                        <a:buNone/>
                      </a:pPr>
                      <a:r>
                        <a:rPr lang="en-US" sz="1100" dirty="0">
                          <a:solidFill>
                            <a:srgbClr val="1A2233"/>
                          </a:solidFill>
                          <a:latin typeface="Arial" pitchFamily="34" charset="0"/>
                          <a:ea typeface="Arial" pitchFamily="34" charset="-122"/>
                          <a:cs typeface="Arial" pitchFamily="34" charset="-120"/>
                        </a:rPr>
                        <a:t>"a unique member number"</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c>
                  <a:txBody>
                    <a:bodyPr/>
                    <a:lstStyle/>
                    <a:p>
                      <a:pPr indent="0" marL="0">
                        <a:buNone/>
                      </a:pPr>
                      <a:r>
                        <a:rPr lang="en-US" sz="1100" dirty="0">
                          <a:solidFill>
                            <a:srgbClr val="1A2233"/>
                          </a:solidFill>
                          <a:latin typeface="Arial" pitchFamily="34" charset="0"/>
                          <a:ea typeface="Arial" pitchFamily="34" charset="-122"/>
                          <a:cs typeface="Arial" pitchFamily="34" charset="-120"/>
                        </a:rPr>
                        <a:t>membership card.member number</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r>
            </a:tbl>
          </a:graphicData>
        </a:graphic>
      </p:graphicFrame>
      <p:sp>
        <p:nvSpPr>
          <p:cNvPr id="5" name="Shape 2"/>
          <p:cNvSpPr/>
          <p:nvPr/>
        </p:nvSpPr>
        <p:spPr>
          <a:xfrm>
            <a:off x="6126480" y="1325880"/>
            <a:ext cx="2560320" cy="3383280"/>
          </a:xfrm>
          <a:prstGeom prst="roundRect">
            <a:avLst>
              <a:gd name="adj" fmla="val 2857"/>
            </a:avLst>
          </a:prstGeom>
          <a:solidFill>
            <a:srgbClr val="0B2F57"/>
          </a:solidFill>
          <a:ln w="12700">
            <a:solidFill>
              <a:srgbClr val="0B2F57"/>
            </a:solidFill>
            <a:prstDash val="solid"/>
          </a:ln>
        </p:spPr>
      </p:sp>
      <p:sp>
        <p:nvSpPr>
          <p:cNvPr id="6" name="Text 3"/>
          <p:cNvSpPr txBox="1"/>
          <p:nvPr/>
        </p:nvSpPr>
        <p:spPr>
          <a:xfrm>
            <a:off x="6309360" y="1463040"/>
            <a:ext cx="2194560" cy="274320"/>
          </a:xfrm>
          <a:prstGeom prst="rect">
            <a:avLst/>
          </a:prstGeom>
          <a:noFill/>
          <a:ln/>
        </p:spPr>
        <p:txBody>
          <a:bodyPr wrap="square" lIns="0" tIns="0" rIns="0" bIns="0" rtlCol="0" anchor="t"/>
          <a:lstStyle/>
          <a:p>
            <a:pPr indent="0" marL="0">
              <a:buNone/>
            </a:pPr>
            <a:r>
              <a:rPr lang="en-US" sz="1300" b="1" dirty="0">
                <a:solidFill>
                  <a:srgbClr val="F58025"/>
                </a:solidFill>
                <a:latin typeface="Arial" pitchFamily="34" charset="0"/>
                <a:ea typeface="Arial" pitchFamily="34" charset="-122"/>
                <a:cs typeface="Arial" pitchFamily="34" charset="-120"/>
              </a:rPr>
              <a:t>Arguments ignored</a:t>
            </a:r>
            <a:endParaRPr lang="en-US" sz="1300" dirty="0"/>
          </a:p>
        </p:txBody>
      </p:sp>
      <p:sp>
        <p:nvSpPr>
          <p:cNvPr id="7" name="Text 4"/>
          <p:cNvSpPr txBox="1"/>
          <p:nvPr/>
        </p:nvSpPr>
        <p:spPr>
          <a:xfrm>
            <a:off x="6309360" y="1828800"/>
            <a:ext cx="2240280" cy="914400"/>
          </a:xfrm>
          <a:prstGeom prst="rect">
            <a:avLst/>
          </a:prstGeom>
          <a:noFill/>
          <a:ln/>
        </p:spPr>
        <p:txBody>
          <a:bodyPr wrap="square" lIns="0" tIns="0" rIns="0" bIns="0" rtlCol="0" anchor="t"/>
          <a:lstStyle/>
          <a:p>
            <a:pPr indent="0" marL="0">
              <a:buNone/>
            </a:pPr>
            <a:r>
              <a:rPr lang="en-US" sz="1300" b="1" dirty="0">
                <a:solidFill>
                  <a:srgbClr val="FFFFFF"/>
                </a:solidFill>
                <a:latin typeface="Arial" pitchFamily="34" charset="0"/>
                <a:ea typeface="Arial" pitchFamily="34" charset="-122"/>
                <a:cs typeface="Arial" pitchFamily="34" charset="-120"/>
              </a:rPr>
              <a:t>Library 70.8 → 80.0</a:t>
            </a:r>
            <a:endParaRPr lang="en-US" sz="1300" dirty="0"/>
          </a:p>
          <a:p>
            <a:pPr indent="0" marL="0">
              <a:buNone/>
            </a:pPr>
            <a:r>
              <a:rPr lang="en-US" sz="1300" b="1" dirty="0">
                <a:solidFill>
                  <a:srgbClr val="FFFFFF"/>
                </a:solidFill>
                <a:latin typeface="Arial" pitchFamily="34" charset="0"/>
                <a:ea typeface="Arial" pitchFamily="34" charset="-122"/>
                <a:cs typeface="Arial" pitchFamily="34" charset="-120"/>
              </a:rPr>
              <a:t>Car rental 47.2 → 67.7</a:t>
            </a:r>
            <a:endParaRPr lang="en-US" sz="1300" dirty="0"/>
          </a:p>
          <a:p>
            <a:pPr indent="0" marL="0">
              <a:buNone/>
            </a:pPr>
            <a:r>
              <a:rPr lang="en-US" sz="1300" b="1" dirty="0">
                <a:solidFill>
                  <a:srgbClr val="FFFFFF"/>
                </a:solidFill>
                <a:latin typeface="Arial" pitchFamily="34" charset="0"/>
                <a:ea typeface="Arial" pitchFamily="34" charset="-122"/>
                <a:cs typeface="Arial" pitchFamily="34" charset="-120"/>
              </a:rPr>
              <a:t>NTSS 64.3 → 67.7</a:t>
            </a:r>
            <a:endParaRPr lang="en-US" sz="1300" dirty="0"/>
          </a:p>
        </p:txBody>
      </p:sp>
      <p:sp>
        <p:nvSpPr>
          <p:cNvPr id="8" name="Text 5"/>
          <p:cNvSpPr txBox="1"/>
          <p:nvPr/>
        </p:nvSpPr>
        <p:spPr>
          <a:xfrm>
            <a:off x="6309360" y="2788920"/>
            <a:ext cx="2240280" cy="1828800"/>
          </a:xfrm>
          <a:prstGeom prst="rect">
            <a:avLst/>
          </a:prstGeom>
          <a:noFill/>
          <a:ln/>
        </p:spPr>
        <p:txBody>
          <a:bodyPr wrap="square" lIns="0" tIns="0" rIns="0" bIns="0" rtlCol="0" anchor="t"/>
          <a:lstStyle/>
          <a:p>
            <a:pPr indent="0" marL="0">
              <a:buNone/>
            </a:pPr>
            <a:r>
              <a:rPr lang="en-US" sz="1050" dirty="0">
                <a:solidFill>
                  <a:srgbClr val="D6E6F5"/>
                </a:solidFill>
                <a:latin typeface="Arial" pitchFamily="34" charset="0"/>
                <a:ea typeface="Arial" pitchFamily="34" charset="-122"/>
                <a:cs typeface="Arial" pitchFamily="34" charset="-120"/>
              </a:rPr>
              <a:t>Classification P3 scored with the team scorer's no-arguments mode: 11–17 points of the gap are which classes a relationship connects, not missing concepts. Reaching 90 on library would require putting the expert's choices into the prompt, which is leaking the answer.</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548640"/>
          </a:xfrm>
          <a:prstGeom prst="rect">
            <a:avLst/>
          </a:prstGeom>
          <a:noFill/>
          <a:ln/>
        </p:spPr>
        <p:txBody>
          <a:bodyPr wrap="square" lIns="0" tIns="0" rIns="0" bIns="0" rtlCol="0" anchor="ctr"/>
          <a:lstStyle/>
          <a:p>
            <a:pPr indent="0" marL="0">
              <a:buNone/>
            </a:pPr>
            <a:r>
              <a:rPr lang="en-US" sz="2800" b="1" dirty="0">
                <a:solidFill>
                  <a:srgbClr val="0B2F57"/>
                </a:solidFill>
                <a:latin typeface="Arial" pitchFamily="34" charset="0"/>
                <a:ea typeface="Arial" pitchFamily="34" charset="-122"/>
                <a:cs typeface="Arial" pitchFamily="34" charset="-120"/>
              </a:rPr>
              <a:t>AI and human in the loop</a:t>
            </a:r>
            <a:endParaRPr lang="en-US" sz="2800" dirty="0"/>
          </a:p>
        </p:txBody>
      </p:sp>
      <p:sp>
        <p:nvSpPr>
          <p:cNvPr id="3" name="Text 1"/>
          <p:cNvSpPr txBox="1"/>
          <p:nvPr/>
        </p:nvSpPr>
        <p:spPr>
          <a:xfrm>
            <a:off x="457200" y="841248"/>
            <a:ext cx="8229600" cy="320040"/>
          </a:xfrm>
          <a:prstGeom prst="rect">
            <a:avLst/>
          </a:prstGeom>
          <a:noFill/>
          <a:ln/>
        </p:spPr>
        <p:txBody>
          <a:bodyPr wrap="square" lIns="0" tIns="0" rIns="0" bIns="0" rtlCol="0" anchor="t"/>
          <a:lstStyle/>
          <a:p>
            <a:pPr indent="0" marL="0">
              <a:buNone/>
            </a:pPr>
            <a:r>
              <a:rPr lang="en-US" sz="1300" dirty="0">
                <a:solidFill>
                  <a:srgbClr val="5B6678"/>
                </a:solidFill>
                <a:latin typeface="Arial" pitchFamily="34" charset="0"/>
                <a:ea typeface="Arial" pitchFamily="34" charset="-122"/>
                <a:cs typeface="Arial" pitchFamily="34" charset="-120"/>
              </a:rPr>
              <a:t>Where each improvement came from, and whether it helped</a:t>
            </a:r>
            <a:endParaRPr lang="en-US" sz="13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8229600" cy="914400"/>
        </p:xfrm>
        <a:graphic>
          <a:graphicData uri="http://schemas.openxmlformats.org/drawingml/2006/table">
            <a:tbl>
              <a:tblPr/>
              <a:tblGrid>
                <a:gridCol w="3474720"/>
                <a:gridCol w="2194560"/>
                <a:gridCol w="2560320"/>
              </a:tblGrid>
              <a:tr h="384048">
                <a:tc>
                  <a:txBody>
                    <a:bodyPr/>
                    <a:lstStyle/>
                    <a:p>
                      <a:pPr indent="0" marL="0">
                        <a:buNone/>
                      </a:pPr>
                      <a:r>
                        <a:rPr lang="en-US" sz="1100" b="1" dirty="0">
                          <a:solidFill>
                            <a:srgbClr val="FFFFFF"/>
                          </a:solidFill>
                          <a:latin typeface="Arial" pitchFamily="34" charset="0"/>
                          <a:ea typeface="Arial" pitchFamily="34" charset="-122"/>
                          <a:cs typeface="Arial" pitchFamily="34" charset="-120"/>
                        </a:rPr>
                        <a:t>Suggestion</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0B2F57"/>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Source</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0B2F57"/>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Effect</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0B2F57"/>
                    </a:solidFill>
                  </a:tcPr>
                </a:tc>
              </a:tr>
              <a:tr h="384048">
                <a:tc>
                  <a:txBody>
                    <a:bodyPr/>
                    <a:lstStyle/>
                    <a:p>
                      <a:pPr indent="0" marL="0">
                        <a:buNone/>
                      </a:pPr>
                      <a:r>
                        <a:rPr lang="en-US" sz="1100" dirty="0">
                          <a:solidFill>
                            <a:srgbClr val="1A2233"/>
                          </a:solidFill>
                          <a:latin typeface="Arial" pitchFamily="34" charset="0"/>
                          <a:ea typeface="Arial" pitchFamily="34" charset="-122"/>
                          <a:cs typeface="Arial" pitchFamily="34" charset="-120"/>
                        </a:rPr>
                        <a:t>Passive verbs, state adjectives, quantifiers, domain-scope filter</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c>
                  <a:txBody>
                    <a:bodyPr/>
                    <a:lstStyle/>
                    <a:p>
                      <a:pPr indent="0" marL="0">
                        <a:buNone/>
                      </a:pPr>
                      <a:r>
                        <a:rPr lang="en-US" sz="1100" dirty="0">
                          <a:solidFill>
                            <a:srgbClr val="1A2233"/>
                          </a:solidFill>
                          <a:latin typeface="Arial" pitchFamily="34" charset="0"/>
                          <a:ea typeface="Arial" pitchFamily="34" charset="-122"/>
                          <a:cs typeface="Arial" pitchFamily="34" charset="-120"/>
                        </a:rPr>
                        <a:t>AI (Gemini), via the instructor's revised rules</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c>
                  <a:txBody>
                    <a:bodyPr/>
                    <a:lstStyle/>
                    <a:p>
                      <a:pPr indent="0" marL="0">
                        <a:buNone/>
                      </a:pPr>
                      <a:r>
                        <a:rPr lang="en-US" sz="1100" dirty="0">
                          <a:solidFill>
                            <a:srgbClr val="1A2233"/>
                          </a:solidFill>
                          <a:latin typeface="Arial" pitchFamily="34" charset="0"/>
                          <a:ea typeface="Arial" pitchFamily="34" charset="-122"/>
                          <a:cs typeface="Arial" pitchFamily="34" charset="-120"/>
                        </a:rPr>
                        <a:t>Identification P1: library 68.9 → 88.7</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r>
              <a:tr h="384048">
                <a:tc>
                  <a:txBody>
                    <a:bodyPr/>
                    <a:lstStyle/>
                    <a:p>
                      <a:pPr indent="0" marL="0">
                        <a:buNone/>
                      </a:pPr>
                      <a:r>
                        <a:rPr lang="en-US" sz="1100" dirty="0">
                          <a:solidFill>
                            <a:srgbClr val="1A2233"/>
                          </a:solidFill>
                          <a:latin typeface="Arial" pitchFamily="34" charset="0"/>
                          <a:ea typeface="Arial" pitchFamily="34" charset="-122"/>
                          <a:cs typeface="Arial" pitchFamily="34" charset="-120"/>
                        </a:rPr>
                        <a:t>Class/attribute tests, category→element mapping, association-class conditions</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c>
                  <a:txBody>
                    <a:bodyPr/>
                    <a:lstStyle/>
                    <a:p>
                      <a:pPr indent="0" marL="0">
                        <a:buNone/>
                      </a:pPr>
                      <a:r>
                        <a:rPr lang="en-US" sz="1100" dirty="0">
                          <a:solidFill>
                            <a:srgbClr val="1A2233"/>
                          </a:solidFill>
                          <a:latin typeface="Arial" pitchFamily="34" charset="0"/>
                          <a:ea typeface="Arial" pitchFamily="34" charset="-122"/>
                          <a:cs typeface="Arial" pitchFamily="34" charset="-120"/>
                        </a:rPr>
                        <a:t>Course methodology</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c>
                  <a:txBody>
                    <a:bodyPr/>
                    <a:lstStyle/>
                    <a:p>
                      <a:pPr indent="0" marL="0">
                        <a:buNone/>
                      </a:pPr>
                      <a:r>
                        <a:rPr lang="en-US" sz="1100" dirty="0">
                          <a:solidFill>
                            <a:srgbClr val="1A2233"/>
                          </a:solidFill>
                          <a:latin typeface="Arial" pitchFamily="34" charset="0"/>
                          <a:ea typeface="Arial" pitchFamily="34" charset="-122"/>
                          <a:cs typeface="Arial" pitchFamily="34" charset="-120"/>
                        </a:rPr>
                        <a:t>Classification P1: library false positives 40 → 18</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r>
              <a:tr h="384048">
                <a:tc>
                  <a:txBody>
                    <a:bodyPr/>
                    <a:lstStyle/>
                    <a:p>
                      <a:pPr indent="0" marL="0">
                        <a:buNone/>
                      </a:pPr>
                      <a:r>
                        <a:rPr lang="en-US" sz="1100" dirty="0">
                          <a:solidFill>
                            <a:srgbClr val="1A2233"/>
                          </a:solidFill>
                          <a:latin typeface="Arial" pitchFamily="34" charset="0"/>
                          <a:ea typeface="Arial" pitchFamily="34" charset="-122"/>
                          <a:cs typeface="Arial" pitchFamily="34" charset="-120"/>
                        </a:rPr>
                        <a:t>Naming rule for synonyms</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c>
                  <a:txBody>
                    <a:bodyPr/>
                    <a:lstStyle/>
                    <a:p>
                      <a:pPr indent="0" marL="0">
                        <a:buNone/>
                      </a:pPr>
                      <a:r>
                        <a:rPr lang="en-US" sz="1100" dirty="0">
                          <a:solidFill>
                            <a:srgbClr val="1A2233"/>
                          </a:solidFill>
                          <a:latin typeface="Arial" pitchFamily="34" charset="0"/>
                          <a:ea typeface="Arial" pitchFamily="34" charset="-122"/>
                          <a:cs typeface="Arial" pitchFamily="34" charset="-120"/>
                        </a:rPr>
                        <a:t>AI (Claude) error analysis</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c>
                  <a:txBody>
                    <a:bodyPr/>
                    <a:lstStyle/>
                    <a:p>
                      <a:pPr indent="0" marL="0">
                        <a:buNone/>
                      </a:pPr>
                      <a:r>
                        <a:rPr lang="en-US" sz="1100" dirty="0">
                          <a:solidFill>
                            <a:srgbClr val="1A2233"/>
                          </a:solidFill>
                          <a:latin typeface="Arial" pitchFamily="34" charset="0"/>
                          <a:ea typeface="Arial" pitchFamily="34" charset="-122"/>
                          <a:cs typeface="Arial" pitchFamily="34" charset="-120"/>
                        </a:rPr>
                        <a:t>Classification P2: library +28.5</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r>
              <a:tr h="384048">
                <a:tc>
                  <a:txBody>
                    <a:bodyPr/>
                    <a:lstStyle/>
                    <a:p>
                      <a:pPr indent="0" marL="0">
                        <a:buNone/>
                      </a:pPr>
                      <a:r>
                        <a:rPr lang="en-US" sz="1100" dirty="0">
                          <a:solidFill>
                            <a:srgbClr val="1A2233"/>
                          </a:solidFill>
                          <a:latin typeface="Arial" pitchFamily="34" charset="0"/>
                          <a:ea typeface="Arial" pitchFamily="34" charset="-122"/>
                          <a:cs typeface="Arial" pitchFamily="34" charset="-120"/>
                        </a:rPr>
                        <a:t>Nine error-driven inclusion rules</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c>
                  <a:txBody>
                    <a:bodyPr/>
                    <a:lstStyle/>
                    <a:p>
                      <a:pPr indent="0" marL="0">
                        <a:buNone/>
                      </a:pPr>
                      <a:r>
                        <a:rPr lang="en-US" sz="1100" dirty="0">
                          <a:solidFill>
                            <a:srgbClr val="1A2233"/>
                          </a:solidFill>
                          <a:latin typeface="Arial" pitchFamily="34" charset="0"/>
                          <a:ea typeface="Arial" pitchFamily="34" charset="-122"/>
                          <a:cs typeface="Arial" pitchFamily="34" charset="-120"/>
                        </a:rPr>
                        <a:t>AI (Claude) error analysis</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c>
                  <a:txBody>
                    <a:bodyPr/>
                    <a:lstStyle/>
                    <a:p>
                      <a:pPr indent="0" marL="0">
                        <a:buNone/>
                      </a:pPr>
                      <a:r>
                        <a:rPr lang="en-US" sz="1100" dirty="0">
                          <a:solidFill>
                            <a:srgbClr val="1A2233"/>
                          </a:solidFill>
                          <a:latin typeface="Arial" pitchFamily="34" charset="0"/>
                          <a:ea typeface="Arial" pitchFamily="34" charset="-122"/>
                          <a:cs typeface="Arial" pitchFamily="34" charset="-120"/>
                        </a:rPr>
                        <a:t>Recall up, precision down: F1 flat</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r>
              <a:tr h="384048">
                <a:tc>
                  <a:txBody>
                    <a:bodyPr/>
                    <a:lstStyle/>
                    <a:p>
                      <a:pPr indent="0" marL="0">
                        <a:buNone/>
                      </a:pPr>
                      <a:r>
                        <a:rPr lang="en-US" sz="1100" dirty="0">
                          <a:solidFill>
                            <a:srgbClr val="1A2233"/>
                          </a:solidFill>
                          <a:latin typeface="Arial" pitchFamily="34" charset="0"/>
                          <a:ea typeface="Arial" pitchFamily="34" charset="-122"/>
                          <a:cs typeface="Arial" pitchFamily="34" charset="-120"/>
                        </a:rPr>
                        <a:t>Baseline classification prompt (t1) and classification scorer</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c>
                  <a:txBody>
                    <a:bodyPr/>
                    <a:lstStyle/>
                    <a:p>
                      <a:pPr indent="0" marL="0">
                        <a:buNone/>
                      </a:pPr>
                      <a:r>
                        <a:rPr lang="en-US" sz="1100" dirty="0">
                          <a:solidFill>
                            <a:srgbClr val="1A2233"/>
                          </a:solidFill>
                          <a:latin typeface="Arial" pitchFamily="34" charset="0"/>
                          <a:ea typeface="Arial" pitchFamily="34" charset="-122"/>
                          <a:cs typeface="Arial" pitchFamily="34" charset="-120"/>
                        </a:rPr>
                        <a:t>Team</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c>
                  <a:txBody>
                    <a:bodyPr/>
                    <a:lstStyle/>
                    <a:p>
                      <a:pPr indent="0" marL="0">
                        <a:buNone/>
                      </a:pPr>
                      <a:r>
                        <a:rPr lang="en-US" sz="1100" dirty="0">
                          <a:solidFill>
                            <a:srgbClr val="1A2233"/>
                          </a:solidFill>
                          <a:latin typeface="Arial" pitchFamily="34" charset="0"/>
                          <a:ea typeface="Arial" pitchFamily="34" charset="-122"/>
                          <a:cs typeface="Arial" pitchFamily="34" charset="-120"/>
                        </a:rPr>
                        <a:t>P0 baseline; every classification score</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r>
              <a:tr h="384048">
                <a:tc>
                  <a:txBody>
                    <a:bodyPr/>
                    <a:lstStyle/>
                    <a:p>
                      <a:pPr indent="0" marL="0">
                        <a:buNone/>
                      </a:pPr>
                      <a:r>
                        <a:rPr lang="en-US" sz="1100" dirty="0">
                          <a:solidFill>
                            <a:srgbClr val="1A2233"/>
                          </a:solidFill>
                          <a:latin typeface="Arial" pitchFamily="34" charset="0"/>
                          <a:ea typeface="Arial" pitchFamily="34" charset="-122"/>
                          <a:cs typeface="Arial" pitchFamily="34" charset="-120"/>
                        </a:rPr>
                        <a:t>Run all three domains each round; repeat key runs</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c>
                  <a:txBody>
                    <a:bodyPr/>
                    <a:lstStyle/>
                    <a:p>
                      <a:pPr indent="0" marL="0">
                        <a:buNone/>
                      </a:pPr>
                      <a:r>
                        <a:rPr lang="en-US" sz="1100" dirty="0">
                          <a:solidFill>
                            <a:srgbClr val="1A2233"/>
                          </a:solidFill>
                          <a:latin typeface="Arial" pitchFamily="34" charset="0"/>
                          <a:ea typeface="Arial" pitchFamily="34" charset="-122"/>
                          <a:cs typeface="Arial" pitchFamily="34" charset="-120"/>
                        </a:rPr>
                        <a:t>Team</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c>
                  <a:txBody>
                    <a:bodyPr/>
                    <a:lstStyle/>
                    <a:p>
                      <a:pPr indent="0" marL="0">
                        <a:buNone/>
                      </a:pPr>
                      <a:r>
                        <a:rPr lang="en-US" sz="1100" dirty="0">
                          <a:solidFill>
                            <a:srgbClr val="1A2233"/>
                          </a:solidFill>
                          <a:latin typeface="Arial" pitchFamily="34" charset="0"/>
                          <a:ea typeface="Arial" pitchFamily="34" charset="-122"/>
                          <a:cs typeface="Arial" pitchFamily="34" charset="-120"/>
                        </a:rPr>
                        <a:t>Run-to-run spread measured (8 pts)</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r>
              <a:tr h="384048">
                <a:tc>
                  <a:txBody>
                    <a:bodyPr/>
                    <a:lstStyle/>
                    <a:p>
                      <a:pPr indent="0" marL="0">
                        <a:buNone/>
                      </a:pPr>
                      <a:r>
                        <a:rPr lang="en-US" sz="1100" dirty="0">
                          <a:solidFill>
                            <a:srgbClr val="1A2233"/>
                          </a:solidFill>
                          <a:latin typeface="Arial" pitchFamily="34" charset="0"/>
                          <a:ea typeface="Arial" pitchFamily="34" charset="-122"/>
                          <a:cs typeface="Arial" pitchFamily="34" charset="-120"/>
                        </a:rPr>
                        <a:t>Neutral examples + automated leak check; CamelCase-neutral scoring</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c>
                  <a:txBody>
                    <a:bodyPr/>
                    <a:lstStyle/>
                    <a:p>
                      <a:pPr indent="0" marL="0">
                        <a:buNone/>
                      </a:pPr>
                      <a:r>
                        <a:rPr lang="en-US" sz="1100" dirty="0">
                          <a:solidFill>
                            <a:srgbClr val="1A2233"/>
                          </a:solidFill>
                          <a:latin typeface="Arial" pitchFamily="34" charset="0"/>
                          <a:ea typeface="Arial" pitchFamily="34" charset="-122"/>
                          <a:cs typeface="Arial" pitchFamily="34" charset="-120"/>
                        </a:rPr>
                        <a:t>AI (Claude) review, team approved</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c>
                  <a:txBody>
                    <a:bodyPr/>
                    <a:lstStyle/>
                    <a:p>
                      <a:pPr indent="0" marL="0">
                        <a:buNone/>
                      </a:pPr>
                      <a:r>
                        <a:rPr lang="en-US" sz="1100" dirty="0">
                          <a:solidFill>
                            <a:srgbClr val="1A2233"/>
                          </a:solidFill>
                          <a:latin typeface="Arial" pitchFamily="34" charset="0"/>
                          <a:ea typeface="Arial" pitchFamily="34" charset="-122"/>
                          <a:cs typeface="Arial" pitchFamily="34" charset="-120"/>
                        </a:rPr>
                        <a:t>Scores reflect the rules, not leaked answers</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548640"/>
          </a:xfrm>
          <a:prstGeom prst="rect">
            <a:avLst/>
          </a:prstGeom>
          <a:noFill/>
          <a:ln/>
        </p:spPr>
        <p:txBody>
          <a:bodyPr wrap="square" lIns="0" tIns="0" rIns="0" bIns="0" rtlCol="0" anchor="ctr"/>
          <a:lstStyle/>
          <a:p>
            <a:pPr indent="0" marL="0">
              <a:buNone/>
            </a:pPr>
            <a:r>
              <a:rPr lang="en-US" sz="2800" b="1" dirty="0">
                <a:solidFill>
                  <a:srgbClr val="0B2F57"/>
                </a:solidFill>
                <a:latin typeface="Arial" pitchFamily="34" charset="0"/>
                <a:ea typeface="Arial" pitchFamily="34" charset="-122"/>
                <a:cs typeface="Arial" pitchFamily="34" charset="-120"/>
              </a:rPr>
              <a:t>Keeping the evaluation honest</a:t>
            </a:r>
            <a:endParaRPr lang="en-US" sz="2800" dirty="0"/>
          </a:p>
        </p:txBody>
      </p:sp>
      <p:sp>
        <p:nvSpPr>
          <p:cNvPr id="3" name="Text 1"/>
          <p:cNvSpPr txBox="1"/>
          <p:nvPr/>
        </p:nvSpPr>
        <p:spPr>
          <a:xfrm>
            <a:off x="457200" y="841248"/>
            <a:ext cx="8229600" cy="320040"/>
          </a:xfrm>
          <a:prstGeom prst="rect">
            <a:avLst/>
          </a:prstGeom>
          <a:noFill/>
          <a:ln/>
        </p:spPr>
        <p:txBody>
          <a:bodyPr wrap="square" lIns="0" tIns="0" rIns="0" bIns="0" rtlCol="0" anchor="t"/>
          <a:lstStyle/>
          <a:p>
            <a:pPr indent="0" marL="0">
              <a:buNone/>
            </a:pPr>
            <a:r>
              <a:rPr lang="en-US" sz="1300" dirty="0">
                <a:solidFill>
                  <a:srgbClr val="5B6678"/>
                </a:solidFill>
                <a:latin typeface="Arial" pitchFamily="34" charset="0"/>
                <a:ea typeface="Arial" pitchFamily="34" charset="-122"/>
                <a:cs typeface="Arial" pitchFamily="34" charset="-120"/>
              </a:rPr>
              <a:t>Four decisions that make the scores trustworthy</a:t>
            </a:r>
            <a:endParaRPr lang="en-US" sz="1300" dirty="0"/>
          </a:p>
        </p:txBody>
      </p:sp>
      <p:sp>
        <p:nvSpPr>
          <p:cNvPr id="4" name="Shape 2"/>
          <p:cNvSpPr/>
          <p:nvPr/>
        </p:nvSpPr>
        <p:spPr>
          <a:xfrm>
            <a:off x="457200" y="1325880"/>
            <a:ext cx="4023360" cy="1554480"/>
          </a:xfrm>
          <a:prstGeom prst="roundRect">
            <a:avLst>
              <a:gd name="adj" fmla="val 4706"/>
            </a:avLst>
          </a:prstGeom>
          <a:solidFill>
            <a:srgbClr val="EEF3F9"/>
          </a:solidFill>
          <a:ln w="12700">
            <a:solidFill>
              <a:srgbClr val="EEF3F9"/>
            </a:solidFill>
            <a:prstDash val="solid"/>
          </a:ln>
        </p:spPr>
      </p:sp>
      <p:sp>
        <p:nvSpPr>
          <p:cNvPr id="5" name="Shape 3"/>
          <p:cNvSpPr/>
          <p:nvPr/>
        </p:nvSpPr>
        <p:spPr>
          <a:xfrm>
            <a:off x="640080" y="1527048"/>
            <a:ext cx="384048" cy="384048"/>
          </a:xfrm>
          <a:prstGeom prst="ellipse">
            <a:avLst/>
          </a:prstGeom>
          <a:solidFill>
            <a:srgbClr val="0064B1"/>
          </a:solidFill>
          <a:ln w="12700">
            <a:solidFill>
              <a:srgbClr val="0064B1"/>
            </a:solidFill>
            <a:prstDash val="solid"/>
          </a:ln>
        </p:spPr>
      </p:sp>
      <p:sp>
        <p:nvSpPr>
          <p:cNvPr id="6" name="Text 4"/>
          <p:cNvSpPr txBox="1"/>
          <p:nvPr/>
        </p:nvSpPr>
        <p:spPr>
          <a:xfrm>
            <a:off x="640080" y="152704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7" name="Text 5"/>
          <p:cNvSpPr txBox="1"/>
          <p:nvPr/>
        </p:nvSpPr>
        <p:spPr>
          <a:xfrm>
            <a:off x="1170432" y="1545336"/>
            <a:ext cx="3108960" cy="347472"/>
          </a:xfrm>
          <a:prstGeom prst="rect">
            <a:avLst/>
          </a:prstGeom>
          <a:noFill/>
          <a:ln/>
        </p:spPr>
        <p:txBody>
          <a:bodyPr wrap="square" lIns="0" tIns="0" rIns="0" bIns="0" rtlCol="0" anchor="ctr"/>
          <a:lstStyle/>
          <a:p>
            <a:pPr indent="0" marL="0">
              <a:buNone/>
            </a:pPr>
            <a:r>
              <a:rPr lang="en-US" sz="1500" b="1" dirty="0">
                <a:solidFill>
                  <a:srgbClr val="0B2F57"/>
                </a:solidFill>
                <a:latin typeface="Arial" pitchFamily="34" charset="0"/>
                <a:ea typeface="Arial" pitchFamily="34" charset="-122"/>
                <a:cs typeface="Arial" pitchFamily="34" charset="-120"/>
              </a:rPr>
              <a:t>Blind model</a:t>
            </a:r>
            <a:endParaRPr lang="en-US" sz="1500" dirty="0"/>
          </a:p>
        </p:txBody>
      </p:sp>
      <p:sp>
        <p:nvSpPr>
          <p:cNvPr id="8" name="Text 6"/>
          <p:cNvSpPr txBox="1"/>
          <p:nvPr/>
        </p:nvSpPr>
        <p:spPr>
          <a:xfrm>
            <a:off x="1170432" y="1965960"/>
            <a:ext cx="3154680" cy="822960"/>
          </a:xfrm>
          <a:prstGeom prst="rect">
            <a:avLst/>
          </a:prstGeom>
          <a:noFill/>
          <a:ln/>
        </p:spPr>
        <p:txBody>
          <a:bodyPr wrap="square" lIns="0" tIns="0" rIns="0" bIns="0" rtlCol="0" anchor="t"/>
          <a:lstStyle/>
          <a:p>
            <a:pPr indent="0" marL="0">
              <a:buNone/>
            </a:pPr>
            <a:r>
              <a:rPr lang="en-US" sz="1150" dirty="0">
                <a:solidFill>
                  <a:srgbClr val="1A2233"/>
                </a:solidFill>
                <a:latin typeface="Arial" pitchFamily="34" charset="0"/>
                <a:ea typeface="Arial" pitchFamily="34" charset="-122"/>
                <a:cs typeface="Arial" pitchFamily="34" charset="-120"/>
              </a:rPr>
              <a:t>Claude only sees the prompt and the business description. The answer keys stay in the repo.</a:t>
            </a:r>
            <a:endParaRPr lang="en-US" sz="1150" dirty="0"/>
          </a:p>
        </p:txBody>
      </p:sp>
      <p:sp>
        <p:nvSpPr>
          <p:cNvPr id="9" name="Shape 7"/>
          <p:cNvSpPr/>
          <p:nvPr/>
        </p:nvSpPr>
        <p:spPr>
          <a:xfrm>
            <a:off x="4663440" y="1325880"/>
            <a:ext cx="4023360" cy="1554480"/>
          </a:xfrm>
          <a:prstGeom prst="roundRect">
            <a:avLst>
              <a:gd name="adj" fmla="val 4706"/>
            </a:avLst>
          </a:prstGeom>
          <a:solidFill>
            <a:srgbClr val="EEF3F9"/>
          </a:solidFill>
          <a:ln w="12700">
            <a:solidFill>
              <a:srgbClr val="EEF3F9"/>
            </a:solidFill>
            <a:prstDash val="solid"/>
          </a:ln>
        </p:spPr>
      </p:sp>
      <p:sp>
        <p:nvSpPr>
          <p:cNvPr id="10" name="Shape 8"/>
          <p:cNvSpPr/>
          <p:nvPr/>
        </p:nvSpPr>
        <p:spPr>
          <a:xfrm>
            <a:off x="4846320" y="1527048"/>
            <a:ext cx="384048" cy="384048"/>
          </a:xfrm>
          <a:prstGeom prst="ellipse">
            <a:avLst/>
          </a:prstGeom>
          <a:solidFill>
            <a:srgbClr val="0064B1"/>
          </a:solidFill>
          <a:ln w="12700">
            <a:solidFill>
              <a:srgbClr val="0064B1"/>
            </a:solidFill>
            <a:prstDash val="solid"/>
          </a:ln>
        </p:spPr>
      </p:sp>
      <p:sp>
        <p:nvSpPr>
          <p:cNvPr id="11" name="Text 9"/>
          <p:cNvSpPr txBox="1"/>
          <p:nvPr/>
        </p:nvSpPr>
        <p:spPr>
          <a:xfrm>
            <a:off x="4846320" y="152704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2" name="Text 10"/>
          <p:cNvSpPr txBox="1"/>
          <p:nvPr/>
        </p:nvSpPr>
        <p:spPr>
          <a:xfrm>
            <a:off x="5376672" y="1545336"/>
            <a:ext cx="3108960" cy="347472"/>
          </a:xfrm>
          <a:prstGeom prst="rect">
            <a:avLst/>
          </a:prstGeom>
          <a:noFill/>
          <a:ln/>
        </p:spPr>
        <p:txBody>
          <a:bodyPr wrap="square" lIns="0" tIns="0" rIns="0" bIns="0" rtlCol="0" anchor="ctr"/>
          <a:lstStyle/>
          <a:p>
            <a:pPr indent="0" marL="0">
              <a:buNone/>
            </a:pPr>
            <a:r>
              <a:rPr lang="en-US" sz="1500" b="1" dirty="0">
                <a:solidFill>
                  <a:srgbClr val="0B2F57"/>
                </a:solidFill>
                <a:latin typeface="Arial" pitchFamily="34" charset="0"/>
                <a:ea typeface="Arial" pitchFamily="34" charset="-122"/>
                <a:cs typeface="Arial" pitchFamily="34" charset="-120"/>
              </a:rPr>
              <a:t>No leaked examples</a:t>
            </a:r>
            <a:endParaRPr lang="en-US" sz="1500" dirty="0"/>
          </a:p>
        </p:txBody>
      </p:sp>
      <p:sp>
        <p:nvSpPr>
          <p:cNvPr id="13" name="Text 11"/>
          <p:cNvSpPr txBox="1"/>
          <p:nvPr/>
        </p:nvSpPr>
        <p:spPr>
          <a:xfrm>
            <a:off x="5376672" y="1965960"/>
            <a:ext cx="3154680" cy="822960"/>
          </a:xfrm>
          <a:prstGeom prst="rect">
            <a:avLst/>
          </a:prstGeom>
          <a:noFill/>
          <a:ln/>
        </p:spPr>
        <p:txBody>
          <a:bodyPr wrap="square" lIns="0" tIns="0" rIns="0" bIns="0" rtlCol="0" anchor="t"/>
          <a:lstStyle/>
          <a:p>
            <a:pPr indent="0" marL="0">
              <a:buNone/>
            </a:pPr>
            <a:r>
              <a:rPr lang="en-US" sz="1150" dirty="0">
                <a:solidFill>
                  <a:srgbClr val="1A2233"/>
                </a:solidFill>
                <a:latin typeface="Arial" pitchFamily="34" charset="0"/>
                <a:ea typeface="Arial" pitchFamily="34" charset="-122"/>
                <a:cs typeface="Arial" pitchFamily="34" charset="-120"/>
              </a:rPr>
              <a:t>Examples use hotel, clinic and school domains. An automated check found and removed several leaks, including our own.</a:t>
            </a:r>
            <a:endParaRPr lang="en-US" sz="1150" dirty="0"/>
          </a:p>
        </p:txBody>
      </p:sp>
      <p:sp>
        <p:nvSpPr>
          <p:cNvPr id="14" name="Shape 12"/>
          <p:cNvSpPr/>
          <p:nvPr/>
        </p:nvSpPr>
        <p:spPr>
          <a:xfrm>
            <a:off x="457200" y="3063240"/>
            <a:ext cx="4023360" cy="1554480"/>
          </a:xfrm>
          <a:prstGeom prst="roundRect">
            <a:avLst>
              <a:gd name="adj" fmla="val 4706"/>
            </a:avLst>
          </a:prstGeom>
          <a:solidFill>
            <a:srgbClr val="EEF3F9"/>
          </a:solidFill>
          <a:ln w="12700">
            <a:solidFill>
              <a:srgbClr val="EEF3F9"/>
            </a:solidFill>
            <a:prstDash val="solid"/>
          </a:ln>
        </p:spPr>
      </p:sp>
      <p:sp>
        <p:nvSpPr>
          <p:cNvPr id="15" name="Shape 13"/>
          <p:cNvSpPr/>
          <p:nvPr/>
        </p:nvSpPr>
        <p:spPr>
          <a:xfrm>
            <a:off x="640080" y="3264408"/>
            <a:ext cx="384048" cy="384048"/>
          </a:xfrm>
          <a:prstGeom prst="ellipse">
            <a:avLst/>
          </a:prstGeom>
          <a:solidFill>
            <a:srgbClr val="0064B1"/>
          </a:solidFill>
          <a:ln w="12700">
            <a:solidFill>
              <a:srgbClr val="0064B1"/>
            </a:solidFill>
            <a:prstDash val="solid"/>
          </a:ln>
        </p:spPr>
      </p:sp>
      <p:sp>
        <p:nvSpPr>
          <p:cNvPr id="16" name="Text 14"/>
          <p:cNvSpPr txBox="1"/>
          <p:nvPr/>
        </p:nvSpPr>
        <p:spPr>
          <a:xfrm>
            <a:off x="640080" y="32644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7" name="Text 15"/>
          <p:cNvSpPr txBox="1"/>
          <p:nvPr/>
        </p:nvSpPr>
        <p:spPr>
          <a:xfrm>
            <a:off x="1170432" y="3282696"/>
            <a:ext cx="3108960" cy="347472"/>
          </a:xfrm>
          <a:prstGeom prst="rect">
            <a:avLst/>
          </a:prstGeom>
          <a:noFill/>
          <a:ln/>
        </p:spPr>
        <p:txBody>
          <a:bodyPr wrap="square" lIns="0" tIns="0" rIns="0" bIns="0" rtlCol="0" anchor="ctr"/>
          <a:lstStyle/>
          <a:p>
            <a:pPr indent="0" marL="0">
              <a:buNone/>
            </a:pPr>
            <a:r>
              <a:rPr lang="en-US" sz="1500" b="1" dirty="0">
                <a:solidFill>
                  <a:srgbClr val="0B2F57"/>
                </a:solidFill>
                <a:latin typeface="Arial" pitchFamily="34" charset="0"/>
                <a:ea typeface="Arial" pitchFamily="34" charset="-122"/>
                <a:cs typeface="Arial" pitchFamily="34" charset="-120"/>
              </a:rPr>
              <a:t>Fair scoring</a:t>
            </a:r>
            <a:endParaRPr lang="en-US" sz="1500" dirty="0"/>
          </a:p>
        </p:txBody>
      </p:sp>
      <p:sp>
        <p:nvSpPr>
          <p:cNvPr id="18" name="Text 16"/>
          <p:cNvSpPr txBox="1"/>
          <p:nvPr/>
        </p:nvSpPr>
        <p:spPr>
          <a:xfrm>
            <a:off x="1170432" y="3703320"/>
            <a:ext cx="3154680" cy="822960"/>
          </a:xfrm>
          <a:prstGeom prst="rect">
            <a:avLst/>
          </a:prstGeom>
          <a:noFill/>
          <a:ln/>
        </p:spPr>
        <p:txBody>
          <a:bodyPr wrap="square" lIns="0" tIns="0" rIns="0" bIns="0" rtlCol="0" anchor="t"/>
          <a:lstStyle/>
          <a:p>
            <a:pPr indent="0" marL="0">
              <a:buNone/>
            </a:pPr>
            <a:r>
              <a:rPr lang="en-US" sz="1150" dirty="0">
                <a:solidFill>
                  <a:srgbClr val="1A2233"/>
                </a:solidFill>
                <a:latin typeface="Arial" pitchFamily="34" charset="0"/>
                <a:ea typeface="Arial" pitchFamily="34" charset="-122"/>
                <a:cs typeface="Arial" pitchFamily="34" charset="-120"/>
              </a:rPr>
              <a:t>Names are split on CamelCase for every run, so a naming style can't pass for a modeling improvement.</a:t>
            </a:r>
            <a:endParaRPr lang="en-US" sz="1150" dirty="0"/>
          </a:p>
        </p:txBody>
      </p:sp>
      <p:sp>
        <p:nvSpPr>
          <p:cNvPr id="19" name="Shape 17"/>
          <p:cNvSpPr/>
          <p:nvPr/>
        </p:nvSpPr>
        <p:spPr>
          <a:xfrm>
            <a:off x="4663440" y="3063240"/>
            <a:ext cx="4023360" cy="1554480"/>
          </a:xfrm>
          <a:prstGeom prst="roundRect">
            <a:avLst>
              <a:gd name="adj" fmla="val 4706"/>
            </a:avLst>
          </a:prstGeom>
          <a:solidFill>
            <a:srgbClr val="EEF3F9"/>
          </a:solidFill>
          <a:ln w="12700">
            <a:solidFill>
              <a:srgbClr val="EEF3F9"/>
            </a:solidFill>
            <a:prstDash val="solid"/>
          </a:ln>
        </p:spPr>
      </p:sp>
      <p:sp>
        <p:nvSpPr>
          <p:cNvPr id="20" name="Shape 18"/>
          <p:cNvSpPr/>
          <p:nvPr/>
        </p:nvSpPr>
        <p:spPr>
          <a:xfrm>
            <a:off x="4846320" y="3264408"/>
            <a:ext cx="384048" cy="384048"/>
          </a:xfrm>
          <a:prstGeom prst="ellipse">
            <a:avLst/>
          </a:prstGeom>
          <a:solidFill>
            <a:srgbClr val="0064B1"/>
          </a:solidFill>
          <a:ln w="12700">
            <a:solidFill>
              <a:srgbClr val="0064B1"/>
            </a:solidFill>
            <a:prstDash val="solid"/>
          </a:ln>
        </p:spPr>
      </p:sp>
      <p:sp>
        <p:nvSpPr>
          <p:cNvPr id="21" name="Text 19"/>
          <p:cNvSpPr txBox="1"/>
          <p:nvPr/>
        </p:nvSpPr>
        <p:spPr>
          <a:xfrm>
            <a:off x="4846320" y="32644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22" name="Text 20"/>
          <p:cNvSpPr txBox="1"/>
          <p:nvPr/>
        </p:nvSpPr>
        <p:spPr>
          <a:xfrm>
            <a:off x="5376672" y="3282696"/>
            <a:ext cx="3108960" cy="347472"/>
          </a:xfrm>
          <a:prstGeom prst="rect">
            <a:avLst/>
          </a:prstGeom>
          <a:noFill/>
          <a:ln/>
        </p:spPr>
        <p:txBody>
          <a:bodyPr wrap="square" lIns="0" tIns="0" rIns="0" bIns="0" rtlCol="0" anchor="ctr"/>
          <a:lstStyle/>
          <a:p>
            <a:pPr indent="0" marL="0">
              <a:buNone/>
            </a:pPr>
            <a:r>
              <a:rPr lang="en-US" sz="1500" b="1" dirty="0">
                <a:solidFill>
                  <a:srgbClr val="0B2F57"/>
                </a:solidFill>
                <a:latin typeface="Arial" pitchFamily="34" charset="0"/>
                <a:ea typeface="Arial" pitchFamily="34" charset="-122"/>
                <a:cs typeface="Arial" pitchFamily="34" charset="-120"/>
              </a:rPr>
              <a:t>Complete ground truth</a:t>
            </a:r>
            <a:endParaRPr lang="en-US" sz="1500" dirty="0"/>
          </a:p>
        </p:txBody>
      </p:sp>
      <p:sp>
        <p:nvSpPr>
          <p:cNvPr id="23" name="Text 21"/>
          <p:cNvSpPr txBox="1"/>
          <p:nvPr/>
        </p:nvSpPr>
        <p:spPr>
          <a:xfrm>
            <a:off x="5376672" y="3703320"/>
            <a:ext cx="3154680" cy="822960"/>
          </a:xfrm>
          <a:prstGeom prst="rect">
            <a:avLst/>
          </a:prstGeom>
          <a:noFill/>
          <a:ln/>
        </p:spPr>
        <p:txBody>
          <a:bodyPr wrap="square" lIns="0" tIns="0" rIns="0" bIns="0" rtlCol="0" anchor="t"/>
          <a:lstStyle/>
          <a:p>
            <a:pPr indent="0" marL="0">
              <a:buNone/>
            </a:pPr>
            <a:r>
              <a:rPr lang="en-US" sz="1150" dirty="0">
                <a:solidFill>
                  <a:srgbClr val="1A2233"/>
                </a:solidFill>
                <a:latin typeface="Arial" pitchFamily="34" charset="0"/>
                <a:ea typeface="Arial" pitchFamily="34" charset="-122"/>
                <a:cs typeface="Arial" pitchFamily="34" charset="-120"/>
              </a:rPr>
              <a:t>Identification keys built from the instructor's documents; the NTSS classification CSV corrected for rows lost in conversion.</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548640"/>
          </a:xfrm>
          <a:prstGeom prst="rect">
            <a:avLst/>
          </a:prstGeom>
          <a:noFill/>
          <a:ln/>
        </p:spPr>
        <p:txBody>
          <a:bodyPr wrap="square" lIns="0" tIns="0" rIns="0" bIns="0" rtlCol="0" anchor="ctr"/>
          <a:lstStyle/>
          <a:p>
            <a:pPr indent="0" marL="0">
              <a:buNone/>
            </a:pPr>
            <a:r>
              <a:rPr lang="en-US" sz="2800" b="1" dirty="0">
                <a:solidFill>
                  <a:srgbClr val="0B2F57"/>
                </a:solidFill>
                <a:latin typeface="Arial" pitchFamily="34" charset="0"/>
                <a:ea typeface="Arial" pitchFamily="34" charset="-122"/>
                <a:cs typeface="Arial" pitchFamily="34" charset="-120"/>
              </a:rPr>
              <a:t>Baseline vs optimized</a:t>
            </a:r>
            <a:endParaRPr lang="en-US" sz="2800" dirty="0"/>
          </a:p>
        </p:txBody>
      </p:sp>
      <p:sp>
        <p:nvSpPr>
          <p:cNvPr id="3" name="Text 1"/>
          <p:cNvSpPr txBox="1"/>
          <p:nvPr/>
        </p:nvSpPr>
        <p:spPr>
          <a:xfrm>
            <a:off x="457200" y="841248"/>
            <a:ext cx="8229600" cy="320040"/>
          </a:xfrm>
          <a:prstGeom prst="rect">
            <a:avLst/>
          </a:prstGeom>
          <a:noFill/>
          <a:ln/>
        </p:spPr>
        <p:txBody>
          <a:bodyPr wrap="square" lIns="0" tIns="0" rIns="0" bIns="0" rtlCol="0" anchor="t"/>
          <a:lstStyle/>
          <a:p>
            <a:pPr indent="0" marL="0">
              <a:buNone/>
            </a:pPr>
            <a:r>
              <a:rPr lang="en-US" sz="1300" dirty="0">
                <a:solidFill>
                  <a:srgbClr val="5B6678"/>
                </a:solidFill>
                <a:latin typeface="Arial" pitchFamily="34" charset="0"/>
                <a:ea typeface="Arial" pitchFamily="34" charset="-122"/>
                <a:cs typeface="Arial" pitchFamily="34" charset="-120"/>
              </a:rPr>
              <a:t>P0 compared with the best version (identification P4, classification P3)</a:t>
            </a:r>
            <a:endParaRPr lang="en-US" sz="13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8229600" cy="914400"/>
        </p:xfrm>
        <a:graphic>
          <a:graphicData uri="http://schemas.openxmlformats.org/drawingml/2006/table">
            <a:tbl>
              <a:tblPr/>
              <a:tblGrid>
                <a:gridCol w="1371600"/>
                <a:gridCol w="1188720"/>
                <a:gridCol w="1005840"/>
                <a:gridCol w="1280160"/>
                <a:gridCol w="1005840"/>
                <a:gridCol w="1188720"/>
                <a:gridCol w="1188720"/>
              </a:tblGrid>
              <a:tr h="384048">
                <a:tc>
                  <a:txBody>
                    <a:bodyPr/>
                    <a:lstStyle/>
                    <a:p>
                      <a:pPr indent="0" marL="0">
                        <a:buNone/>
                      </a:pPr>
                      <a:r>
                        <a:rPr lang="en-US" sz="1100" b="1" dirty="0">
                          <a:solidFill>
                            <a:srgbClr val="FFFFFF"/>
                          </a:solidFill>
                          <a:latin typeface="Arial" pitchFamily="34" charset="0"/>
                          <a:ea typeface="Arial" pitchFamily="34" charset="-122"/>
                          <a:cs typeface="Arial" pitchFamily="34" charset="-120"/>
                        </a:rPr>
                        <a:t>Activity</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0B2F57"/>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Domain</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0B2F57"/>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P0 F1</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0B2F57"/>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Optimized F1</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0B2F57"/>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Change</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0B2F57"/>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Precision</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0B2F57"/>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Recall</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0B2F57"/>
                    </a:solidFill>
                  </a:tcPr>
                </a:tc>
              </a:tr>
              <a:tr h="384048">
                <a:tc>
                  <a:txBody>
                    <a:bodyPr/>
                    <a:lstStyle/>
                    <a:p>
                      <a:pPr indent="0" marL="0">
                        <a:buNone/>
                      </a:pPr>
                      <a:r>
                        <a:rPr lang="en-US" sz="1100" b="1" dirty="0">
                          <a:solidFill>
                            <a:srgbClr val="1A2233"/>
                          </a:solidFill>
                          <a:latin typeface="Arial" pitchFamily="34" charset="0"/>
                          <a:ea typeface="Arial" pitchFamily="34" charset="-122"/>
                          <a:cs typeface="Arial" pitchFamily="34" charset="-120"/>
                        </a:rPr>
                        <a:t>Identification</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c>
                  <a:txBody>
                    <a:bodyPr/>
                    <a:lstStyle/>
                    <a:p>
                      <a:pPr indent="0" marL="0">
                        <a:buNone/>
                      </a:pPr>
                      <a:r>
                        <a:rPr lang="en-US" sz="1100" dirty="0">
                          <a:solidFill>
                            <a:srgbClr val="1A2233"/>
                          </a:solidFill>
                          <a:latin typeface="Arial" pitchFamily="34" charset="0"/>
                          <a:ea typeface="Arial" pitchFamily="34" charset="-122"/>
                          <a:cs typeface="Arial" pitchFamily="34" charset="-120"/>
                        </a:rPr>
                        <a:t>Library</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c>
                  <a:txBody>
                    <a:bodyPr/>
                    <a:lstStyle/>
                    <a:p>
                      <a:pPr indent="0" marL="0">
                        <a:buNone/>
                      </a:pPr>
                      <a:r>
                        <a:rPr lang="en-US" sz="1100" dirty="0">
                          <a:solidFill>
                            <a:srgbClr val="1A2233"/>
                          </a:solidFill>
                          <a:latin typeface="Arial" pitchFamily="34" charset="0"/>
                          <a:ea typeface="Arial" pitchFamily="34" charset="-122"/>
                          <a:cs typeface="Arial" pitchFamily="34" charset="-120"/>
                        </a:rPr>
                        <a:t>68.9</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c>
                  <a:txBody>
                    <a:bodyPr/>
                    <a:lstStyle/>
                    <a:p>
                      <a:pPr indent="0" marL="0">
                        <a:buNone/>
                      </a:pPr>
                      <a:r>
                        <a:rPr lang="en-US" sz="1100" b="1" dirty="0">
                          <a:solidFill>
                            <a:srgbClr val="0064B1"/>
                          </a:solidFill>
                          <a:latin typeface="Arial" pitchFamily="34" charset="0"/>
                          <a:ea typeface="Arial" pitchFamily="34" charset="-122"/>
                          <a:cs typeface="Arial" pitchFamily="34" charset="-120"/>
                        </a:rPr>
                        <a:t>93.7</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c>
                  <a:txBody>
                    <a:bodyPr/>
                    <a:lstStyle/>
                    <a:p>
                      <a:pPr indent="0" marL="0">
                        <a:buNone/>
                      </a:pPr>
                      <a:r>
                        <a:rPr lang="en-US" sz="1100" b="1" dirty="0">
                          <a:solidFill>
                            <a:srgbClr val="0064B1"/>
                          </a:solidFill>
                          <a:latin typeface="Arial" pitchFamily="34" charset="0"/>
                          <a:ea typeface="Arial" pitchFamily="34" charset="-122"/>
                          <a:cs typeface="Arial" pitchFamily="34" charset="-120"/>
                        </a:rPr>
                        <a:t>+24.8</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c>
                  <a:txBody>
                    <a:bodyPr/>
                    <a:lstStyle/>
                    <a:p>
                      <a:pPr indent="0" marL="0">
                        <a:buNone/>
                      </a:pPr>
                      <a:r>
                        <a:rPr lang="en-US" sz="1100" dirty="0">
                          <a:solidFill>
                            <a:srgbClr val="1A2233"/>
                          </a:solidFill>
                          <a:latin typeface="Arial" pitchFamily="34" charset="0"/>
                          <a:ea typeface="Arial" pitchFamily="34" charset="-122"/>
                          <a:cs typeface="Arial" pitchFamily="34" charset="-120"/>
                        </a:rPr>
                        <a:t>94.5</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c>
                  <a:txBody>
                    <a:bodyPr/>
                    <a:lstStyle/>
                    <a:p>
                      <a:pPr indent="0" marL="0">
                        <a:buNone/>
                      </a:pPr>
                      <a:r>
                        <a:rPr lang="en-US" sz="1100" dirty="0">
                          <a:solidFill>
                            <a:srgbClr val="1A2233"/>
                          </a:solidFill>
                          <a:latin typeface="Arial" pitchFamily="34" charset="0"/>
                          <a:ea typeface="Arial" pitchFamily="34" charset="-122"/>
                          <a:cs typeface="Arial" pitchFamily="34" charset="-120"/>
                        </a:rPr>
                        <a:t>92.9</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r>
              <a:tr h="384048">
                <a:tc>
                  <a:txBody>
                    <a:bodyPr/>
                    <a:lstStyle/>
                    <a:p>
                      <a:pPr indent="0" marL="0">
                        <a:buNone/>
                      </a:pP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c>
                  <a:txBody>
                    <a:bodyPr/>
                    <a:lstStyle/>
                    <a:p>
                      <a:pPr indent="0" marL="0">
                        <a:buNone/>
                      </a:pPr>
                      <a:r>
                        <a:rPr lang="en-US" sz="1100" dirty="0">
                          <a:solidFill>
                            <a:srgbClr val="1A2233"/>
                          </a:solidFill>
                          <a:latin typeface="Arial" pitchFamily="34" charset="0"/>
                          <a:ea typeface="Arial" pitchFamily="34" charset="-122"/>
                          <a:cs typeface="Arial" pitchFamily="34" charset="-120"/>
                        </a:rPr>
                        <a:t>Car rental</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c>
                  <a:txBody>
                    <a:bodyPr/>
                    <a:lstStyle/>
                    <a:p>
                      <a:pPr indent="0" marL="0">
                        <a:buNone/>
                      </a:pPr>
                      <a:r>
                        <a:rPr lang="en-US" sz="1100" dirty="0">
                          <a:solidFill>
                            <a:srgbClr val="1A2233"/>
                          </a:solidFill>
                          <a:latin typeface="Arial" pitchFamily="34" charset="0"/>
                          <a:ea typeface="Arial" pitchFamily="34" charset="-122"/>
                          <a:cs typeface="Arial" pitchFamily="34" charset="-120"/>
                        </a:rPr>
                        <a:t>52.0</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c>
                  <a:txBody>
                    <a:bodyPr/>
                    <a:lstStyle/>
                    <a:p>
                      <a:pPr indent="0" marL="0">
                        <a:buNone/>
                      </a:pPr>
                      <a:r>
                        <a:rPr lang="en-US" sz="1100" b="1" dirty="0">
                          <a:solidFill>
                            <a:srgbClr val="1A2233"/>
                          </a:solidFill>
                          <a:latin typeface="Arial" pitchFamily="34" charset="0"/>
                          <a:ea typeface="Arial" pitchFamily="34" charset="-122"/>
                          <a:cs typeface="Arial" pitchFamily="34" charset="-120"/>
                        </a:rPr>
                        <a:t>71.9</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c>
                  <a:txBody>
                    <a:bodyPr/>
                    <a:lstStyle/>
                    <a:p>
                      <a:pPr indent="0" marL="0">
                        <a:buNone/>
                      </a:pPr>
                      <a:r>
                        <a:rPr lang="en-US" sz="1100" b="1" dirty="0">
                          <a:solidFill>
                            <a:srgbClr val="0064B1"/>
                          </a:solidFill>
                          <a:latin typeface="Arial" pitchFamily="34" charset="0"/>
                          <a:ea typeface="Arial" pitchFamily="34" charset="-122"/>
                          <a:cs typeface="Arial" pitchFamily="34" charset="-120"/>
                        </a:rPr>
                        <a:t>+19.9</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c>
                  <a:txBody>
                    <a:bodyPr/>
                    <a:lstStyle/>
                    <a:p>
                      <a:pPr indent="0" marL="0">
                        <a:buNone/>
                      </a:pPr>
                      <a:r>
                        <a:rPr lang="en-US" sz="1100" dirty="0">
                          <a:solidFill>
                            <a:srgbClr val="1A2233"/>
                          </a:solidFill>
                          <a:latin typeface="Arial" pitchFamily="34" charset="0"/>
                          <a:ea typeface="Arial" pitchFamily="34" charset="-122"/>
                          <a:cs typeface="Arial" pitchFamily="34" charset="-120"/>
                        </a:rPr>
                        <a:t>62.5</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c>
                  <a:txBody>
                    <a:bodyPr/>
                    <a:lstStyle/>
                    <a:p>
                      <a:pPr indent="0" marL="0">
                        <a:buNone/>
                      </a:pPr>
                      <a:r>
                        <a:rPr lang="en-US" sz="1100" dirty="0">
                          <a:solidFill>
                            <a:srgbClr val="1A2233"/>
                          </a:solidFill>
                          <a:latin typeface="Arial" pitchFamily="34" charset="0"/>
                          <a:ea typeface="Arial" pitchFamily="34" charset="-122"/>
                          <a:cs typeface="Arial" pitchFamily="34" charset="-120"/>
                        </a:rPr>
                        <a:t>84.6</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r>
              <a:tr h="384048">
                <a:tc>
                  <a:txBody>
                    <a:bodyPr/>
                    <a:lstStyle/>
                    <a:p>
                      <a:pPr indent="0" marL="0">
                        <a:buNone/>
                      </a:pP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c>
                  <a:txBody>
                    <a:bodyPr/>
                    <a:lstStyle/>
                    <a:p>
                      <a:pPr indent="0" marL="0">
                        <a:buNone/>
                      </a:pPr>
                      <a:r>
                        <a:rPr lang="en-US" sz="1100" dirty="0">
                          <a:solidFill>
                            <a:srgbClr val="1A2233"/>
                          </a:solidFill>
                          <a:latin typeface="Arial" pitchFamily="34" charset="0"/>
                          <a:ea typeface="Arial" pitchFamily="34" charset="-122"/>
                          <a:cs typeface="Arial" pitchFamily="34" charset="-120"/>
                        </a:rPr>
                        <a:t>NTSS</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c>
                  <a:txBody>
                    <a:bodyPr/>
                    <a:lstStyle/>
                    <a:p>
                      <a:pPr indent="0" marL="0">
                        <a:buNone/>
                      </a:pPr>
                      <a:r>
                        <a:rPr lang="en-US" sz="1100" dirty="0">
                          <a:solidFill>
                            <a:srgbClr val="1A2233"/>
                          </a:solidFill>
                          <a:latin typeface="Arial" pitchFamily="34" charset="0"/>
                          <a:ea typeface="Arial" pitchFamily="34" charset="-122"/>
                          <a:cs typeface="Arial" pitchFamily="34" charset="-120"/>
                        </a:rPr>
                        <a:t>71.2</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c>
                  <a:txBody>
                    <a:bodyPr/>
                    <a:lstStyle/>
                    <a:p>
                      <a:pPr indent="0" marL="0">
                        <a:buNone/>
                      </a:pPr>
                      <a:r>
                        <a:rPr lang="en-US" sz="1100" b="1" dirty="0">
                          <a:solidFill>
                            <a:srgbClr val="1A2233"/>
                          </a:solidFill>
                          <a:latin typeface="Arial" pitchFamily="34" charset="0"/>
                          <a:ea typeface="Arial" pitchFamily="34" charset="-122"/>
                          <a:cs typeface="Arial" pitchFamily="34" charset="-120"/>
                        </a:rPr>
                        <a:t>89.6</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c>
                  <a:txBody>
                    <a:bodyPr/>
                    <a:lstStyle/>
                    <a:p>
                      <a:pPr indent="0" marL="0">
                        <a:buNone/>
                      </a:pPr>
                      <a:r>
                        <a:rPr lang="en-US" sz="1100" b="1" dirty="0">
                          <a:solidFill>
                            <a:srgbClr val="0064B1"/>
                          </a:solidFill>
                          <a:latin typeface="Arial" pitchFamily="34" charset="0"/>
                          <a:ea typeface="Arial" pitchFamily="34" charset="-122"/>
                          <a:cs typeface="Arial" pitchFamily="34" charset="-120"/>
                        </a:rPr>
                        <a:t>+18.4</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c>
                  <a:txBody>
                    <a:bodyPr/>
                    <a:lstStyle/>
                    <a:p>
                      <a:pPr indent="0" marL="0">
                        <a:buNone/>
                      </a:pPr>
                      <a:r>
                        <a:rPr lang="en-US" sz="1100" dirty="0">
                          <a:solidFill>
                            <a:srgbClr val="1A2233"/>
                          </a:solidFill>
                          <a:latin typeface="Arial" pitchFamily="34" charset="0"/>
                          <a:ea typeface="Arial" pitchFamily="34" charset="-122"/>
                          <a:cs typeface="Arial" pitchFamily="34" charset="-120"/>
                        </a:rPr>
                        <a:t>84.5</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c>
                  <a:txBody>
                    <a:bodyPr/>
                    <a:lstStyle/>
                    <a:p>
                      <a:pPr indent="0" marL="0">
                        <a:buNone/>
                      </a:pPr>
                      <a:r>
                        <a:rPr lang="en-US" sz="1100" dirty="0">
                          <a:solidFill>
                            <a:srgbClr val="1A2233"/>
                          </a:solidFill>
                          <a:latin typeface="Arial" pitchFamily="34" charset="0"/>
                          <a:ea typeface="Arial" pitchFamily="34" charset="-122"/>
                          <a:cs typeface="Arial" pitchFamily="34" charset="-120"/>
                        </a:rPr>
                        <a:t>95.3</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r>
              <a:tr h="384048">
                <a:tc>
                  <a:txBody>
                    <a:bodyPr/>
                    <a:lstStyle/>
                    <a:p>
                      <a:pPr indent="0" marL="0">
                        <a:buNone/>
                      </a:pPr>
                      <a:r>
                        <a:rPr lang="en-US" sz="1100" b="1" dirty="0">
                          <a:solidFill>
                            <a:srgbClr val="1A2233"/>
                          </a:solidFill>
                          <a:latin typeface="Arial" pitchFamily="34" charset="0"/>
                          <a:ea typeface="Arial" pitchFamily="34" charset="-122"/>
                          <a:cs typeface="Arial" pitchFamily="34" charset="-120"/>
                        </a:rPr>
                        <a:t>Classification</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c>
                  <a:txBody>
                    <a:bodyPr/>
                    <a:lstStyle/>
                    <a:p>
                      <a:pPr indent="0" marL="0">
                        <a:buNone/>
                      </a:pPr>
                      <a:r>
                        <a:rPr lang="en-US" sz="1100" dirty="0">
                          <a:solidFill>
                            <a:srgbClr val="1A2233"/>
                          </a:solidFill>
                          <a:latin typeface="Arial" pitchFamily="34" charset="0"/>
                          <a:ea typeface="Arial" pitchFamily="34" charset="-122"/>
                          <a:cs typeface="Arial" pitchFamily="34" charset="-120"/>
                        </a:rPr>
                        <a:t>Library</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c>
                  <a:txBody>
                    <a:bodyPr/>
                    <a:lstStyle/>
                    <a:p>
                      <a:pPr indent="0" marL="0">
                        <a:buNone/>
                      </a:pPr>
                      <a:r>
                        <a:rPr lang="en-US" sz="1100" dirty="0">
                          <a:solidFill>
                            <a:srgbClr val="1A2233"/>
                          </a:solidFill>
                          <a:latin typeface="Arial" pitchFamily="34" charset="0"/>
                          <a:ea typeface="Arial" pitchFamily="34" charset="-122"/>
                          <a:cs typeface="Arial" pitchFamily="34" charset="-120"/>
                        </a:rPr>
                        <a:t>30.4</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c>
                  <a:txBody>
                    <a:bodyPr/>
                    <a:lstStyle/>
                    <a:p>
                      <a:pPr indent="0" marL="0">
                        <a:buNone/>
                      </a:pPr>
                      <a:r>
                        <a:rPr lang="en-US" sz="1100" b="1" dirty="0">
                          <a:solidFill>
                            <a:srgbClr val="1A2233"/>
                          </a:solidFill>
                          <a:latin typeface="Arial" pitchFamily="34" charset="0"/>
                          <a:ea typeface="Arial" pitchFamily="34" charset="-122"/>
                          <a:cs typeface="Arial" pitchFamily="34" charset="-120"/>
                        </a:rPr>
                        <a:t>70.8</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c>
                  <a:txBody>
                    <a:bodyPr/>
                    <a:lstStyle/>
                    <a:p>
                      <a:pPr indent="0" marL="0">
                        <a:buNone/>
                      </a:pPr>
                      <a:r>
                        <a:rPr lang="en-US" sz="1100" b="1" dirty="0">
                          <a:solidFill>
                            <a:srgbClr val="0064B1"/>
                          </a:solidFill>
                          <a:latin typeface="Arial" pitchFamily="34" charset="0"/>
                          <a:ea typeface="Arial" pitchFamily="34" charset="-122"/>
                          <a:cs typeface="Arial" pitchFamily="34" charset="-120"/>
                        </a:rPr>
                        <a:t>+40.4</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c>
                  <a:txBody>
                    <a:bodyPr/>
                    <a:lstStyle/>
                    <a:p>
                      <a:pPr indent="0" marL="0">
                        <a:buNone/>
                      </a:pPr>
                      <a:r>
                        <a:rPr lang="en-US" sz="1100" dirty="0">
                          <a:solidFill>
                            <a:srgbClr val="1A2233"/>
                          </a:solidFill>
                          <a:latin typeface="Arial" pitchFamily="34" charset="0"/>
                          <a:ea typeface="Arial" pitchFamily="34" charset="-122"/>
                          <a:cs typeface="Arial" pitchFamily="34" charset="-120"/>
                        </a:rPr>
                        <a:t>71.3</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c>
                  <a:txBody>
                    <a:bodyPr/>
                    <a:lstStyle/>
                    <a:p>
                      <a:pPr indent="0" marL="0">
                        <a:buNone/>
                      </a:pPr>
                      <a:r>
                        <a:rPr lang="en-US" sz="1100" dirty="0">
                          <a:solidFill>
                            <a:srgbClr val="1A2233"/>
                          </a:solidFill>
                          <a:latin typeface="Arial" pitchFamily="34" charset="0"/>
                          <a:ea typeface="Arial" pitchFamily="34" charset="-122"/>
                          <a:cs typeface="Arial" pitchFamily="34" charset="-120"/>
                        </a:rPr>
                        <a:t>70.4</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r>
              <a:tr h="384048">
                <a:tc>
                  <a:txBody>
                    <a:bodyPr/>
                    <a:lstStyle/>
                    <a:p>
                      <a:pPr indent="0" marL="0">
                        <a:buNone/>
                      </a:pP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c>
                  <a:txBody>
                    <a:bodyPr/>
                    <a:lstStyle/>
                    <a:p>
                      <a:pPr indent="0" marL="0">
                        <a:buNone/>
                      </a:pPr>
                      <a:r>
                        <a:rPr lang="en-US" sz="1100" dirty="0">
                          <a:solidFill>
                            <a:srgbClr val="1A2233"/>
                          </a:solidFill>
                          <a:latin typeface="Arial" pitchFamily="34" charset="0"/>
                          <a:ea typeface="Arial" pitchFamily="34" charset="-122"/>
                          <a:cs typeface="Arial" pitchFamily="34" charset="-120"/>
                        </a:rPr>
                        <a:t>Car rental</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c>
                  <a:txBody>
                    <a:bodyPr/>
                    <a:lstStyle/>
                    <a:p>
                      <a:pPr indent="0" marL="0">
                        <a:buNone/>
                      </a:pPr>
                      <a:r>
                        <a:rPr lang="en-US" sz="1100" dirty="0">
                          <a:solidFill>
                            <a:srgbClr val="1A2233"/>
                          </a:solidFill>
                          <a:latin typeface="Arial" pitchFamily="34" charset="0"/>
                          <a:ea typeface="Arial" pitchFamily="34" charset="-122"/>
                          <a:cs typeface="Arial" pitchFamily="34" charset="-120"/>
                        </a:rPr>
                        <a:t>44.1</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c>
                  <a:txBody>
                    <a:bodyPr/>
                    <a:lstStyle/>
                    <a:p>
                      <a:pPr indent="0" marL="0">
                        <a:buNone/>
                      </a:pPr>
                      <a:r>
                        <a:rPr lang="en-US" sz="1100" b="1" dirty="0">
                          <a:solidFill>
                            <a:srgbClr val="1A2233"/>
                          </a:solidFill>
                          <a:latin typeface="Arial" pitchFamily="34" charset="0"/>
                          <a:ea typeface="Arial" pitchFamily="34" charset="-122"/>
                          <a:cs typeface="Arial" pitchFamily="34" charset="-120"/>
                        </a:rPr>
                        <a:t>47.2</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c>
                  <a:txBody>
                    <a:bodyPr/>
                    <a:lstStyle/>
                    <a:p>
                      <a:pPr indent="0" marL="0">
                        <a:buNone/>
                      </a:pPr>
                      <a:r>
                        <a:rPr lang="en-US" sz="1100" b="1" dirty="0">
                          <a:solidFill>
                            <a:srgbClr val="0064B1"/>
                          </a:solidFill>
                          <a:latin typeface="Arial" pitchFamily="34" charset="0"/>
                          <a:ea typeface="Arial" pitchFamily="34" charset="-122"/>
                          <a:cs typeface="Arial" pitchFamily="34" charset="-120"/>
                        </a:rPr>
                        <a:t>+3.1</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c>
                  <a:txBody>
                    <a:bodyPr/>
                    <a:lstStyle/>
                    <a:p>
                      <a:pPr indent="0" marL="0">
                        <a:buNone/>
                      </a:pPr>
                      <a:r>
                        <a:rPr lang="en-US" sz="1100" dirty="0">
                          <a:solidFill>
                            <a:srgbClr val="1A2233"/>
                          </a:solidFill>
                          <a:latin typeface="Arial" pitchFamily="34" charset="0"/>
                          <a:ea typeface="Arial" pitchFamily="34" charset="-122"/>
                          <a:cs typeface="Arial" pitchFamily="34" charset="-120"/>
                        </a:rPr>
                        <a:t>48.2</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c>
                  <a:txBody>
                    <a:bodyPr/>
                    <a:lstStyle/>
                    <a:p>
                      <a:pPr indent="0" marL="0">
                        <a:buNone/>
                      </a:pPr>
                      <a:r>
                        <a:rPr lang="en-US" sz="1100" dirty="0">
                          <a:solidFill>
                            <a:srgbClr val="1A2233"/>
                          </a:solidFill>
                          <a:latin typeface="Arial" pitchFamily="34" charset="0"/>
                          <a:ea typeface="Arial" pitchFamily="34" charset="-122"/>
                          <a:cs typeface="Arial" pitchFamily="34" charset="-120"/>
                        </a:rPr>
                        <a:t>46.2</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r>
              <a:tr h="384048">
                <a:tc>
                  <a:txBody>
                    <a:bodyPr/>
                    <a:lstStyle/>
                    <a:p>
                      <a:pPr indent="0" marL="0">
                        <a:buNone/>
                      </a:pP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c>
                  <a:txBody>
                    <a:bodyPr/>
                    <a:lstStyle/>
                    <a:p>
                      <a:pPr indent="0" marL="0">
                        <a:buNone/>
                      </a:pPr>
                      <a:r>
                        <a:rPr lang="en-US" sz="1100" dirty="0">
                          <a:solidFill>
                            <a:srgbClr val="1A2233"/>
                          </a:solidFill>
                          <a:latin typeface="Arial" pitchFamily="34" charset="0"/>
                          <a:ea typeface="Arial" pitchFamily="34" charset="-122"/>
                          <a:cs typeface="Arial" pitchFamily="34" charset="-120"/>
                        </a:rPr>
                        <a:t>NTSS</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c>
                  <a:txBody>
                    <a:bodyPr/>
                    <a:lstStyle/>
                    <a:p>
                      <a:pPr indent="0" marL="0">
                        <a:buNone/>
                      </a:pPr>
                      <a:r>
                        <a:rPr lang="en-US" sz="1100" dirty="0">
                          <a:solidFill>
                            <a:srgbClr val="1A2233"/>
                          </a:solidFill>
                          <a:latin typeface="Arial" pitchFamily="34" charset="0"/>
                          <a:ea typeface="Arial" pitchFamily="34" charset="-122"/>
                          <a:cs typeface="Arial" pitchFamily="34" charset="-120"/>
                        </a:rPr>
                        <a:t>51.4</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c>
                  <a:txBody>
                    <a:bodyPr/>
                    <a:lstStyle/>
                    <a:p>
                      <a:pPr indent="0" marL="0">
                        <a:buNone/>
                      </a:pPr>
                      <a:r>
                        <a:rPr lang="en-US" sz="1100" b="1" dirty="0">
                          <a:solidFill>
                            <a:srgbClr val="1A2233"/>
                          </a:solidFill>
                          <a:latin typeface="Arial" pitchFamily="34" charset="0"/>
                          <a:ea typeface="Arial" pitchFamily="34" charset="-122"/>
                          <a:cs typeface="Arial" pitchFamily="34" charset="-120"/>
                        </a:rPr>
                        <a:t>64.3</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c>
                  <a:txBody>
                    <a:bodyPr/>
                    <a:lstStyle/>
                    <a:p>
                      <a:pPr indent="0" marL="0">
                        <a:buNone/>
                      </a:pPr>
                      <a:r>
                        <a:rPr lang="en-US" sz="1100" b="1" dirty="0">
                          <a:solidFill>
                            <a:srgbClr val="0064B1"/>
                          </a:solidFill>
                          <a:latin typeface="Arial" pitchFamily="34" charset="0"/>
                          <a:ea typeface="Arial" pitchFamily="34" charset="-122"/>
                          <a:cs typeface="Arial" pitchFamily="34" charset="-120"/>
                        </a:rPr>
                        <a:t>+12.9</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c>
                  <a:txBody>
                    <a:bodyPr/>
                    <a:lstStyle/>
                    <a:p>
                      <a:pPr indent="0" marL="0">
                        <a:buNone/>
                      </a:pPr>
                      <a:r>
                        <a:rPr lang="en-US" sz="1100" dirty="0">
                          <a:solidFill>
                            <a:srgbClr val="1A2233"/>
                          </a:solidFill>
                          <a:latin typeface="Arial" pitchFamily="34" charset="0"/>
                          <a:ea typeface="Arial" pitchFamily="34" charset="-122"/>
                          <a:cs typeface="Arial" pitchFamily="34" charset="-120"/>
                        </a:rPr>
                        <a:t>56.1</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c>
                  <a:txBody>
                    <a:bodyPr/>
                    <a:lstStyle/>
                    <a:p>
                      <a:pPr indent="0" marL="0">
                        <a:buNone/>
                      </a:pPr>
                      <a:r>
                        <a:rPr lang="en-US" sz="1100" dirty="0">
                          <a:solidFill>
                            <a:srgbClr val="1A2233"/>
                          </a:solidFill>
                          <a:latin typeface="Arial" pitchFamily="34" charset="0"/>
                          <a:ea typeface="Arial" pitchFamily="34" charset="-122"/>
                          <a:cs typeface="Arial" pitchFamily="34" charset="-120"/>
                        </a:rPr>
                        <a:t>75.4</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548640"/>
          </a:xfrm>
          <a:prstGeom prst="rect">
            <a:avLst/>
          </a:prstGeom>
          <a:noFill/>
          <a:ln/>
        </p:spPr>
        <p:txBody>
          <a:bodyPr wrap="square" lIns="0" tIns="0" rIns="0" bIns="0" rtlCol="0" anchor="ctr"/>
          <a:lstStyle/>
          <a:p>
            <a:pPr indent="0" marL="0">
              <a:buNone/>
            </a:pPr>
            <a:r>
              <a:rPr lang="en-US" sz="2800" b="1" dirty="0">
                <a:solidFill>
                  <a:srgbClr val="0B2F57"/>
                </a:solidFill>
                <a:latin typeface="Arial" pitchFamily="34" charset="0"/>
                <a:ea typeface="Arial" pitchFamily="34" charset="-122"/>
                <a:cs typeface="Arial" pitchFamily="34" charset="-120"/>
              </a:rPr>
              <a:t>Final optimized prompt</a:t>
            </a:r>
            <a:endParaRPr lang="en-US" sz="2800" dirty="0"/>
          </a:p>
        </p:txBody>
      </p:sp>
      <p:sp>
        <p:nvSpPr>
          <p:cNvPr id="3" name="Text 1"/>
          <p:cNvSpPr txBox="1"/>
          <p:nvPr/>
        </p:nvSpPr>
        <p:spPr>
          <a:xfrm>
            <a:off x="457200" y="841248"/>
            <a:ext cx="8229600" cy="320040"/>
          </a:xfrm>
          <a:prstGeom prst="rect">
            <a:avLst/>
          </a:prstGeom>
          <a:noFill/>
          <a:ln/>
        </p:spPr>
        <p:txBody>
          <a:bodyPr wrap="square" lIns="0" tIns="0" rIns="0" bIns="0" rtlCol="0" anchor="t"/>
          <a:lstStyle/>
          <a:p>
            <a:pPr indent="0" marL="0">
              <a:buNone/>
            </a:pPr>
            <a:r>
              <a:rPr lang="en-US" sz="1300" dirty="0">
                <a:solidFill>
                  <a:srgbClr val="5B6678"/>
                </a:solidFill>
                <a:latin typeface="Arial" pitchFamily="34" charset="0"/>
                <a:ea typeface="Arial" pitchFamily="34" charset="-122"/>
                <a:cs typeface="Arial" pitchFamily="34" charset="-120"/>
              </a:rPr>
              <a:t>Identification P4 and classification P3: structure (full text in the repo's prompts folder)</a:t>
            </a:r>
            <a:endParaRPr lang="en-US" sz="1300" dirty="0"/>
          </a:p>
        </p:txBody>
      </p:sp>
      <p:sp>
        <p:nvSpPr>
          <p:cNvPr id="4" name="Shape 2"/>
          <p:cNvSpPr/>
          <p:nvPr/>
        </p:nvSpPr>
        <p:spPr>
          <a:xfrm>
            <a:off x="457200" y="1325880"/>
            <a:ext cx="4023360" cy="731520"/>
          </a:xfrm>
          <a:prstGeom prst="roundRect">
            <a:avLst>
              <a:gd name="adj" fmla="val 10000"/>
            </a:avLst>
          </a:prstGeom>
          <a:solidFill>
            <a:srgbClr val="EEF3F9"/>
          </a:solidFill>
          <a:ln w="12700">
            <a:solidFill>
              <a:srgbClr val="EEF3F9"/>
            </a:solidFill>
            <a:prstDash val="solid"/>
          </a:ln>
        </p:spPr>
      </p:sp>
      <p:sp>
        <p:nvSpPr>
          <p:cNvPr id="5" name="Text 3"/>
          <p:cNvSpPr txBox="1"/>
          <p:nvPr/>
        </p:nvSpPr>
        <p:spPr>
          <a:xfrm>
            <a:off x="621792" y="1417320"/>
            <a:ext cx="1234440" cy="548640"/>
          </a:xfrm>
          <a:prstGeom prst="rect">
            <a:avLst/>
          </a:prstGeom>
          <a:noFill/>
          <a:ln/>
        </p:spPr>
        <p:txBody>
          <a:bodyPr wrap="square" lIns="0" tIns="0" rIns="0" bIns="0" rtlCol="0" anchor="ctr"/>
          <a:lstStyle/>
          <a:p>
            <a:pPr indent="0" marL="0">
              <a:buNone/>
            </a:pPr>
            <a:r>
              <a:rPr lang="en-US" sz="1250" b="1" dirty="0">
                <a:solidFill>
                  <a:srgbClr val="0064B1"/>
                </a:solidFill>
                <a:latin typeface="Arial" pitchFamily="34" charset="0"/>
                <a:ea typeface="Arial" pitchFamily="34" charset="-122"/>
                <a:cs typeface="Arial" pitchFamily="34" charset="-120"/>
              </a:rPr>
              <a:t>Role</a:t>
            </a:r>
            <a:endParaRPr lang="en-US" sz="1250" dirty="0"/>
          </a:p>
        </p:txBody>
      </p:sp>
      <p:sp>
        <p:nvSpPr>
          <p:cNvPr id="6" name="Text 4"/>
          <p:cNvSpPr txBox="1"/>
          <p:nvPr/>
        </p:nvSpPr>
        <p:spPr>
          <a:xfrm>
            <a:off x="1874520" y="1399032"/>
            <a:ext cx="2468880" cy="603504"/>
          </a:xfrm>
          <a:prstGeom prst="rect">
            <a:avLst/>
          </a:prstGeom>
          <a:noFill/>
          <a:ln/>
        </p:spPr>
        <p:txBody>
          <a:bodyPr wrap="square" lIns="0" tIns="0" rIns="0" bIns="0" rtlCol="0" anchor="ctr"/>
          <a:lstStyle/>
          <a:p>
            <a:pPr indent="0" marL="0">
              <a:buNone/>
            </a:pPr>
            <a:r>
              <a:rPr lang="en-US" sz="1050" dirty="0">
                <a:solidFill>
                  <a:srgbClr val="1A2233"/>
                </a:solidFill>
                <a:latin typeface="Arial" pitchFamily="34" charset="0"/>
                <a:ea typeface="Arial" pitchFamily="34" charset="-122"/>
                <a:cs typeface="Arial" pitchFamily="34" charset="-120"/>
              </a:rPr>
              <a:t>Domain modeling expert applying AUM, step 2 (identify) or step 3 (classify)</a:t>
            </a:r>
            <a:endParaRPr lang="en-US" sz="1050" dirty="0"/>
          </a:p>
        </p:txBody>
      </p:sp>
      <p:sp>
        <p:nvSpPr>
          <p:cNvPr id="7" name="Shape 5"/>
          <p:cNvSpPr/>
          <p:nvPr/>
        </p:nvSpPr>
        <p:spPr>
          <a:xfrm>
            <a:off x="4663440" y="1325880"/>
            <a:ext cx="4023360" cy="731520"/>
          </a:xfrm>
          <a:prstGeom prst="roundRect">
            <a:avLst>
              <a:gd name="adj" fmla="val 10000"/>
            </a:avLst>
          </a:prstGeom>
          <a:solidFill>
            <a:srgbClr val="EEF3F9"/>
          </a:solidFill>
          <a:ln w="12700">
            <a:solidFill>
              <a:srgbClr val="EEF3F9"/>
            </a:solidFill>
            <a:prstDash val="solid"/>
          </a:ln>
        </p:spPr>
      </p:sp>
      <p:sp>
        <p:nvSpPr>
          <p:cNvPr id="8" name="Text 6"/>
          <p:cNvSpPr txBox="1"/>
          <p:nvPr/>
        </p:nvSpPr>
        <p:spPr>
          <a:xfrm>
            <a:off x="4828032" y="1417320"/>
            <a:ext cx="1234440" cy="548640"/>
          </a:xfrm>
          <a:prstGeom prst="rect">
            <a:avLst/>
          </a:prstGeom>
          <a:noFill/>
          <a:ln/>
        </p:spPr>
        <p:txBody>
          <a:bodyPr wrap="square" lIns="0" tIns="0" rIns="0" bIns="0" rtlCol="0" anchor="ctr"/>
          <a:lstStyle/>
          <a:p>
            <a:pPr indent="0" marL="0">
              <a:buNone/>
            </a:pPr>
            <a:r>
              <a:rPr lang="en-US" sz="1250" b="1" dirty="0">
                <a:solidFill>
                  <a:srgbClr val="0064B1"/>
                </a:solidFill>
                <a:latin typeface="Arial" pitchFamily="34" charset="0"/>
                <a:ea typeface="Arial" pitchFamily="34" charset="-122"/>
                <a:cs typeface="Arial" pitchFamily="34" charset="-120"/>
              </a:rPr>
              <a:t>Task &amp; definition</a:t>
            </a:r>
            <a:endParaRPr lang="en-US" sz="1250" dirty="0"/>
          </a:p>
        </p:txBody>
      </p:sp>
      <p:sp>
        <p:nvSpPr>
          <p:cNvPr id="9" name="Text 7"/>
          <p:cNvSpPr txBox="1"/>
          <p:nvPr/>
        </p:nvSpPr>
        <p:spPr>
          <a:xfrm>
            <a:off x="6080760" y="1399032"/>
            <a:ext cx="2468880" cy="603504"/>
          </a:xfrm>
          <a:prstGeom prst="rect">
            <a:avLst/>
          </a:prstGeom>
          <a:noFill/>
          <a:ln/>
        </p:spPr>
        <p:txBody>
          <a:bodyPr wrap="square" lIns="0" tIns="0" rIns="0" bIns="0" rtlCol="0" anchor="ctr"/>
          <a:lstStyle/>
          <a:p>
            <a:pPr indent="0" marL="0">
              <a:buNone/>
            </a:pPr>
            <a:r>
              <a:rPr lang="en-US" sz="1050" dirty="0">
                <a:solidFill>
                  <a:srgbClr val="1A2233"/>
                </a:solidFill>
                <a:latin typeface="Arial" pitchFamily="34" charset="0"/>
                <a:ea typeface="Arial" pitchFamily="34" charset="-122"/>
                <a:cs typeface="Arial" pitchFamily="34" charset="-120"/>
              </a:rPr>
              <a:t>"Domain-specific" = needs detail, tracking or rules in the domain, or changes meaning elsewhere</a:t>
            </a:r>
            <a:endParaRPr lang="en-US" sz="1050" dirty="0"/>
          </a:p>
        </p:txBody>
      </p:sp>
      <p:sp>
        <p:nvSpPr>
          <p:cNvPr id="10" name="Shape 8"/>
          <p:cNvSpPr/>
          <p:nvPr/>
        </p:nvSpPr>
        <p:spPr>
          <a:xfrm>
            <a:off x="457200" y="2176272"/>
            <a:ext cx="4023360" cy="731520"/>
          </a:xfrm>
          <a:prstGeom prst="roundRect">
            <a:avLst>
              <a:gd name="adj" fmla="val 10000"/>
            </a:avLst>
          </a:prstGeom>
          <a:solidFill>
            <a:srgbClr val="EEF3F9"/>
          </a:solidFill>
          <a:ln w="12700">
            <a:solidFill>
              <a:srgbClr val="EEF3F9"/>
            </a:solidFill>
            <a:prstDash val="solid"/>
          </a:ln>
        </p:spPr>
      </p:sp>
      <p:sp>
        <p:nvSpPr>
          <p:cNvPr id="11" name="Text 9"/>
          <p:cNvSpPr txBox="1"/>
          <p:nvPr/>
        </p:nvSpPr>
        <p:spPr>
          <a:xfrm>
            <a:off x="621792" y="2267712"/>
            <a:ext cx="1234440" cy="548640"/>
          </a:xfrm>
          <a:prstGeom prst="rect">
            <a:avLst/>
          </a:prstGeom>
          <a:noFill/>
          <a:ln/>
        </p:spPr>
        <p:txBody>
          <a:bodyPr wrap="square" lIns="0" tIns="0" rIns="0" bIns="0" rtlCol="0" anchor="ctr"/>
          <a:lstStyle/>
          <a:p>
            <a:pPr indent="0" marL="0">
              <a:buNone/>
            </a:pPr>
            <a:r>
              <a:rPr lang="en-US" sz="1250" b="1" dirty="0">
                <a:solidFill>
                  <a:srgbClr val="0064B1"/>
                </a:solidFill>
                <a:latin typeface="Arial" pitchFamily="34" charset="0"/>
                <a:ea typeface="Arial" pitchFamily="34" charset="-122"/>
                <a:cs typeface="Arial" pitchFamily="34" charset="-120"/>
              </a:rPr>
              <a:t>Input</a:t>
            </a:r>
            <a:endParaRPr lang="en-US" sz="1250" dirty="0"/>
          </a:p>
        </p:txBody>
      </p:sp>
      <p:sp>
        <p:nvSpPr>
          <p:cNvPr id="12" name="Text 10"/>
          <p:cNvSpPr txBox="1"/>
          <p:nvPr/>
        </p:nvSpPr>
        <p:spPr>
          <a:xfrm>
            <a:off x="1874520" y="2249424"/>
            <a:ext cx="2468880" cy="603504"/>
          </a:xfrm>
          <a:prstGeom prst="rect">
            <a:avLst/>
          </a:prstGeom>
          <a:noFill/>
          <a:ln/>
        </p:spPr>
        <p:txBody>
          <a:bodyPr wrap="square" lIns="0" tIns="0" rIns="0" bIns="0" rtlCol="0" anchor="ctr"/>
          <a:lstStyle/>
          <a:p>
            <a:pPr indent="0" marL="0">
              <a:buNone/>
            </a:pPr>
            <a:r>
              <a:rPr lang="en-US" sz="1050" dirty="0">
                <a:solidFill>
                  <a:srgbClr val="1A2233"/>
                </a:solidFill>
                <a:latin typeface="Arial" pitchFamily="34" charset="0"/>
                <a:ea typeface="Arial" pitchFamily="34" charset="-122"/>
                <a:cs typeface="Arial" pitchFamily="34" charset="-120"/>
              </a:rPr>
              <a:t>The business description; for classification also the phrase list with rule numbers</a:t>
            </a:r>
            <a:endParaRPr lang="en-US" sz="1050" dirty="0"/>
          </a:p>
        </p:txBody>
      </p:sp>
      <p:sp>
        <p:nvSpPr>
          <p:cNvPr id="13" name="Shape 11"/>
          <p:cNvSpPr/>
          <p:nvPr/>
        </p:nvSpPr>
        <p:spPr>
          <a:xfrm>
            <a:off x="4663440" y="2176272"/>
            <a:ext cx="4023360" cy="731520"/>
          </a:xfrm>
          <a:prstGeom prst="roundRect">
            <a:avLst>
              <a:gd name="adj" fmla="val 10000"/>
            </a:avLst>
          </a:prstGeom>
          <a:solidFill>
            <a:srgbClr val="EEF3F9"/>
          </a:solidFill>
          <a:ln w="12700">
            <a:solidFill>
              <a:srgbClr val="EEF3F9"/>
            </a:solidFill>
            <a:prstDash val="solid"/>
          </a:ln>
        </p:spPr>
      </p:sp>
      <p:sp>
        <p:nvSpPr>
          <p:cNvPr id="14" name="Text 12"/>
          <p:cNvSpPr txBox="1"/>
          <p:nvPr/>
        </p:nvSpPr>
        <p:spPr>
          <a:xfrm>
            <a:off x="4828032" y="2267712"/>
            <a:ext cx="1234440" cy="548640"/>
          </a:xfrm>
          <a:prstGeom prst="rect">
            <a:avLst/>
          </a:prstGeom>
          <a:noFill/>
          <a:ln/>
        </p:spPr>
        <p:txBody>
          <a:bodyPr wrap="square" lIns="0" tIns="0" rIns="0" bIns="0" rtlCol="0" anchor="ctr"/>
          <a:lstStyle/>
          <a:p>
            <a:pPr indent="0" marL="0">
              <a:buNone/>
            </a:pPr>
            <a:r>
              <a:rPr lang="en-US" sz="1250" b="1" dirty="0">
                <a:solidFill>
                  <a:srgbClr val="0064B1"/>
                </a:solidFill>
                <a:latin typeface="Arial" pitchFamily="34" charset="0"/>
                <a:ea typeface="Arial" pitchFamily="34" charset="-122"/>
                <a:cs typeface="Arial" pitchFamily="34" charset="-120"/>
              </a:rPr>
              <a:t>Methodology</a:t>
            </a:r>
            <a:endParaRPr lang="en-US" sz="1250" dirty="0"/>
          </a:p>
        </p:txBody>
      </p:sp>
      <p:sp>
        <p:nvSpPr>
          <p:cNvPr id="15" name="Text 13"/>
          <p:cNvSpPr txBox="1"/>
          <p:nvPr/>
        </p:nvSpPr>
        <p:spPr>
          <a:xfrm>
            <a:off x="6080760" y="2249424"/>
            <a:ext cx="2468880" cy="603504"/>
          </a:xfrm>
          <a:prstGeom prst="rect">
            <a:avLst/>
          </a:prstGeom>
          <a:noFill/>
          <a:ln/>
        </p:spPr>
        <p:txBody>
          <a:bodyPr wrap="square" lIns="0" tIns="0" rIns="0" bIns="0" rtlCol="0" anchor="ctr"/>
          <a:lstStyle/>
          <a:p>
            <a:pPr indent="0" marL="0">
              <a:buNone/>
            </a:pPr>
            <a:r>
              <a:rPr lang="en-US" sz="1050" dirty="0">
                <a:solidFill>
                  <a:srgbClr val="1A2233"/>
                </a:solidFill>
                <a:latin typeface="Arial" pitchFamily="34" charset="0"/>
                <a:ea typeface="Arial" pitchFamily="34" charset="-122"/>
                <a:cs typeface="Arial" pitchFamily="34" charset="-120"/>
              </a:rPr>
              <a:t>Per-category rules; category→element mapping; class/attribute and inheritance tests; AC conditions</a:t>
            </a:r>
            <a:endParaRPr lang="en-US" sz="1050" dirty="0"/>
          </a:p>
        </p:txBody>
      </p:sp>
      <p:sp>
        <p:nvSpPr>
          <p:cNvPr id="16" name="Shape 14"/>
          <p:cNvSpPr/>
          <p:nvPr/>
        </p:nvSpPr>
        <p:spPr>
          <a:xfrm>
            <a:off x="457200" y="3026664"/>
            <a:ext cx="4023360" cy="731520"/>
          </a:xfrm>
          <a:prstGeom prst="roundRect">
            <a:avLst>
              <a:gd name="adj" fmla="val 10000"/>
            </a:avLst>
          </a:prstGeom>
          <a:solidFill>
            <a:srgbClr val="EEF3F9"/>
          </a:solidFill>
          <a:ln w="12700">
            <a:solidFill>
              <a:srgbClr val="EEF3F9"/>
            </a:solidFill>
            <a:prstDash val="solid"/>
          </a:ln>
        </p:spPr>
      </p:sp>
      <p:sp>
        <p:nvSpPr>
          <p:cNvPr id="17" name="Text 15"/>
          <p:cNvSpPr txBox="1"/>
          <p:nvPr/>
        </p:nvSpPr>
        <p:spPr>
          <a:xfrm>
            <a:off x="621792" y="3118104"/>
            <a:ext cx="1234440" cy="548640"/>
          </a:xfrm>
          <a:prstGeom prst="rect">
            <a:avLst/>
          </a:prstGeom>
          <a:noFill/>
          <a:ln/>
        </p:spPr>
        <p:txBody>
          <a:bodyPr wrap="square" lIns="0" tIns="0" rIns="0" bIns="0" rtlCol="0" anchor="ctr"/>
          <a:lstStyle/>
          <a:p>
            <a:pPr indent="0" marL="0">
              <a:buNone/>
            </a:pPr>
            <a:r>
              <a:rPr lang="en-US" sz="1250" b="1" dirty="0">
                <a:solidFill>
                  <a:srgbClr val="0064B1"/>
                </a:solidFill>
                <a:latin typeface="Arial" pitchFamily="34" charset="0"/>
                <a:ea typeface="Arial" pitchFamily="34" charset="-122"/>
                <a:cs typeface="Arial" pitchFamily="34" charset="-120"/>
              </a:rPr>
              <a:t>Constraints</a:t>
            </a:r>
            <a:endParaRPr lang="en-US" sz="1250" dirty="0"/>
          </a:p>
        </p:txBody>
      </p:sp>
      <p:sp>
        <p:nvSpPr>
          <p:cNvPr id="18" name="Text 16"/>
          <p:cNvSpPr txBox="1"/>
          <p:nvPr/>
        </p:nvSpPr>
        <p:spPr>
          <a:xfrm>
            <a:off x="1874520" y="3099816"/>
            <a:ext cx="2468880" cy="603504"/>
          </a:xfrm>
          <a:prstGeom prst="rect">
            <a:avLst/>
          </a:prstGeom>
          <a:noFill/>
          <a:ln/>
        </p:spPr>
        <p:txBody>
          <a:bodyPr wrap="square" lIns="0" tIns="0" rIns="0" bIns="0" rtlCol="0" anchor="ctr"/>
          <a:lstStyle/>
          <a:p>
            <a:pPr indent="0" marL="0">
              <a:buNone/>
            </a:pPr>
            <a:r>
              <a:rPr lang="en-US" sz="1050" dirty="0">
                <a:solidFill>
                  <a:srgbClr val="1A2233"/>
                </a:solidFill>
                <a:latin typeface="Arial" pitchFamily="34" charset="0"/>
                <a:ea typeface="Arial" pitchFamily="34" charset="-122"/>
                <a:cs typeface="Arial" pitchFamily="34" charset="-120"/>
              </a:rPr>
              <a:t>Only phrases in the text, scope filter, naming rule, V only for closed lists</a:t>
            </a:r>
            <a:endParaRPr lang="en-US" sz="1050" dirty="0"/>
          </a:p>
        </p:txBody>
      </p:sp>
      <p:sp>
        <p:nvSpPr>
          <p:cNvPr id="19" name="Shape 17"/>
          <p:cNvSpPr/>
          <p:nvPr/>
        </p:nvSpPr>
        <p:spPr>
          <a:xfrm>
            <a:off x="4663440" y="3026664"/>
            <a:ext cx="4023360" cy="731520"/>
          </a:xfrm>
          <a:prstGeom prst="roundRect">
            <a:avLst>
              <a:gd name="adj" fmla="val 10000"/>
            </a:avLst>
          </a:prstGeom>
          <a:solidFill>
            <a:srgbClr val="EEF3F9"/>
          </a:solidFill>
          <a:ln w="12700">
            <a:solidFill>
              <a:srgbClr val="EEF3F9"/>
            </a:solidFill>
            <a:prstDash val="solid"/>
          </a:ln>
        </p:spPr>
      </p:sp>
      <p:sp>
        <p:nvSpPr>
          <p:cNvPr id="20" name="Text 18"/>
          <p:cNvSpPr txBox="1"/>
          <p:nvPr/>
        </p:nvSpPr>
        <p:spPr>
          <a:xfrm>
            <a:off x="4828032" y="3118104"/>
            <a:ext cx="1234440" cy="548640"/>
          </a:xfrm>
          <a:prstGeom prst="rect">
            <a:avLst/>
          </a:prstGeom>
          <a:noFill/>
          <a:ln/>
        </p:spPr>
        <p:txBody>
          <a:bodyPr wrap="square" lIns="0" tIns="0" rIns="0" bIns="0" rtlCol="0" anchor="ctr"/>
          <a:lstStyle/>
          <a:p>
            <a:pPr indent="0" marL="0">
              <a:buNone/>
            </a:pPr>
            <a:r>
              <a:rPr lang="en-US" sz="1250" b="1" dirty="0">
                <a:solidFill>
                  <a:srgbClr val="0064B1"/>
                </a:solidFill>
                <a:latin typeface="Arial" pitchFamily="34" charset="0"/>
                <a:ea typeface="Arial" pitchFamily="34" charset="-122"/>
                <a:cs typeface="Arial" pitchFamily="34" charset="-120"/>
              </a:rPr>
              <a:t>Examples</a:t>
            </a:r>
            <a:endParaRPr lang="en-US" sz="1250" dirty="0"/>
          </a:p>
        </p:txBody>
      </p:sp>
      <p:sp>
        <p:nvSpPr>
          <p:cNvPr id="21" name="Text 19"/>
          <p:cNvSpPr txBox="1"/>
          <p:nvPr/>
        </p:nvSpPr>
        <p:spPr>
          <a:xfrm>
            <a:off x="6080760" y="3099816"/>
            <a:ext cx="2468880" cy="603504"/>
          </a:xfrm>
          <a:prstGeom prst="rect">
            <a:avLst/>
          </a:prstGeom>
          <a:noFill/>
          <a:ln/>
        </p:spPr>
        <p:txBody>
          <a:bodyPr wrap="square" lIns="0" tIns="0" rIns="0" bIns="0" rtlCol="0" anchor="ctr"/>
          <a:lstStyle/>
          <a:p>
            <a:pPr indent="0" marL="0">
              <a:buNone/>
            </a:pPr>
            <a:r>
              <a:rPr lang="en-US" sz="1050" dirty="0">
                <a:solidFill>
                  <a:srgbClr val="1A2233"/>
                </a:solidFill>
                <a:latin typeface="Arial" pitchFamily="34" charset="0"/>
                <a:ea typeface="Arial" pitchFamily="34" charset="-122"/>
                <a:cs typeface="Arial" pitchFamily="34" charset="-120"/>
              </a:rPr>
              <a:t>Course example plus neutral-domain examples only (no test-domain words)</a:t>
            </a:r>
            <a:endParaRPr lang="en-US" sz="1050" dirty="0"/>
          </a:p>
        </p:txBody>
      </p:sp>
      <p:sp>
        <p:nvSpPr>
          <p:cNvPr id="22" name="Shape 20"/>
          <p:cNvSpPr/>
          <p:nvPr/>
        </p:nvSpPr>
        <p:spPr>
          <a:xfrm>
            <a:off x="457200" y="3877056"/>
            <a:ext cx="4023360" cy="731520"/>
          </a:xfrm>
          <a:prstGeom prst="roundRect">
            <a:avLst>
              <a:gd name="adj" fmla="val 10000"/>
            </a:avLst>
          </a:prstGeom>
          <a:solidFill>
            <a:srgbClr val="EEF3F9"/>
          </a:solidFill>
          <a:ln w="12700">
            <a:solidFill>
              <a:srgbClr val="EEF3F9"/>
            </a:solidFill>
            <a:prstDash val="solid"/>
          </a:ln>
        </p:spPr>
      </p:sp>
      <p:sp>
        <p:nvSpPr>
          <p:cNvPr id="23" name="Text 21"/>
          <p:cNvSpPr txBox="1"/>
          <p:nvPr/>
        </p:nvSpPr>
        <p:spPr>
          <a:xfrm>
            <a:off x="621792" y="3968496"/>
            <a:ext cx="1234440" cy="548640"/>
          </a:xfrm>
          <a:prstGeom prst="rect">
            <a:avLst/>
          </a:prstGeom>
          <a:noFill/>
          <a:ln/>
        </p:spPr>
        <p:txBody>
          <a:bodyPr wrap="square" lIns="0" tIns="0" rIns="0" bIns="0" rtlCol="0" anchor="ctr"/>
          <a:lstStyle/>
          <a:p>
            <a:pPr indent="0" marL="0">
              <a:buNone/>
            </a:pPr>
            <a:r>
              <a:rPr lang="en-US" sz="1250" b="1" dirty="0">
                <a:solidFill>
                  <a:srgbClr val="0064B1"/>
                </a:solidFill>
                <a:latin typeface="Arial" pitchFamily="34" charset="0"/>
                <a:ea typeface="Arial" pitchFamily="34" charset="-122"/>
                <a:cs typeface="Arial" pitchFamily="34" charset="-120"/>
              </a:rPr>
              <a:t>Process</a:t>
            </a:r>
            <a:endParaRPr lang="en-US" sz="1250" dirty="0"/>
          </a:p>
        </p:txBody>
      </p:sp>
      <p:sp>
        <p:nvSpPr>
          <p:cNvPr id="24" name="Text 22"/>
          <p:cNvSpPr txBox="1"/>
          <p:nvPr/>
        </p:nvSpPr>
        <p:spPr>
          <a:xfrm>
            <a:off x="1874520" y="3950208"/>
            <a:ext cx="2468880" cy="603504"/>
          </a:xfrm>
          <a:prstGeom prst="rect">
            <a:avLst/>
          </a:prstGeom>
          <a:noFill/>
          <a:ln/>
        </p:spPr>
        <p:txBody>
          <a:bodyPr wrap="square" lIns="0" tIns="0" rIns="0" bIns="0" rtlCol="0" anchor="ctr"/>
          <a:lstStyle/>
          <a:p>
            <a:pPr indent="0" marL="0">
              <a:buNone/>
            </a:pPr>
            <a:r>
              <a:rPr lang="en-US" sz="1050" dirty="0">
                <a:solidFill>
                  <a:srgbClr val="1A2233"/>
                </a:solidFill>
                <a:latin typeface="Arial" pitchFamily="34" charset="0"/>
                <a:ea typeface="Arial" pitchFamily="34" charset="-122"/>
                <a:cs typeface="Arial" pitchFamily="34" charset="-120"/>
              </a:rPr>
              <a:t>Sentence-by-sentence scan, re-scan, then a self-verification / review checklist</a:t>
            </a:r>
            <a:endParaRPr lang="en-US" sz="1050" dirty="0"/>
          </a:p>
        </p:txBody>
      </p:sp>
      <p:sp>
        <p:nvSpPr>
          <p:cNvPr id="25" name="Shape 23"/>
          <p:cNvSpPr/>
          <p:nvPr/>
        </p:nvSpPr>
        <p:spPr>
          <a:xfrm>
            <a:off x="4663440" y="3877056"/>
            <a:ext cx="4023360" cy="731520"/>
          </a:xfrm>
          <a:prstGeom prst="roundRect">
            <a:avLst>
              <a:gd name="adj" fmla="val 10000"/>
            </a:avLst>
          </a:prstGeom>
          <a:solidFill>
            <a:srgbClr val="EEF3F9"/>
          </a:solidFill>
          <a:ln w="12700">
            <a:solidFill>
              <a:srgbClr val="EEF3F9"/>
            </a:solidFill>
            <a:prstDash val="solid"/>
          </a:ln>
        </p:spPr>
      </p:sp>
      <p:sp>
        <p:nvSpPr>
          <p:cNvPr id="26" name="Text 24"/>
          <p:cNvSpPr txBox="1"/>
          <p:nvPr/>
        </p:nvSpPr>
        <p:spPr>
          <a:xfrm>
            <a:off x="4828032" y="3968496"/>
            <a:ext cx="1234440" cy="548640"/>
          </a:xfrm>
          <a:prstGeom prst="rect">
            <a:avLst/>
          </a:prstGeom>
          <a:noFill/>
          <a:ln/>
        </p:spPr>
        <p:txBody>
          <a:bodyPr wrap="square" lIns="0" tIns="0" rIns="0" bIns="0" rtlCol="0" anchor="ctr"/>
          <a:lstStyle/>
          <a:p>
            <a:pPr indent="0" marL="0">
              <a:buNone/>
            </a:pPr>
            <a:r>
              <a:rPr lang="en-US" sz="1250" b="1" dirty="0">
                <a:solidFill>
                  <a:srgbClr val="0064B1"/>
                </a:solidFill>
                <a:latin typeface="Arial" pitchFamily="34" charset="0"/>
                <a:ea typeface="Arial" pitchFamily="34" charset="-122"/>
                <a:cs typeface="Arial" pitchFamily="34" charset="-120"/>
              </a:rPr>
              <a:t>Output format</a:t>
            </a:r>
            <a:endParaRPr lang="en-US" sz="1250" dirty="0"/>
          </a:p>
        </p:txBody>
      </p:sp>
      <p:sp>
        <p:nvSpPr>
          <p:cNvPr id="27" name="Text 25"/>
          <p:cNvSpPr txBox="1"/>
          <p:nvPr/>
        </p:nvSpPr>
        <p:spPr>
          <a:xfrm>
            <a:off x="6080760" y="3950208"/>
            <a:ext cx="2468880" cy="603504"/>
          </a:xfrm>
          <a:prstGeom prst="rect">
            <a:avLst/>
          </a:prstGeom>
          <a:noFill/>
          <a:ln/>
        </p:spPr>
        <p:txBody>
          <a:bodyPr wrap="square" lIns="0" tIns="0" rIns="0" bIns="0" rtlCol="0" anchor="ctr"/>
          <a:lstStyle/>
          <a:p>
            <a:pPr indent="0" marL="0">
              <a:buNone/>
            </a:pPr>
            <a:r>
              <a:rPr lang="en-US" sz="1050" dirty="0">
                <a:solidFill>
                  <a:srgbClr val="1A2233"/>
                </a:solidFill>
                <a:latin typeface="Arial" pitchFamily="34" charset="0"/>
                <a:ea typeface="Arial" pitchFamily="34" charset="-122"/>
                <a:cs typeface="Arial" pitchFamily="34" charset="-120"/>
              </a:rPr>
              <a:t>One markdown table: | rule | phrase | or | label | element | arg1 | arg2 |</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548640"/>
          </a:xfrm>
          <a:prstGeom prst="rect">
            <a:avLst/>
          </a:prstGeom>
          <a:noFill/>
          <a:ln/>
        </p:spPr>
        <p:txBody>
          <a:bodyPr wrap="square" lIns="0" tIns="0" rIns="0" bIns="0" rtlCol="0" anchor="ctr"/>
          <a:lstStyle/>
          <a:p>
            <a:pPr indent="0" marL="0">
              <a:buNone/>
            </a:pPr>
            <a:r>
              <a:rPr lang="en-US" sz="2800" b="1" dirty="0">
                <a:solidFill>
                  <a:srgbClr val="0B2F57"/>
                </a:solidFill>
                <a:latin typeface="Arial" pitchFamily="34" charset="0"/>
                <a:ea typeface="Arial" pitchFamily="34" charset="-122"/>
                <a:cs typeface="Arial" pitchFamily="34" charset="-120"/>
              </a:rPr>
              <a:t>Chain-of-thought prompt</a:t>
            </a:r>
            <a:endParaRPr lang="en-US" sz="2800" dirty="0"/>
          </a:p>
        </p:txBody>
      </p:sp>
      <p:sp>
        <p:nvSpPr>
          <p:cNvPr id="3" name="Text 1"/>
          <p:cNvSpPr txBox="1"/>
          <p:nvPr/>
        </p:nvSpPr>
        <p:spPr>
          <a:xfrm>
            <a:off x="457200" y="841248"/>
            <a:ext cx="8229600" cy="320040"/>
          </a:xfrm>
          <a:prstGeom prst="rect">
            <a:avLst/>
          </a:prstGeom>
          <a:noFill/>
          <a:ln/>
        </p:spPr>
        <p:txBody>
          <a:bodyPr wrap="square" lIns="0" tIns="0" rIns="0" bIns="0" rtlCol="0" anchor="t"/>
          <a:lstStyle/>
          <a:p>
            <a:pPr indent="0" marL="0">
              <a:buNone/>
            </a:pPr>
            <a:r>
              <a:rPr lang="en-US" sz="1300" dirty="0">
                <a:solidFill>
                  <a:srgbClr val="5B6678"/>
                </a:solidFill>
                <a:latin typeface="Arial" pitchFamily="34" charset="0"/>
                <a:ea typeface="Arial" pitchFamily="34" charset="-122"/>
                <a:cs typeface="Arial" pitchFamily="34" charset="-120"/>
              </a:rPr>
              <a:t>One prompt that performs identification and classification step by step</a:t>
            </a:r>
            <a:endParaRPr lang="en-US" sz="1300" dirty="0"/>
          </a:p>
        </p:txBody>
      </p:sp>
      <p:sp>
        <p:nvSpPr>
          <p:cNvPr id="4" name="Shape 2"/>
          <p:cNvSpPr/>
          <p:nvPr/>
        </p:nvSpPr>
        <p:spPr>
          <a:xfrm>
            <a:off x="457200" y="1325880"/>
            <a:ext cx="1920240" cy="685800"/>
          </a:xfrm>
          <a:prstGeom prst="roundRect">
            <a:avLst>
              <a:gd name="adj" fmla="val 10667"/>
            </a:avLst>
          </a:prstGeom>
          <a:solidFill>
            <a:srgbClr val="EEF3F9"/>
          </a:solidFill>
          <a:ln w="12700">
            <a:solidFill>
              <a:srgbClr val="EEF3F9"/>
            </a:solidFill>
            <a:prstDash val="solid"/>
          </a:ln>
        </p:spPr>
      </p:sp>
      <p:sp>
        <p:nvSpPr>
          <p:cNvPr id="5" name="Text 3"/>
          <p:cNvSpPr txBox="1"/>
          <p:nvPr/>
        </p:nvSpPr>
        <p:spPr>
          <a:xfrm>
            <a:off x="594360" y="1371600"/>
            <a:ext cx="1691640" cy="594360"/>
          </a:xfrm>
          <a:prstGeom prst="rect">
            <a:avLst/>
          </a:prstGeom>
          <a:noFill/>
          <a:ln/>
        </p:spPr>
        <p:txBody>
          <a:bodyPr wrap="square" lIns="0" tIns="0" rIns="0" bIns="0" rtlCol="0" anchor="ctr"/>
          <a:lstStyle/>
          <a:p>
            <a:pPr indent="0" marL="0">
              <a:buNone/>
            </a:pPr>
            <a:r>
              <a:rPr lang="en-US" sz="1200" b="1" dirty="0">
                <a:solidFill>
                  <a:srgbClr val="0B2F57"/>
                </a:solidFill>
                <a:latin typeface="Arial" pitchFamily="34" charset="0"/>
                <a:ea typeface="Arial" pitchFamily="34" charset="-122"/>
                <a:cs typeface="Arial" pitchFamily="34" charset="-120"/>
              </a:rPr>
              <a:t>1  Identify phrases</a:t>
            </a:r>
            <a:endParaRPr lang="en-US" sz="1200" dirty="0"/>
          </a:p>
        </p:txBody>
      </p:sp>
      <p:sp>
        <p:nvSpPr>
          <p:cNvPr id="6" name="Shape 4"/>
          <p:cNvSpPr/>
          <p:nvPr/>
        </p:nvSpPr>
        <p:spPr>
          <a:xfrm>
            <a:off x="2560320" y="1325880"/>
            <a:ext cx="1920240" cy="685800"/>
          </a:xfrm>
          <a:prstGeom prst="roundRect">
            <a:avLst>
              <a:gd name="adj" fmla="val 10667"/>
            </a:avLst>
          </a:prstGeom>
          <a:solidFill>
            <a:srgbClr val="EEF3F9"/>
          </a:solidFill>
          <a:ln w="12700">
            <a:solidFill>
              <a:srgbClr val="EEF3F9"/>
            </a:solidFill>
            <a:prstDash val="solid"/>
          </a:ln>
        </p:spPr>
      </p:sp>
      <p:sp>
        <p:nvSpPr>
          <p:cNvPr id="7" name="Text 5"/>
          <p:cNvSpPr txBox="1"/>
          <p:nvPr/>
        </p:nvSpPr>
        <p:spPr>
          <a:xfrm>
            <a:off x="2697480" y="1371600"/>
            <a:ext cx="1691640" cy="594360"/>
          </a:xfrm>
          <a:prstGeom prst="rect">
            <a:avLst/>
          </a:prstGeom>
          <a:noFill/>
          <a:ln/>
        </p:spPr>
        <p:txBody>
          <a:bodyPr wrap="square" lIns="0" tIns="0" rIns="0" bIns="0" rtlCol="0" anchor="ctr"/>
          <a:lstStyle/>
          <a:p>
            <a:pPr indent="0" marL="0">
              <a:buNone/>
            </a:pPr>
            <a:r>
              <a:rPr lang="en-US" sz="1200" b="1" dirty="0">
                <a:solidFill>
                  <a:srgbClr val="0B2F57"/>
                </a:solidFill>
                <a:latin typeface="Arial" pitchFamily="34" charset="0"/>
                <a:ea typeface="Arial" pitchFamily="34" charset="-122"/>
                <a:cs typeface="Arial" pitchFamily="34" charset="-120"/>
              </a:rPr>
              <a:t>2  Classify each phrase, one-line reason</a:t>
            </a:r>
            <a:endParaRPr lang="en-US" sz="1200" dirty="0"/>
          </a:p>
        </p:txBody>
      </p:sp>
      <p:sp>
        <p:nvSpPr>
          <p:cNvPr id="8" name="Shape 6"/>
          <p:cNvSpPr/>
          <p:nvPr/>
        </p:nvSpPr>
        <p:spPr>
          <a:xfrm>
            <a:off x="4663440" y="1325880"/>
            <a:ext cx="1920240" cy="685800"/>
          </a:xfrm>
          <a:prstGeom prst="roundRect">
            <a:avLst>
              <a:gd name="adj" fmla="val 10667"/>
            </a:avLst>
          </a:prstGeom>
          <a:solidFill>
            <a:srgbClr val="EEF3F9"/>
          </a:solidFill>
          <a:ln w="12700">
            <a:solidFill>
              <a:srgbClr val="EEF3F9"/>
            </a:solidFill>
            <a:prstDash val="solid"/>
          </a:ln>
        </p:spPr>
      </p:sp>
      <p:sp>
        <p:nvSpPr>
          <p:cNvPr id="9" name="Text 7"/>
          <p:cNvSpPr txBox="1"/>
          <p:nvPr/>
        </p:nvSpPr>
        <p:spPr>
          <a:xfrm>
            <a:off x="4800600" y="1371600"/>
            <a:ext cx="1691640" cy="594360"/>
          </a:xfrm>
          <a:prstGeom prst="rect">
            <a:avLst/>
          </a:prstGeom>
          <a:noFill/>
          <a:ln/>
        </p:spPr>
        <p:txBody>
          <a:bodyPr wrap="square" lIns="0" tIns="0" rIns="0" bIns="0" rtlCol="0" anchor="ctr"/>
          <a:lstStyle/>
          <a:p>
            <a:pPr indent="0" marL="0">
              <a:buNone/>
            </a:pPr>
            <a:r>
              <a:rPr lang="en-US" sz="1200" b="1" dirty="0">
                <a:solidFill>
                  <a:srgbClr val="0B2F57"/>
                </a:solidFill>
                <a:latin typeface="Arial" pitchFamily="34" charset="0"/>
                <a:ea typeface="Arial" pitchFamily="34" charset="-122"/>
                <a:cs typeface="Arial" pitchFamily="34" charset="-120"/>
              </a:rPr>
              <a:t>3  Review against the checklist</a:t>
            </a:r>
            <a:endParaRPr lang="en-US" sz="1200" dirty="0"/>
          </a:p>
        </p:txBody>
      </p:sp>
      <p:sp>
        <p:nvSpPr>
          <p:cNvPr id="10" name="Shape 8"/>
          <p:cNvSpPr/>
          <p:nvPr/>
        </p:nvSpPr>
        <p:spPr>
          <a:xfrm>
            <a:off x="6766560" y="1325880"/>
            <a:ext cx="1920240" cy="685800"/>
          </a:xfrm>
          <a:prstGeom prst="roundRect">
            <a:avLst>
              <a:gd name="adj" fmla="val 10667"/>
            </a:avLst>
          </a:prstGeom>
          <a:solidFill>
            <a:srgbClr val="0B2F57"/>
          </a:solidFill>
          <a:ln w="12700">
            <a:solidFill>
              <a:srgbClr val="0B2F57"/>
            </a:solidFill>
            <a:prstDash val="solid"/>
          </a:ln>
        </p:spPr>
      </p:sp>
      <p:sp>
        <p:nvSpPr>
          <p:cNvPr id="11" name="Text 9"/>
          <p:cNvSpPr txBox="1"/>
          <p:nvPr/>
        </p:nvSpPr>
        <p:spPr>
          <a:xfrm>
            <a:off x="6903720" y="1371600"/>
            <a:ext cx="1691640" cy="59436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4  Final domain model</a:t>
            </a:r>
            <a:endParaRPr lang="en-US" sz="12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457200" y="2240280"/>
          <a:ext cx="8229600" cy="914400"/>
        </p:xfrm>
        <a:graphic>
          <a:graphicData uri="http://schemas.openxmlformats.org/drawingml/2006/table">
            <a:tbl>
              <a:tblPr/>
              <a:tblGrid>
                <a:gridCol w="1463040"/>
                <a:gridCol w="1645920"/>
                <a:gridCol w="1645920"/>
                <a:gridCol w="1737360"/>
                <a:gridCol w="1737360"/>
              </a:tblGrid>
              <a:tr h="347472">
                <a:tc>
                  <a:txBody>
                    <a:bodyPr/>
                    <a:lstStyle/>
                    <a:p>
                      <a:pPr indent="0" marL="0">
                        <a:buNone/>
                      </a:pPr>
                      <a:r>
                        <a:rPr lang="en-US" sz="1100" b="1" dirty="0">
                          <a:solidFill>
                            <a:srgbClr val="FFFFFF"/>
                          </a:solidFill>
                          <a:latin typeface="Arial" pitchFamily="34" charset="0"/>
                          <a:ea typeface="Arial" pitchFamily="34" charset="-122"/>
                          <a:cs typeface="Arial" pitchFamily="34" charset="-120"/>
                        </a:rPr>
                        <a:t>Domain</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0B2F57"/>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Identify P4</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0B2F57"/>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CoT P1 step 1</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0B2F57"/>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Classify P3*</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0B2F57"/>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CoT P1 final model</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0B2F57"/>
                    </a:solidFill>
                  </a:tcPr>
                </a:tc>
              </a:tr>
              <a:tr h="347472">
                <a:tc>
                  <a:txBody>
                    <a:bodyPr/>
                    <a:lstStyle/>
                    <a:p>
                      <a:pPr indent="0" marL="0">
                        <a:buNone/>
                      </a:pPr>
                      <a:r>
                        <a:rPr lang="en-US" sz="1100" b="1" dirty="0">
                          <a:solidFill>
                            <a:srgbClr val="1A2233"/>
                          </a:solidFill>
                          <a:latin typeface="Arial" pitchFamily="34" charset="0"/>
                          <a:ea typeface="Arial" pitchFamily="34" charset="-122"/>
                          <a:cs typeface="Arial" pitchFamily="34" charset="-120"/>
                        </a:rPr>
                        <a:t>Library</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c>
                  <a:txBody>
                    <a:bodyPr/>
                    <a:lstStyle/>
                    <a:p>
                      <a:pPr indent="0" marL="0">
                        <a:buNone/>
                      </a:pPr>
                      <a:r>
                        <a:rPr lang="en-US" sz="1100" dirty="0">
                          <a:solidFill>
                            <a:srgbClr val="1A2233"/>
                          </a:solidFill>
                          <a:latin typeface="Arial" pitchFamily="34" charset="0"/>
                          <a:ea typeface="Arial" pitchFamily="34" charset="-122"/>
                          <a:cs typeface="Arial" pitchFamily="34" charset="-120"/>
                        </a:rPr>
                        <a:t>93.7</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c>
                  <a:txBody>
                    <a:bodyPr/>
                    <a:lstStyle/>
                    <a:p>
                      <a:pPr indent="0" marL="0">
                        <a:buNone/>
                      </a:pPr>
                      <a:r>
                        <a:rPr lang="en-US" sz="1100" dirty="0">
                          <a:solidFill>
                            <a:srgbClr val="1A2233"/>
                          </a:solidFill>
                          <a:latin typeface="Arial" pitchFamily="34" charset="0"/>
                          <a:ea typeface="Arial" pitchFamily="34" charset="-122"/>
                          <a:cs typeface="Arial" pitchFamily="34" charset="-120"/>
                        </a:rPr>
                        <a:t>83.5</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c>
                  <a:txBody>
                    <a:bodyPr/>
                    <a:lstStyle/>
                    <a:p>
                      <a:pPr indent="0" marL="0">
                        <a:buNone/>
                      </a:pPr>
                      <a:r>
                        <a:rPr lang="en-US" sz="1100" dirty="0">
                          <a:solidFill>
                            <a:srgbClr val="1A2233"/>
                          </a:solidFill>
                          <a:latin typeface="Arial" pitchFamily="34" charset="0"/>
                          <a:ea typeface="Arial" pitchFamily="34" charset="-122"/>
                          <a:cs typeface="Arial" pitchFamily="34" charset="-120"/>
                        </a:rPr>
                        <a:t>70.8</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c>
                  <a:txBody>
                    <a:bodyPr/>
                    <a:lstStyle/>
                    <a:p>
                      <a:pPr indent="0" marL="0">
                        <a:buNone/>
                      </a:pPr>
                      <a:r>
                        <a:rPr lang="en-US" sz="1100" b="1" dirty="0">
                          <a:solidFill>
                            <a:srgbClr val="1A2233"/>
                          </a:solidFill>
                          <a:latin typeface="Arial" pitchFamily="34" charset="0"/>
                          <a:ea typeface="Arial" pitchFamily="34" charset="-122"/>
                          <a:cs typeface="Arial" pitchFamily="34" charset="-120"/>
                        </a:rPr>
                        <a:t>63.0</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r>
              <a:tr h="347472">
                <a:tc>
                  <a:txBody>
                    <a:bodyPr/>
                    <a:lstStyle/>
                    <a:p>
                      <a:pPr indent="0" marL="0">
                        <a:buNone/>
                      </a:pPr>
                      <a:r>
                        <a:rPr lang="en-US" sz="1100" b="1" dirty="0">
                          <a:solidFill>
                            <a:srgbClr val="1A2233"/>
                          </a:solidFill>
                          <a:latin typeface="Arial" pitchFamily="34" charset="0"/>
                          <a:ea typeface="Arial" pitchFamily="34" charset="-122"/>
                          <a:cs typeface="Arial" pitchFamily="34" charset="-120"/>
                        </a:rPr>
                        <a:t>Car rental</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c>
                  <a:txBody>
                    <a:bodyPr/>
                    <a:lstStyle/>
                    <a:p>
                      <a:pPr indent="0" marL="0">
                        <a:buNone/>
                      </a:pPr>
                      <a:r>
                        <a:rPr lang="en-US" sz="1100" dirty="0">
                          <a:solidFill>
                            <a:srgbClr val="1A2233"/>
                          </a:solidFill>
                          <a:latin typeface="Arial" pitchFamily="34" charset="0"/>
                          <a:ea typeface="Arial" pitchFamily="34" charset="-122"/>
                          <a:cs typeface="Arial" pitchFamily="34" charset="-120"/>
                        </a:rPr>
                        <a:t>71.9</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c>
                  <a:txBody>
                    <a:bodyPr/>
                    <a:lstStyle/>
                    <a:p>
                      <a:pPr indent="0" marL="0">
                        <a:buNone/>
                      </a:pPr>
                      <a:r>
                        <a:rPr lang="en-US" sz="1100" dirty="0">
                          <a:solidFill>
                            <a:srgbClr val="1A2233"/>
                          </a:solidFill>
                          <a:latin typeface="Arial" pitchFamily="34" charset="0"/>
                          <a:ea typeface="Arial" pitchFamily="34" charset="-122"/>
                          <a:cs typeface="Arial" pitchFamily="34" charset="-120"/>
                        </a:rPr>
                        <a:t>71.1</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c>
                  <a:txBody>
                    <a:bodyPr/>
                    <a:lstStyle/>
                    <a:p>
                      <a:pPr indent="0" marL="0">
                        <a:buNone/>
                      </a:pPr>
                      <a:r>
                        <a:rPr lang="en-US" sz="1100" dirty="0">
                          <a:solidFill>
                            <a:srgbClr val="1A2233"/>
                          </a:solidFill>
                          <a:latin typeface="Arial" pitchFamily="34" charset="0"/>
                          <a:ea typeface="Arial" pitchFamily="34" charset="-122"/>
                          <a:cs typeface="Arial" pitchFamily="34" charset="-120"/>
                        </a:rPr>
                        <a:t>47.2</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c>
                  <a:txBody>
                    <a:bodyPr/>
                    <a:lstStyle/>
                    <a:p>
                      <a:pPr indent="0" marL="0">
                        <a:buNone/>
                      </a:pPr>
                      <a:r>
                        <a:rPr lang="en-US" sz="1100" b="1" dirty="0">
                          <a:solidFill>
                            <a:srgbClr val="1A2233"/>
                          </a:solidFill>
                          <a:latin typeface="Arial" pitchFamily="34" charset="0"/>
                          <a:ea typeface="Arial" pitchFamily="34" charset="-122"/>
                          <a:cs typeface="Arial" pitchFamily="34" charset="-120"/>
                        </a:rPr>
                        <a:t>40.0</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r>
              <a:tr h="347472">
                <a:tc>
                  <a:txBody>
                    <a:bodyPr/>
                    <a:lstStyle/>
                    <a:p>
                      <a:pPr indent="0" marL="0">
                        <a:buNone/>
                      </a:pPr>
                      <a:r>
                        <a:rPr lang="en-US" sz="1100" b="1" dirty="0">
                          <a:solidFill>
                            <a:srgbClr val="1A2233"/>
                          </a:solidFill>
                          <a:latin typeface="Arial" pitchFamily="34" charset="0"/>
                          <a:ea typeface="Arial" pitchFamily="34" charset="-122"/>
                          <a:cs typeface="Arial" pitchFamily="34" charset="-120"/>
                        </a:rPr>
                        <a:t>NTSS</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c>
                  <a:txBody>
                    <a:bodyPr/>
                    <a:lstStyle/>
                    <a:p>
                      <a:pPr indent="0" marL="0">
                        <a:buNone/>
                      </a:pPr>
                      <a:r>
                        <a:rPr lang="en-US" sz="1100" dirty="0">
                          <a:solidFill>
                            <a:srgbClr val="1A2233"/>
                          </a:solidFill>
                          <a:latin typeface="Arial" pitchFamily="34" charset="0"/>
                          <a:ea typeface="Arial" pitchFamily="34" charset="-122"/>
                          <a:cs typeface="Arial" pitchFamily="34" charset="-120"/>
                        </a:rPr>
                        <a:t>89.6</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c>
                  <a:txBody>
                    <a:bodyPr/>
                    <a:lstStyle/>
                    <a:p>
                      <a:pPr indent="0" marL="0">
                        <a:buNone/>
                      </a:pPr>
                      <a:r>
                        <a:rPr lang="en-US" sz="1100" dirty="0">
                          <a:solidFill>
                            <a:srgbClr val="1A2233"/>
                          </a:solidFill>
                          <a:latin typeface="Arial" pitchFamily="34" charset="0"/>
                          <a:ea typeface="Arial" pitchFamily="34" charset="-122"/>
                          <a:cs typeface="Arial" pitchFamily="34" charset="-120"/>
                        </a:rPr>
                        <a:t>88.6</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c>
                  <a:txBody>
                    <a:bodyPr/>
                    <a:lstStyle/>
                    <a:p>
                      <a:pPr indent="0" marL="0">
                        <a:buNone/>
                      </a:pPr>
                      <a:r>
                        <a:rPr lang="en-US" sz="1100" dirty="0">
                          <a:solidFill>
                            <a:srgbClr val="1A2233"/>
                          </a:solidFill>
                          <a:latin typeface="Arial" pitchFamily="34" charset="0"/>
                          <a:ea typeface="Arial" pitchFamily="34" charset="-122"/>
                          <a:cs typeface="Arial" pitchFamily="34" charset="-120"/>
                        </a:rPr>
                        <a:t>64.3</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c>
                  <a:txBody>
                    <a:bodyPr/>
                    <a:lstStyle/>
                    <a:p>
                      <a:pPr indent="0" marL="0">
                        <a:buNone/>
                      </a:pPr>
                      <a:r>
                        <a:rPr lang="en-US" sz="1100" b="1" dirty="0">
                          <a:solidFill>
                            <a:srgbClr val="1A2233"/>
                          </a:solidFill>
                          <a:latin typeface="Arial" pitchFamily="34" charset="0"/>
                          <a:ea typeface="Arial" pitchFamily="34" charset="-122"/>
                          <a:cs typeface="Arial" pitchFamily="34" charset="-120"/>
                        </a:rPr>
                        <a:t>61.3</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r>
            </a:tbl>
          </a:graphicData>
        </a:graphic>
      </p:graphicFrame>
      <p:sp>
        <p:nvSpPr>
          <p:cNvPr id="13" name="Text 10"/>
          <p:cNvSpPr txBox="1"/>
          <p:nvPr/>
        </p:nvSpPr>
        <p:spPr>
          <a:xfrm>
            <a:off x="457200" y="4315968"/>
            <a:ext cx="8229600" cy="502920"/>
          </a:xfrm>
          <a:prstGeom prst="rect">
            <a:avLst/>
          </a:prstGeom>
          <a:noFill/>
          <a:ln/>
        </p:spPr>
        <p:txBody>
          <a:bodyPr wrap="square" lIns="0" tIns="0" rIns="0" bIns="0" rtlCol="0" anchor="t"/>
          <a:lstStyle/>
          <a:p>
            <a:pPr indent="0" marL="0">
              <a:buNone/>
            </a:pPr>
            <a:r>
              <a:rPr lang="en-US" sz="1000" dirty="0">
                <a:solidFill>
                  <a:srgbClr val="5B6678"/>
                </a:solidFill>
                <a:latin typeface="Arial" pitchFamily="34" charset="0"/>
                <a:ea typeface="Arial" pitchFamily="34" charset="-122"/>
                <a:cs typeface="Arial" pitchFamily="34" charset="-120"/>
              </a:rPr>
              <a:t>* Standalone classification receives the expert's phrase list. The chain-of-thought prompt starts from the description alone, so its final model also carries its own Step 1 errors: the fair comparison for the end-to-end task is CoT vs the two standalone prompts chained.</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548640"/>
          </a:xfrm>
          <a:prstGeom prst="rect">
            <a:avLst/>
          </a:prstGeom>
          <a:noFill/>
          <a:ln/>
        </p:spPr>
        <p:txBody>
          <a:bodyPr wrap="square" lIns="0" tIns="0" rIns="0" bIns="0" rtlCol="0" anchor="ctr"/>
          <a:lstStyle/>
          <a:p>
            <a:pPr indent="0" marL="0">
              <a:buNone/>
            </a:pPr>
            <a:r>
              <a:rPr lang="en-US" sz="2800" b="1" dirty="0">
                <a:solidFill>
                  <a:srgbClr val="0B2F57"/>
                </a:solidFill>
                <a:latin typeface="Arial" pitchFamily="34" charset="0"/>
                <a:ea typeface="Arial" pitchFamily="34" charset="-122"/>
                <a:cs typeface="Arial" pitchFamily="34" charset="-120"/>
              </a:rPr>
              <a:t>Result generalization</a:t>
            </a:r>
            <a:endParaRPr lang="en-US" sz="2800" dirty="0"/>
          </a:p>
        </p:txBody>
      </p:sp>
      <p:sp>
        <p:nvSpPr>
          <p:cNvPr id="3" name="Text 1"/>
          <p:cNvSpPr txBox="1"/>
          <p:nvPr/>
        </p:nvSpPr>
        <p:spPr>
          <a:xfrm>
            <a:off x="457200" y="841248"/>
            <a:ext cx="8229600" cy="320040"/>
          </a:xfrm>
          <a:prstGeom prst="rect">
            <a:avLst/>
          </a:prstGeom>
          <a:noFill/>
          <a:ln/>
        </p:spPr>
        <p:txBody>
          <a:bodyPr wrap="square" lIns="0" tIns="0" rIns="0" bIns="0" rtlCol="0" anchor="t"/>
          <a:lstStyle/>
          <a:p>
            <a:pPr indent="0" marL="0">
              <a:buNone/>
            </a:pPr>
            <a:r>
              <a:rPr lang="en-US" sz="1300" dirty="0">
                <a:solidFill>
                  <a:srgbClr val="5B6678"/>
                </a:solidFill>
                <a:latin typeface="Arial" pitchFamily="34" charset="0"/>
                <a:ea typeface="Arial" pitchFamily="34" charset="-122"/>
                <a:cs typeface="Arial" pitchFamily="34" charset="-120"/>
              </a:rPr>
              <a:t>Best prompts on all three inputs</a:t>
            </a:r>
            <a:endParaRPr lang="en-US" sz="13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2743200"/>
                <a:gridCol w="1828800"/>
                <a:gridCol w="1828800"/>
                <a:gridCol w="1828800"/>
              </a:tblGrid>
              <a:tr h="265176">
                <a:tc>
                  <a:txBody>
                    <a:bodyPr/>
                    <a:lstStyle/>
                    <a:p>
                      <a:pPr indent="0" marL="0">
                        <a:buNone/>
                      </a:pP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0B2F57"/>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Library</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0B2F57"/>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Car rental</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0B2F57"/>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NTSS</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0B2F57"/>
                    </a:solidFill>
                  </a:tcPr>
                </a:tc>
              </a:tr>
              <a:tr h="265176">
                <a:tc>
                  <a:txBody>
                    <a:bodyPr/>
                    <a:lstStyle/>
                    <a:p>
                      <a:pPr indent="0" marL="0">
                        <a:buNone/>
                      </a:pPr>
                      <a:r>
                        <a:rPr lang="en-US" sz="1100" b="1" dirty="0">
                          <a:solidFill>
                            <a:srgbClr val="1A2233"/>
                          </a:solidFill>
                          <a:latin typeface="Arial" pitchFamily="34" charset="0"/>
                          <a:ea typeface="Arial" pitchFamily="34" charset="-122"/>
                          <a:cs typeface="Arial" pitchFamily="34" charset="-120"/>
                        </a:rPr>
                        <a:t>Identification P4</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EEF3F9"/>
                    </a:solidFill>
                  </a:tcPr>
                </a:tc>
                <a:tc>
                  <a:txBody>
                    <a:bodyPr/>
                    <a:lstStyle/>
                    <a:p>
                      <a:pPr indent="0" marL="0">
                        <a:buNone/>
                      </a:pP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EEF3F9"/>
                    </a:solidFill>
                  </a:tcPr>
                </a:tc>
                <a:tc>
                  <a:txBody>
                    <a:bodyPr/>
                    <a:lstStyle/>
                    <a:p>
                      <a:pPr indent="0" marL="0">
                        <a:buNone/>
                      </a:pP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EEF3F9"/>
                    </a:solidFill>
                  </a:tcPr>
                </a:tc>
                <a:tc>
                  <a:txBody>
                    <a:bodyPr/>
                    <a:lstStyle/>
                    <a:p>
                      <a:pPr indent="0" marL="0">
                        <a:buNone/>
                      </a:pP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EEF3F9"/>
                    </a:solidFill>
                  </a:tcPr>
                </a:tc>
              </a:tr>
              <a:tr h="265176">
                <a:tc>
                  <a:txBody>
                    <a:bodyPr/>
                    <a:lstStyle/>
                    <a:p>
                      <a:pPr indent="0" marL="0">
                        <a:buNone/>
                      </a:pPr>
                      <a:r>
                        <a:rPr lang="en-US" sz="1100" dirty="0">
                          <a:solidFill>
                            <a:srgbClr val="1A2233"/>
                          </a:solidFill>
                          <a:latin typeface="Arial" pitchFamily="34" charset="0"/>
                          <a:ea typeface="Arial" pitchFamily="34" charset="-122"/>
                          <a:cs typeface="Arial" pitchFamily="34" charset="-120"/>
                        </a:rPr>
                        <a:t>   Precision</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c>
                  <a:txBody>
                    <a:bodyPr/>
                    <a:lstStyle/>
                    <a:p>
                      <a:pPr indent="0" marL="0">
                        <a:buNone/>
                      </a:pPr>
                      <a:r>
                        <a:rPr lang="en-US" sz="1100" dirty="0">
                          <a:solidFill>
                            <a:srgbClr val="1A2233"/>
                          </a:solidFill>
                          <a:latin typeface="Arial" pitchFamily="34" charset="0"/>
                          <a:ea typeface="Arial" pitchFamily="34" charset="-122"/>
                          <a:cs typeface="Arial" pitchFamily="34" charset="-120"/>
                        </a:rPr>
                        <a:t>94.5</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c>
                  <a:txBody>
                    <a:bodyPr/>
                    <a:lstStyle/>
                    <a:p>
                      <a:pPr indent="0" marL="0">
                        <a:buNone/>
                      </a:pPr>
                      <a:r>
                        <a:rPr lang="en-US" sz="1100" dirty="0">
                          <a:solidFill>
                            <a:srgbClr val="1A2233"/>
                          </a:solidFill>
                          <a:latin typeface="Arial" pitchFamily="34" charset="0"/>
                          <a:ea typeface="Arial" pitchFamily="34" charset="-122"/>
                          <a:cs typeface="Arial" pitchFamily="34" charset="-120"/>
                        </a:rPr>
                        <a:t>62.5</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c>
                  <a:txBody>
                    <a:bodyPr/>
                    <a:lstStyle/>
                    <a:p>
                      <a:pPr indent="0" marL="0">
                        <a:buNone/>
                      </a:pPr>
                      <a:r>
                        <a:rPr lang="en-US" sz="1100" dirty="0">
                          <a:solidFill>
                            <a:srgbClr val="1A2233"/>
                          </a:solidFill>
                          <a:latin typeface="Arial" pitchFamily="34" charset="0"/>
                          <a:ea typeface="Arial" pitchFamily="34" charset="-122"/>
                          <a:cs typeface="Arial" pitchFamily="34" charset="-120"/>
                        </a:rPr>
                        <a:t>84.5</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r>
              <a:tr h="265176">
                <a:tc>
                  <a:txBody>
                    <a:bodyPr/>
                    <a:lstStyle/>
                    <a:p>
                      <a:pPr indent="0" marL="0">
                        <a:buNone/>
                      </a:pPr>
                      <a:r>
                        <a:rPr lang="en-US" sz="1100" dirty="0">
                          <a:solidFill>
                            <a:srgbClr val="1A2233"/>
                          </a:solidFill>
                          <a:latin typeface="Arial" pitchFamily="34" charset="0"/>
                          <a:ea typeface="Arial" pitchFamily="34" charset="-122"/>
                          <a:cs typeface="Arial" pitchFamily="34" charset="-120"/>
                        </a:rPr>
                        <a:t>   Recall</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c>
                  <a:txBody>
                    <a:bodyPr/>
                    <a:lstStyle/>
                    <a:p>
                      <a:pPr indent="0" marL="0">
                        <a:buNone/>
                      </a:pPr>
                      <a:r>
                        <a:rPr lang="en-US" sz="1100" dirty="0">
                          <a:solidFill>
                            <a:srgbClr val="1A2233"/>
                          </a:solidFill>
                          <a:latin typeface="Arial" pitchFamily="34" charset="0"/>
                          <a:ea typeface="Arial" pitchFamily="34" charset="-122"/>
                          <a:cs typeface="Arial" pitchFamily="34" charset="-120"/>
                        </a:rPr>
                        <a:t>92.9</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c>
                  <a:txBody>
                    <a:bodyPr/>
                    <a:lstStyle/>
                    <a:p>
                      <a:pPr indent="0" marL="0">
                        <a:buNone/>
                      </a:pPr>
                      <a:r>
                        <a:rPr lang="en-US" sz="1100" dirty="0">
                          <a:solidFill>
                            <a:srgbClr val="1A2233"/>
                          </a:solidFill>
                          <a:latin typeface="Arial" pitchFamily="34" charset="0"/>
                          <a:ea typeface="Arial" pitchFamily="34" charset="-122"/>
                          <a:cs typeface="Arial" pitchFamily="34" charset="-120"/>
                        </a:rPr>
                        <a:t>84.6</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c>
                  <a:txBody>
                    <a:bodyPr/>
                    <a:lstStyle/>
                    <a:p>
                      <a:pPr indent="0" marL="0">
                        <a:buNone/>
                      </a:pPr>
                      <a:r>
                        <a:rPr lang="en-US" sz="1100" dirty="0">
                          <a:solidFill>
                            <a:srgbClr val="1A2233"/>
                          </a:solidFill>
                          <a:latin typeface="Arial" pitchFamily="34" charset="0"/>
                          <a:ea typeface="Arial" pitchFamily="34" charset="-122"/>
                          <a:cs typeface="Arial" pitchFamily="34" charset="-120"/>
                        </a:rPr>
                        <a:t>95.3</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r>
              <a:tr h="265176">
                <a:tc>
                  <a:txBody>
                    <a:bodyPr/>
                    <a:lstStyle/>
                    <a:p>
                      <a:pPr indent="0" marL="0">
                        <a:buNone/>
                      </a:pPr>
                      <a:r>
                        <a:rPr lang="en-US" sz="1100" dirty="0">
                          <a:solidFill>
                            <a:srgbClr val="1A2233"/>
                          </a:solidFill>
                          <a:latin typeface="Arial" pitchFamily="34" charset="0"/>
                          <a:ea typeface="Arial" pitchFamily="34" charset="-122"/>
                          <a:cs typeface="Arial" pitchFamily="34" charset="-120"/>
                        </a:rPr>
                        <a:t>   F1</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c>
                  <a:txBody>
                    <a:bodyPr/>
                    <a:lstStyle/>
                    <a:p>
                      <a:pPr indent="0" marL="0">
                        <a:buNone/>
                      </a:pPr>
                      <a:r>
                        <a:rPr lang="en-US" sz="1100" b="1" dirty="0">
                          <a:solidFill>
                            <a:srgbClr val="0064B1"/>
                          </a:solidFill>
                          <a:latin typeface="Arial" pitchFamily="34" charset="0"/>
                          <a:ea typeface="Arial" pitchFamily="34" charset="-122"/>
                          <a:cs typeface="Arial" pitchFamily="34" charset="-120"/>
                        </a:rPr>
                        <a:t>93.7</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c>
                  <a:txBody>
                    <a:bodyPr/>
                    <a:lstStyle/>
                    <a:p>
                      <a:pPr indent="0" marL="0">
                        <a:buNone/>
                      </a:pPr>
                      <a:r>
                        <a:rPr lang="en-US" sz="1100" b="1" dirty="0">
                          <a:solidFill>
                            <a:srgbClr val="1A2233"/>
                          </a:solidFill>
                          <a:latin typeface="Arial" pitchFamily="34" charset="0"/>
                          <a:ea typeface="Arial" pitchFamily="34" charset="-122"/>
                          <a:cs typeface="Arial" pitchFamily="34" charset="-120"/>
                        </a:rPr>
                        <a:t>71.9</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c>
                  <a:txBody>
                    <a:bodyPr/>
                    <a:lstStyle/>
                    <a:p>
                      <a:pPr indent="0" marL="0">
                        <a:buNone/>
                      </a:pPr>
                      <a:r>
                        <a:rPr lang="en-US" sz="1100" b="1" dirty="0">
                          <a:solidFill>
                            <a:srgbClr val="1A2233"/>
                          </a:solidFill>
                          <a:latin typeface="Arial" pitchFamily="34" charset="0"/>
                          <a:ea typeface="Arial" pitchFamily="34" charset="-122"/>
                          <a:cs typeface="Arial" pitchFamily="34" charset="-120"/>
                        </a:rPr>
                        <a:t>89.6</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r>
              <a:tr h="265176">
                <a:tc>
                  <a:txBody>
                    <a:bodyPr/>
                    <a:lstStyle/>
                    <a:p>
                      <a:pPr indent="0" marL="0">
                        <a:buNone/>
                      </a:pPr>
                      <a:r>
                        <a:rPr lang="en-US" sz="1100" b="1" dirty="0">
                          <a:solidFill>
                            <a:srgbClr val="1A2233"/>
                          </a:solidFill>
                          <a:latin typeface="Arial" pitchFamily="34" charset="0"/>
                          <a:ea typeface="Arial" pitchFamily="34" charset="-122"/>
                          <a:cs typeface="Arial" pitchFamily="34" charset="-120"/>
                        </a:rPr>
                        <a:t>Classification P3</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EEF3F9"/>
                    </a:solidFill>
                  </a:tcPr>
                </a:tc>
                <a:tc>
                  <a:txBody>
                    <a:bodyPr/>
                    <a:lstStyle/>
                    <a:p>
                      <a:pPr indent="0" marL="0">
                        <a:buNone/>
                      </a:pP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EEF3F9"/>
                    </a:solidFill>
                  </a:tcPr>
                </a:tc>
                <a:tc>
                  <a:txBody>
                    <a:bodyPr/>
                    <a:lstStyle/>
                    <a:p>
                      <a:pPr indent="0" marL="0">
                        <a:buNone/>
                      </a:pP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EEF3F9"/>
                    </a:solidFill>
                  </a:tcPr>
                </a:tc>
                <a:tc>
                  <a:txBody>
                    <a:bodyPr/>
                    <a:lstStyle/>
                    <a:p>
                      <a:pPr indent="0" marL="0">
                        <a:buNone/>
                      </a:pP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EEF3F9"/>
                    </a:solidFill>
                  </a:tcPr>
                </a:tc>
              </a:tr>
              <a:tr h="265176">
                <a:tc>
                  <a:txBody>
                    <a:bodyPr/>
                    <a:lstStyle/>
                    <a:p>
                      <a:pPr indent="0" marL="0">
                        <a:buNone/>
                      </a:pPr>
                      <a:r>
                        <a:rPr lang="en-US" sz="1100" dirty="0">
                          <a:solidFill>
                            <a:srgbClr val="1A2233"/>
                          </a:solidFill>
                          <a:latin typeface="Arial" pitchFamily="34" charset="0"/>
                          <a:ea typeface="Arial" pitchFamily="34" charset="-122"/>
                          <a:cs typeface="Arial" pitchFamily="34" charset="-120"/>
                        </a:rPr>
                        <a:t>   Precision</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c>
                  <a:txBody>
                    <a:bodyPr/>
                    <a:lstStyle/>
                    <a:p>
                      <a:pPr indent="0" marL="0">
                        <a:buNone/>
                      </a:pPr>
                      <a:r>
                        <a:rPr lang="en-US" sz="1100" dirty="0">
                          <a:solidFill>
                            <a:srgbClr val="1A2233"/>
                          </a:solidFill>
                          <a:latin typeface="Arial" pitchFamily="34" charset="0"/>
                          <a:ea typeface="Arial" pitchFamily="34" charset="-122"/>
                          <a:cs typeface="Arial" pitchFamily="34" charset="-120"/>
                        </a:rPr>
                        <a:t>71.3</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c>
                  <a:txBody>
                    <a:bodyPr/>
                    <a:lstStyle/>
                    <a:p>
                      <a:pPr indent="0" marL="0">
                        <a:buNone/>
                      </a:pPr>
                      <a:r>
                        <a:rPr lang="en-US" sz="1100" dirty="0">
                          <a:solidFill>
                            <a:srgbClr val="1A2233"/>
                          </a:solidFill>
                          <a:latin typeface="Arial" pitchFamily="34" charset="0"/>
                          <a:ea typeface="Arial" pitchFamily="34" charset="-122"/>
                          <a:cs typeface="Arial" pitchFamily="34" charset="-120"/>
                        </a:rPr>
                        <a:t>48.2</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c>
                  <a:txBody>
                    <a:bodyPr/>
                    <a:lstStyle/>
                    <a:p>
                      <a:pPr indent="0" marL="0">
                        <a:buNone/>
                      </a:pPr>
                      <a:r>
                        <a:rPr lang="en-US" sz="1100" dirty="0">
                          <a:solidFill>
                            <a:srgbClr val="1A2233"/>
                          </a:solidFill>
                          <a:latin typeface="Arial" pitchFamily="34" charset="0"/>
                          <a:ea typeface="Arial" pitchFamily="34" charset="-122"/>
                          <a:cs typeface="Arial" pitchFamily="34" charset="-120"/>
                        </a:rPr>
                        <a:t>56.1</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r>
              <a:tr h="265176">
                <a:tc>
                  <a:txBody>
                    <a:bodyPr/>
                    <a:lstStyle/>
                    <a:p>
                      <a:pPr indent="0" marL="0">
                        <a:buNone/>
                      </a:pPr>
                      <a:r>
                        <a:rPr lang="en-US" sz="1100" dirty="0">
                          <a:solidFill>
                            <a:srgbClr val="1A2233"/>
                          </a:solidFill>
                          <a:latin typeface="Arial" pitchFamily="34" charset="0"/>
                          <a:ea typeface="Arial" pitchFamily="34" charset="-122"/>
                          <a:cs typeface="Arial" pitchFamily="34" charset="-120"/>
                        </a:rPr>
                        <a:t>   Recall</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c>
                  <a:txBody>
                    <a:bodyPr/>
                    <a:lstStyle/>
                    <a:p>
                      <a:pPr indent="0" marL="0">
                        <a:buNone/>
                      </a:pPr>
                      <a:r>
                        <a:rPr lang="en-US" sz="1100" dirty="0">
                          <a:solidFill>
                            <a:srgbClr val="1A2233"/>
                          </a:solidFill>
                          <a:latin typeface="Arial" pitchFamily="34" charset="0"/>
                          <a:ea typeface="Arial" pitchFamily="34" charset="-122"/>
                          <a:cs typeface="Arial" pitchFamily="34" charset="-120"/>
                        </a:rPr>
                        <a:t>70.4</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c>
                  <a:txBody>
                    <a:bodyPr/>
                    <a:lstStyle/>
                    <a:p>
                      <a:pPr indent="0" marL="0">
                        <a:buNone/>
                      </a:pPr>
                      <a:r>
                        <a:rPr lang="en-US" sz="1100" dirty="0">
                          <a:solidFill>
                            <a:srgbClr val="1A2233"/>
                          </a:solidFill>
                          <a:latin typeface="Arial" pitchFamily="34" charset="0"/>
                          <a:ea typeface="Arial" pitchFamily="34" charset="-122"/>
                          <a:cs typeface="Arial" pitchFamily="34" charset="-120"/>
                        </a:rPr>
                        <a:t>46.2</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c>
                  <a:txBody>
                    <a:bodyPr/>
                    <a:lstStyle/>
                    <a:p>
                      <a:pPr indent="0" marL="0">
                        <a:buNone/>
                      </a:pPr>
                      <a:r>
                        <a:rPr lang="en-US" sz="1100" dirty="0">
                          <a:solidFill>
                            <a:srgbClr val="1A2233"/>
                          </a:solidFill>
                          <a:latin typeface="Arial" pitchFamily="34" charset="0"/>
                          <a:ea typeface="Arial" pitchFamily="34" charset="-122"/>
                          <a:cs typeface="Arial" pitchFamily="34" charset="-120"/>
                        </a:rPr>
                        <a:t>75.4</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r>
              <a:tr h="265176">
                <a:tc>
                  <a:txBody>
                    <a:bodyPr/>
                    <a:lstStyle/>
                    <a:p>
                      <a:pPr indent="0" marL="0">
                        <a:buNone/>
                      </a:pPr>
                      <a:r>
                        <a:rPr lang="en-US" sz="1100" dirty="0">
                          <a:solidFill>
                            <a:srgbClr val="1A2233"/>
                          </a:solidFill>
                          <a:latin typeface="Arial" pitchFamily="34" charset="0"/>
                          <a:ea typeface="Arial" pitchFamily="34" charset="-122"/>
                          <a:cs typeface="Arial" pitchFamily="34" charset="-120"/>
                        </a:rPr>
                        <a:t>   F1</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c>
                  <a:txBody>
                    <a:bodyPr/>
                    <a:lstStyle/>
                    <a:p>
                      <a:pPr indent="0" marL="0">
                        <a:buNone/>
                      </a:pPr>
                      <a:r>
                        <a:rPr lang="en-US" sz="1100" b="1" dirty="0">
                          <a:solidFill>
                            <a:srgbClr val="1A2233"/>
                          </a:solidFill>
                          <a:latin typeface="Arial" pitchFamily="34" charset="0"/>
                          <a:ea typeface="Arial" pitchFamily="34" charset="-122"/>
                          <a:cs typeface="Arial" pitchFamily="34" charset="-120"/>
                        </a:rPr>
                        <a:t>70.8</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c>
                  <a:txBody>
                    <a:bodyPr/>
                    <a:lstStyle/>
                    <a:p>
                      <a:pPr indent="0" marL="0">
                        <a:buNone/>
                      </a:pPr>
                      <a:r>
                        <a:rPr lang="en-US" sz="1100" b="1" dirty="0">
                          <a:solidFill>
                            <a:srgbClr val="1A2233"/>
                          </a:solidFill>
                          <a:latin typeface="Arial" pitchFamily="34" charset="0"/>
                          <a:ea typeface="Arial" pitchFamily="34" charset="-122"/>
                          <a:cs typeface="Arial" pitchFamily="34" charset="-120"/>
                        </a:rPr>
                        <a:t>47.2</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c>
                  <a:txBody>
                    <a:bodyPr/>
                    <a:lstStyle/>
                    <a:p>
                      <a:pPr indent="0" marL="0">
                        <a:buNone/>
                      </a:pPr>
                      <a:r>
                        <a:rPr lang="en-US" sz="1100" b="1" dirty="0">
                          <a:solidFill>
                            <a:srgbClr val="1A2233"/>
                          </a:solidFill>
                          <a:latin typeface="Arial" pitchFamily="34" charset="0"/>
                          <a:ea typeface="Arial" pitchFamily="34" charset="-122"/>
                          <a:cs typeface="Arial" pitchFamily="34" charset="-120"/>
                        </a:rPr>
                        <a:t>64.3</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r>
              <a:tr h="265176">
                <a:tc>
                  <a:txBody>
                    <a:bodyPr/>
                    <a:lstStyle/>
                    <a:p>
                      <a:pPr indent="0" marL="0">
                        <a:buNone/>
                      </a:pPr>
                      <a:r>
                        <a:rPr lang="en-US" sz="1100" b="1" dirty="0">
                          <a:solidFill>
                            <a:srgbClr val="1A2233"/>
                          </a:solidFill>
                          <a:latin typeface="Arial" pitchFamily="34" charset="0"/>
                          <a:ea typeface="Arial" pitchFamily="34" charset="-122"/>
                          <a:cs typeface="Arial" pitchFamily="34" charset="-120"/>
                        </a:rPr>
                        <a:t>Chain of thought (final model) P1</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EEF3F9"/>
                    </a:solidFill>
                  </a:tcPr>
                </a:tc>
                <a:tc>
                  <a:txBody>
                    <a:bodyPr/>
                    <a:lstStyle/>
                    <a:p>
                      <a:pPr indent="0" marL="0">
                        <a:buNone/>
                      </a:pP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EEF3F9"/>
                    </a:solidFill>
                  </a:tcPr>
                </a:tc>
                <a:tc>
                  <a:txBody>
                    <a:bodyPr/>
                    <a:lstStyle/>
                    <a:p>
                      <a:pPr indent="0" marL="0">
                        <a:buNone/>
                      </a:pP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EEF3F9"/>
                    </a:solidFill>
                  </a:tcPr>
                </a:tc>
                <a:tc>
                  <a:txBody>
                    <a:bodyPr/>
                    <a:lstStyle/>
                    <a:p>
                      <a:pPr indent="0" marL="0">
                        <a:buNone/>
                      </a:pP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EEF3F9"/>
                    </a:solidFill>
                  </a:tcPr>
                </a:tc>
              </a:tr>
              <a:tr h="265176">
                <a:tc>
                  <a:txBody>
                    <a:bodyPr/>
                    <a:lstStyle/>
                    <a:p>
                      <a:pPr indent="0" marL="0">
                        <a:buNone/>
                      </a:pPr>
                      <a:r>
                        <a:rPr lang="en-US" sz="1100" dirty="0">
                          <a:solidFill>
                            <a:srgbClr val="1A2233"/>
                          </a:solidFill>
                          <a:latin typeface="Arial" pitchFamily="34" charset="0"/>
                          <a:ea typeface="Arial" pitchFamily="34" charset="-122"/>
                          <a:cs typeface="Arial" pitchFamily="34" charset="-120"/>
                        </a:rPr>
                        <a:t>   Precision</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c>
                  <a:txBody>
                    <a:bodyPr/>
                    <a:lstStyle/>
                    <a:p>
                      <a:pPr indent="0" marL="0">
                        <a:buNone/>
                      </a:pPr>
                      <a:r>
                        <a:rPr lang="en-US" sz="1100" dirty="0">
                          <a:solidFill>
                            <a:srgbClr val="1A2233"/>
                          </a:solidFill>
                          <a:latin typeface="Arial" pitchFamily="34" charset="0"/>
                          <a:ea typeface="Arial" pitchFamily="34" charset="-122"/>
                          <a:cs typeface="Arial" pitchFamily="34" charset="-120"/>
                        </a:rPr>
                        <a:t>63.0</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c>
                  <a:txBody>
                    <a:bodyPr/>
                    <a:lstStyle/>
                    <a:p>
                      <a:pPr indent="0" marL="0">
                        <a:buNone/>
                      </a:pPr>
                      <a:r>
                        <a:rPr lang="en-US" sz="1100" dirty="0">
                          <a:solidFill>
                            <a:srgbClr val="1A2233"/>
                          </a:solidFill>
                          <a:latin typeface="Arial" pitchFamily="34" charset="0"/>
                          <a:ea typeface="Arial" pitchFamily="34" charset="-122"/>
                          <a:cs typeface="Arial" pitchFamily="34" charset="-120"/>
                        </a:rPr>
                        <a:t>42.4</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c>
                  <a:txBody>
                    <a:bodyPr/>
                    <a:lstStyle/>
                    <a:p>
                      <a:pPr indent="0" marL="0">
                        <a:buNone/>
                      </a:pPr>
                      <a:r>
                        <a:rPr lang="en-US" sz="1100" dirty="0">
                          <a:solidFill>
                            <a:srgbClr val="1A2233"/>
                          </a:solidFill>
                          <a:latin typeface="Arial" pitchFamily="34" charset="0"/>
                          <a:ea typeface="Arial" pitchFamily="34" charset="-122"/>
                          <a:cs typeface="Arial" pitchFamily="34" charset="-120"/>
                        </a:rPr>
                        <a:t>58.5</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r>
              <a:tr h="265176">
                <a:tc>
                  <a:txBody>
                    <a:bodyPr/>
                    <a:lstStyle/>
                    <a:p>
                      <a:pPr indent="0" marL="0">
                        <a:buNone/>
                      </a:pPr>
                      <a:r>
                        <a:rPr lang="en-US" sz="1100" dirty="0">
                          <a:solidFill>
                            <a:srgbClr val="1A2233"/>
                          </a:solidFill>
                          <a:latin typeface="Arial" pitchFamily="34" charset="0"/>
                          <a:ea typeface="Arial" pitchFamily="34" charset="-122"/>
                          <a:cs typeface="Arial" pitchFamily="34" charset="-120"/>
                        </a:rPr>
                        <a:t>   Recall</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c>
                  <a:txBody>
                    <a:bodyPr/>
                    <a:lstStyle/>
                    <a:p>
                      <a:pPr indent="0" marL="0">
                        <a:buNone/>
                      </a:pPr>
                      <a:r>
                        <a:rPr lang="en-US" sz="1100" dirty="0">
                          <a:solidFill>
                            <a:srgbClr val="1A2233"/>
                          </a:solidFill>
                          <a:latin typeface="Arial" pitchFamily="34" charset="0"/>
                          <a:ea typeface="Arial" pitchFamily="34" charset="-122"/>
                          <a:cs typeface="Arial" pitchFamily="34" charset="-120"/>
                        </a:rPr>
                        <a:t>63.0</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c>
                  <a:txBody>
                    <a:bodyPr/>
                    <a:lstStyle/>
                    <a:p>
                      <a:pPr indent="0" marL="0">
                        <a:buNone/>
                      </a:pPr>
                      <a:r>
                        <a:rPr lang="en-US" sz="1100" dirty="0">
                          <a:solidFill>
                            <a:srgbClr val="1A2233"/>
                          </a:solidFill>
                          <a:latin typeface="Arial" pitchFamily="34" charset="0"/>
                          <a:ea typeface="Arial" pitchFamily="34" charset="-122"/>
                          <a:cs typeface="Arial" pitchFamily="34" charset="-120"/>
                        </a:rPr>
                        <a:t>37.9</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c>
                  <a:txBody>
                    <a:bodyPr/>
                    <a:lstStyle/>
                    <a:p>
                      <a:pPr indent="0" marL="0">
                        <a:buNone/>
                      </a:pPr>
                      <a:r>
                        <a:rPr lang="en-US" sz="1100" dirty="0">
                          <a:solidFill>
                            <a:srgbClr val="1A2233"/>
                          </a:solidFill>
                          <a:latin typeface="Arial" pitchFamily="34" charset="0"/>
                          <a:ea typeface="Arial" pitchFamily="34" charset="-122"/>
                          <a:cs typeface="Arial" pitchFamily="34" charset="-120"/>
                        </a:rPr>
                        <a:t>64.4</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r>
              <a:tr h="265176">
                <a:tc>
                  <a:txBody>
                    <a:bodyPr/>
                    <a:lstStyle/>
                    <a:p>
                      <a:pPr indent="0" marL="0">
                        <a:buNone/>
                      </a:pPr>
                      <a:r>
                        <a:rPr lang="en-US" sz="1100" dirty="0">
                          <a:solidFill>
                            <a:srgbClr val="1A2233"/>
                          </a:solidFill>
                          <a:latin typeface="Arial" pitchFamily="34" charset="0"/>
                          <a:ea typeface="Arial" pitchFamily="34" charset="-122"/>
                          <a:cs typeface="Arial" pitchFamily="34" charset="-120"/>
                        </a:rPr>
                        <a:t>   F1</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c>
                  <a:txBody>
                    <a:bodyPr/>
                    <a:lstStyle/>
                    <a:p>
                      <a:pPr indent="0" marL="0">
                        <a:buNone/>
                      </a:pPr>
                      <a:r>
                        <a:rPr lang="en-US" sz="1100" b="1" dirty="0">
                          <a:solidFill>
                            <a:srgbClr val="1A2233"/>
                          </a:solidFill>
                          <a:latin typeface="Arial" pitchFamily="34" charset="0"/>
                          <a:ea typeface="Arial" pitchFamily="34" charset="-122"/>
                          <a:cs typeface="Arial" pitchFamily="34" charset="-120"/>
                        </a:rPr>
                        <a:t>63.0</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c>
                  <a:txBody>
                    <a:bodyPr/>
                    <a:lstStyle/>
                    <a:p>
                      <a:pPr indent="0" marL="0">
                        <a:buNone/>
                      </a:pPr>
                      <a:r>
                        <a:rPr lang="en-US" sz="1100" b="1" dirty="0">
                          <a:solidFill>
                            <a:srgbClr val="1A2233"/>
                          </a:solidFill>
                          <a:latin typeface="Arial" pitchFamily="34" charset="0"/>
                          <a:ea typeface="Arial" pitchFamily="34" charset="-122"/>
                          <a:cs typeface="Arial" pitchFamily="34" charset="-120"/>
                        </a:rPr>
                        <a:t>40.0</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c>
                  <a:txBody>
                    <a:bodyPr/>
                    <a:lstStyle/>
                    <a:p>
                      <a:pPr indent="0" marL="0">
                        <a:buNone/>
                      </a:pPr>
                      <a:r>
                        <a:rPr lang="en-US" sz="1100" b="1" dirty="0">
                          <a:solidFill>
                            <a:srgbClr val="1A2233"/>
                          </a:solidFill>
                          <a:latin typeface="Arial" pitchFamily="34" charset="0"/>
                          <a:ea typeface="Arial" pitchFamily="34" charset="-122"/>
                          <a:cs typeface="Arial" pitchFamily="34" charset="-120"/>
                        </a:rPr>
                        <a:t>61.3</a:t>
                      </a:r>
                      <a:endParaRPr lang="en-US" sz="1100" dirty="0">
                        <a:latin typeface="Arial" charset="0"/>
                        <a:ea typeface="Arial" charset="0"/>
                        <a:cs typeface="Arial" charset="0"/>
                      </a:endParaRPr>
                    </a:p>
                  </a:txBody>
                  <a:tcPr marL="91440" marR="91440" marT="45720" marB="4572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tcPr>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548640"/>
          </a:xfrm>
          <a:prstGeom prst="rect">
            <a:avLst/>
          </a:prstGeom>
          <a:noFill/>
          <a:ln/>
        </p:spPr>
        <p:txBody>
          <a:bodyPr wrap="square" lIns="0" tIns="0" rIns="0" bIns="0" rtlCol="0" anchor="ctr"/>
          <a:lstStyle/>
          <a:p>
            <a:pPr indent="0" marL="0">
              <a:buNone/>
            </a:pPr>
            <a:r>
              <a:rPr lang="en-US" sz="2800" b="1" dirty="0">
                <a:solidFill>
                  <a:srgbClr val="0B2F57"/>
                </a:solidFill>
                <a:latin typeface="Arial" pitchFamily="34" charset="0"/>
                <a:ea typeface="Arial" pitchFamily="34" charset="-122"/>
                <a:cs typeface="Arial" pitchFamily="34" charset="-120"/>
              </a:rPr>
              <a:t>Lessons learned</a:t>
            </a:r>
            <a:endParaRPr lang="en-US" sz="2800" dirty="0"/>
          </a:p>
        </p:txBody>
      </p:sp>
      <p:sp>
        <p:nvSpPr>
          <p:cNvPr id="3" name="Text 1"/>
          <p:cNvSpPr txBox="1"/>
          <p:nvPr/>
        </p:nvSpPr>
        <p:spPr>
          <a:xfrm>
            <a:off x="457200" y="841248"/>
            <a:ext cx="8229600" cy="320040"/>
          </a:xfrm>
          <a:prstGeom prst="rect">
            <a:avLst/>
          </a:prstGeom>
          <a:noFill/>
          <a:ln/>
        </p:spPr>
        <p:txBody>
          <a:bodyPr wrap="square" lIns="0" tIns="0" rIns="0" bIns="0" rtlCol="0" anchor="t"/>
          <a:lstStyle/>
          <a:p>
            <a:pPr indent="0" marL="0">
              <a:buNone/>
            </a:pPr>
            <a:r>
              <a:rPr lang="en-US" sz="1300" dirty="0">
                <a:solidFill>
                  <a:srgbClr val="5B6678"/>
                </a:solidFill>
                <a:latin typeface="Arial" pitchFamily="34" charset="0"/>
                <a:ea typeface="Arial" pitchFamily="34" charset="-122"/>
                <a:cs typeface="Arial" pitchFamily="34" charset="-120"/>
              </a:rPr>
              <a:t>Findings from our runs, not general claims</a:t>
            </a:r>
            <a:endParaRPr lang="en-US" sz="1300" dirty="0"/>
          </a:p>
        </p:txBody>
      </p:sp>
      <p:sp>
        <p:nvSpPr>
          <p:cNvPr id="4" name="Shape 2"/>
          <p:cNvSpPr/>
          <p:nvPr/>
        </p:nvSpPr>
        <p:spPr>
          <a:xfrm>
            <a:off x="457200" y="1261872"/>
            <a:ext cx="384048" cy="384048"/>
          </a:xfrm>
          <a:prstGeom prst="ellipse">
            <a:avLst/>
          </a:prstGeom>
          <a:solidFill>
            <a:srgbClr val="F58025"/>
          </a:solidFill>
          <a:ln w="12700">
            <a:solidFill>
              <a:srgbClr val="F58025"/>
            </a:solidFill>
            <a:prstDash val="solid"/>
          </a:ln>
        </p:spPr>
      </p:sp>
      <p:sp>
        <p:nvSpPr>
          <p:cNvPr id="5" name="Text 3"/>
          <p:cNvSpPr txBox="1"/>
          <p:nvPr/>
        </p:nvSpPr>
        <p:spPr>
          <a:xfrm>
            <a:off x="457200" y="126187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6" name="Text 4"/>
          <p:cNvSpPr txBox="1"/>
          <p:nvPr/>
        </p:nvSpPr>
        <p:spPr>
          <a:xfrm>
            <a:off x="1005840" y="1188720"/>
            <a:ext cx="7680960" cy="274320"/>
          </a:xfrm>
          <a:prstGeom prst="rect">
            <a:avLst/>
          </a:prstGeom>
          <a:noFill/>
          <a:ln/>
        </p:spPr>
        <p:txBody>
          <a:bodyPr wrap="square" lIns="0" tIns="0" rIns="0" bIns="0" rtlCol="0" anchor="t"/>
          <a:lstStyle/>
          <a:p>
            <a:pPr indent="0" marL="0">
              <a:buNone/>
            </a:pPr>
            <a:r>
              <a:rPr lang="en-US" sz="1350" b="1" dirty="0">
                <a:solidFill>
                  <a:srgbClr val="0B2F57"/>
                </a:solidFill>
                <a:latin typeface="Arial" pitchFamily="34" charset="0"/>
                <a:ea typeface="Arial" pitchFamily="34" charset="-122"/>
                <a:cs typeface="Arial" pitchFamily="34" charset="-120"/>
              </a:rPr>
              <a:t>One naming decision beat many rules</a:t>
            </a:r>
            <a:endParaRPr lang="en-US" sz="1350" dirty="0"/>
          </a:p>
        </p:txBody>
      </p:sp>
      <p:sp>
        <p:nvSpPr>
          <p:cNvPr id="7" name="Text 5"/>
          <p:cNvSpPr txBox="1"/>
          <p:nvPr/>
        </p:nvSpPr>
        <p:spPr>
          <a:xfrm>
            <a:off x="1005840" y="1463040"/>
            <a:ext cx="7680960" cy="411480"/>
          </a:xfrm>
          <a:prstGeom prst="rect">
            <a:avLst/>
          </a:prstGeom>
          <a:noFill/>
          <a:ln/>
        </p:spPr>
        <p:txBody>
          <a:bodyPr wrap="square" lIns="0" tIns="0" rIns="0" bIns="0" rtlCol="0" anchor="t"/>
          <a:lstStyle/>
          <a:p>
            <a:pPr indent="0" marL="0">
              <a:buNone/>
            </a:pPr>
            <a:r>
              <a:rPr lang="en-US" sz="1100" dirty="0">
                <a:solidFill>
                  <a:srgbClr val="1A2233"/>
                </a:solidFill>
                <a:latin typeface="Arial" pitchFamily="34" charset="0"/>
                <a:ea typeface="Arial" pitchFamily="34" charset="-122"/>
                <a:cs typeface="Arial" pitchFamily="34" charset="-120"/>
              </a:rPr>
              <a:t>The classification naming rule alone gave +28.5 points on library, the largest single gain.</a:t>
            </a:r>
            <a:endParaRPr lang="en-US" sz="1100" dirty="0"/>
          </a:p>
        </p:txBody>
      </p:sp>
      <p:sp>
        <p:nvSpPr>
          <p:cNvPr id="8" name="Shape 6"/>
          <p:cNvSpPr/>
          <p:nvPr/>
        </p:nvSpPr>
        <p:spPr>
          <a:xfrm>
            <a:off x="457200" y="2011680"/>
            <a:ext cx="384048" cy="384048"/>
          </a:xfrm>
          <a:prstGeom prst="ellipse">
            <a:avLst/>
          </a:prstGeom>
          <a:solidFill>
            <a:srgbClr val="0064B1"/>
          </a:solidFill>
          <a:ln w="12700">
            <a:solidFill>
              <a:srgbClr val="0064B1"/>
            </a:solidFill>
            <a:prstDash val="solid"/>
          </a:ln>
        </p:spPr>
      </p:sp>
      <p:sp>
        <p:nvSpPr>
          <p:cNvPr id="9" name="Text 7"/>
          <p:cNvSpPr txBox="1"/>
          <p:nvPr/>
        </p:nvSpPr>
        <p:spPr>
          <a:xfrm>
            <a:off x="457200" y="20116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0" name="Text 8"/>
          <p:cNvSpPr txBox="1"/>
          <p:nvPr/>
        </p:nvSpPr>
        <p:spPr>
          <a:xfrm>
            <a:off x="1005840" y="1938528"/>
            <a:ext cx="7680960" cy="274320"/>
          </a:xfrm>
          <a:prstGeom prst="rect">
            <a:avLst/>
          </a:prstGeom>
          <a:noFill/>
          <a:ln/>
        </p:spPr>
        <p:txBody>
          <a:bodyPr wrap="square" lIns="0" tIns="0" rIns="0" bIns="0" rtlCol="0" anchor="t"/>
          <a:lstStyle/>
          <a:p>
            <a:pPr indent="0" marL="0">
              <a:buNone/>
            </a:pPr>
            <a:r>
              <a:rPr lang="en-US" sz="1350" b="1" dirty="0">
                <a:solidFill>
                  <a:srgbClr val="0B2F57"/>
                </a:solidFill>
                <a:latin typeface="Arial" pitchFamily="34" charset="0"/>
                <a:ea typeface="Arial" pitchFamily="34" charset="-122"/>
                <a:cs typeface="Arial" pitchFamily="34" charset="-120"/>
              </a:rPr>
              <a:t>Inclusion rules trade precision for recall</a:t>
            </a:r>
            <a:endParaRPr lang="en-US" sz="1350" dirty="0"/>
          </a:p>
        </p:txBody>
      </p:sp>
      <p:sp>
        <p:nvSpPr>
          <p:cNvPr id="11" name="Text 9"/>
          <p:cNvSpPr txBox="1"/>
          <p:nvPr/>
        </p:nvSpPr>
        <p:spPr>
          <a:xfrm>
            <a:off x="1005840" y="2212848"/>
            <a:ext cx="7680960" cy="411480"/>
          </a:xfrm>
          <a:prstGeom prst="rect">
            <a:avLst/>
          </a:prstGeom>
          <a:noFill/>
          <a:ln/>
        </p:spPr>
        <p:txBody>
          <a:bodyPr wrap="square" lIns="0" tIns="0" rIns="0" bIns="0" rtlCol="0" anchor="t"/>
          <a:lstStyle/>
          <a:p>
            <a:pPr indent="0" marL="0">
              <a:buNone/>
            </a:pPr>
            <a:r>
              <a:rPr lang="en-US" sz="1100" dirty="0">
                <a:solidFill>
                  <a:srgbClr val="1A2233"/>
                </a:solidFill>
                <a:latin typeface="Arial" pitchFamily="34" charset="0"/>
                <a:ea typeface="Arial" pitchFamily="34" charset="-122"/>
                <a:cs typeface="Arial" pitchFamily="34" charset="-120"/>
              </a:rPr>
              <a:t>Identification P2 raised NTSS recall to 97% but cut precision about 10 points, leaving F1 flat.</a:t>
            </a:r>
            <a:endParaRPr lang="en-US" sz="1100" dirty="0"/>
          </a:p>
        </p:txBody>
      </p:sp>
      <p:sp>
        <p:nvSpPr>
          <p:cNvPr id="12" name="Shape 10"/>
          <p:cNvSpPr/>
          <p:nvPr/>
        </p:nvSpPr>
        <p:spPr>
          <a:xfrm>
            <a:off x="457200" y="2761488"/>
            <a:ext cx="384048" cy="384048"/>
          </a:xfrm>
          <a:prstGeom prst="ellipse">
            <a:avLst/>
          </a:prstGeom>
          <a:solidFill>
            <a:srgbClr val="0064B1"/>
          </a:solidFill>
          <a:ln w="12700">
            <a:solidFill>
              <a:srgbClr val="0064B1"/>
            </a:solidFill>
            <a:prstDash val="solid"/>
          </a:ln>
        </p:spPr>
      </p:sp>
      <p:sp>
        <p:nvSpPr>
          <p:cNvPr id="13" name="Text 11"/>
          <p:cNvSpPr txBox="1"/>
          <p:nvPr/>
        </p:nvSpPr>
        <p:spPr>
          <a:xfrm>
            <a:off x="457200" y="276148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4" name="Text 12"/>
          <p:cNvSpPr txBox="1"/>
          <p:nvPr/>
        </p:nvSpPr>
        <p:spPr>
          <a:xfrm>
            <a:off x="1005840" y="2688336"/>
            <a:ext cx="7680960" cy="274320"/>
          </a:xfrm>
          <a:prstGeom prst="rect">
            <a:avLst/>
          </a:prstGeom>
          <a:noFill/>
          <a:ln/>
        </p:spPr>
        <p:txBody>
          <a:bodyPr wrap="square" lIns="0" tIns="0" rIns="0" bIns="0" rtlCol="0" anchor="t"/>
          <a:lstStyle/>
          <a:p>
            <a:pPr indent="0" marL="0">
              <a:buNone/>
            </a:pPr>
            <a:r>
              <a:rPr lang="en-US" sz="1350" b="1" dirty="0">
                <a:solidFill>
                  <a:srgbClr val="0B2F57"/>
                </a:solidFill>
                <a:latin typeface="Arial" pitchFamily="34" charset="0"/>
                <a:ea typeface="Arial" pitchFamily="34" charset="-122"/>
                <a:cs typeface="Arial" pitchFamily="34" charset="-120"/>
              </a:rPr>
              <a:t>Noise is larger than many improvements</a:t>
            </a:r>
            <a:endParaRPr lang="en-US" sz="1350" dirty="0"/>
          </a:p>
        </p:txBody>
      </p:sp>
      <p:sp>
        <p:nvSpPr>
          <p:cNvPr id="15" name="Text 13"/>
          <p:cNvSpPr txBox="1"/>
          <p:nvPr/>
        </p:nvSpPr>
        <p:spPr>
          <a:xfrm>
            <a:off x="1005840" y="2962656"/>
            <a:ext cx="7680960" cy="411480"/>
          </a:xfrm>
          <a:prstGeom prst="rect">
            <a:avLst/>
          </a:prstGeom>
          <a:noFill/>
          <a:ln/>
        </p:spPr>
        <p:txBody>
          <a:bodyPr wrap="square" lIns="0" tIns="0" rIns="0" bIns="0" rtlCol="0" anchor="t"/>
          <a:lstStyle/>
          <a:p>
            <a:pPr indent="0" marL="0">
              <a:buNone/>
            </a:pPr>
            <a:r>
              <a:rPr lang="en-US" sz="1100" dirty="0">
                <a:solidFill>
                  <a:srgbClr val="1A2233"/>
                </a:solidFill>
                <a:latin typeface="Arial" pitchFamily="34" charset="0"/>
                <a:ea typeface="Arial" pitchFamily="34" charset="-122"/>
                <a:cs typeface="Arial" pitchFamily="34" charset="-120"/>
              </a:rPr>
              <a:t>The same prompt varied by up to 8 points on identification, 8 on classification and 14 on chain of thought, so we averaged repeated runs before claiming a gain.</a:t>
            </a:r>
            <a:endParaRPr lang="en-US" sz="1100" dirty="0"/>
          </a:p>
        </p:txBody>
      </p:sp>
      <p:sp>
        <p:nvSpPr>
          <p:cNvPr id="16" name="Shape 14"/>
          <p:cNvSpPr/>
          <p:nvPr/>
        </p:nvSpPr>
        <p:spPr>
          <a:xfrm>
            <a:off x="457200" y="3511296"/>
            <a:ext cx="384048" cy="384048"/>
          </a:xfrm>
          <a:prstGeom prst="ellipse">
            <a:avLst/>
          </a:prstGeom>
          <a:solidFill>
            <a:srgbClr val="0064B1"/>
          </a:solidFill>
          <a:ln w="12700">
            <a:solidFill>
              <a:srgbClr val="0064B1"/>
            </a:solidFill>
            <a:prstDash val="solid"/>
          </a:ln>
        </p:spPr>
      </p:sp>
      <p:sp>
        <p:nvSpPr>
          <p:cNvPr id="17" name="Text 15"/>
          <p:cNvSpPr txBox="1"/>
          <p:nvPr/>
        </p:nvSpPr>
        <p:spPr>
          <a:xfrm>
            <a:off x="457200" y="351129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18" name="Text 16"/>
          <p:cNvSpPr txBox="1"/>
          <p:nvPr/>
        </p:nvSpPr>
        <p:spPr>
          <a:xfrm>
            <a:off x="1005840" y="3438144"/>
            <a:ext cx="7680960" cy="274320"/>
          </a:xfrm>
          <a:prstGeom prst="rect">
            <a:avLst/>
          </a:prstGeom>
          <a:noFill/>
          <a:ln/>
        </p:spPr>
        <p:txBody>
          <a:bodyPr wrap="square" lIns="0" tIns="0" rIns="0" bIns="0" rtlCol="0" anchor="t"/>
          <a:lstStyle/>
          <a:p>
            <a:pPr indent="0" marL="0">
              <a:buNone/>
            </a:pPr>
            <a:r>
              <a:rPr lang="en-US" sz="1350" b="1" dirty="0">
                <a:solidFill>
                  <a:srgbClr val="0B2F57"/>
                </a:solidFill>
                <a:latin typeface="Arial" pitchFamily="34" charset="0"/>
                <a:ea typeface="Arial" pitchFamily="34" charset="-122"/>
                <a:cs typeface="Arial" pitchFamily="34" charset="-120"/>
              </a:rPr>
              <a:t>Expert conventions cap the score</a:t>
            </a:r>
            <a:endParaRPr lang="en-US" sz="1350" dirty="0"/>
          </a:p>
        </p:txBody>
      </p:sp>
      <p:sp>
        <p:nvSpPr>
          <p:cNvPr id="19" name="Text 17"/>
          <p:cNvSpPr txBox="1"/>
          <p:nvPr/>
        </p:nvSpPr>
        <p:spPr>
          <a:xfrm>
            <a:off x="1005840" y="3712464"/>
            <a:ext cx="7680960" cy="411480"/>
          </a:xfrm>
          <a:prstGeom prst="rect">
            <a:avLst/>
          </a:prstGeom>
          <a:noFill/>
          <a:ln/>
        </p:spPr>
        <p:txBody>
          <a:bodyPr wrap="square" lIns="0" tIns="0" rIns="0" bIns="0" rtlCol="0" anchor="t"/>
          <a:lstStyle/>
          <a:p>
            <a:pPr indent="0" marL="0">
              <a:buNone/>
            </a:pPr>
            <a:r>
              <a:rPr lang="en-US" sz="1100" dirty="0">
                <a:solidFill>
                  <a:srgbClr val="1A2233"/>
                </a:solidFill>
                <a:latin typeface="Arial" pitchFamily="34" charset="0"/>
                <a:ea typeface="Arial" pitchFamily="34" charset="-122"/>
                <a:cs typeface="Arial" pitchFamily="34" charset="-120"/>
              </a:rPr>
              <a:t>Library's key is exhaustive, car rental's sparse: it omits "rent", the core verb of a rental company. Matching sparse keys or renamed attributes without leaking answers has a ceiling.</a:t>
            </a:r>
            <a:endParaRPr lang="en-US" sz="1100" dirty="0"/>
          </a:p>
        </p:txBody>
      </p:sp>
      <p:sp>
        <p:nvSpPr>
          <p:cNvPr id="20" name="Shape 18"/>
          <p:cNvSpPr/>
          <p:nvPr/>
        </p:nvSpPr>
        <p:spPr>
          <a:xfrm>
            <a:off x="457200" y="4261104"/>
            <a:ext cx="384048" cy="384048"/>
          </a:xfrm>
          <a:prstGeom prst="ellipse">
            <a:avLst/>
          </a:prstGeom>
          <a:solidFill>
            <a:srgbClr val="0064B1"/>
          </a:solidFill>
          <a:ln w="12700">
            <a:solidFill>
              <a:srgbClr val="0064B1"/>
            </a:solidFill>
            <a:prstDash val="solid"/>
          </a:ln>
        </p:spPr>
      </p:sp>
      <p:sp>
        <p:nvSpPr>
          <p:cNvPr id="21" name="Text 19"/>
          <p:cNvSpPr txBox="1"/>
          <p:nvPr/>
        </p:nvSpPr>
        <p:spPr>
          <a:xfrm>
            <a:off x="457200" y="426110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22" name="Text 20"/>
          <p:cNvSpPr txBox="1"/>
          <p:nvPr/>
        </p:nvSpPr>
        <p:spPr>
          <a:xfrm>
            <a:off x="1005840" y="4187952"/>
            <a:ext cx="7680960" cy="274320"/>
          </a:xfrm>
          <a:prstGeom prst="rect">
            <a:avLst/>
          </a:prstGeom>
          <a:noFill/>
          <a:ln/>
        </p:spPr>
        <p:txBody>
          <a:bodyPr wrap="square" lIns="0" tIns="0" rIns="0" bIns="0" rtlCol="0" anchor="t"/>
          <a:lstStyle/>
          <a:p>
            <a:pPr indent="0" marL="0">
              <a:buNone/>
            </a:pPr>
            <a:r>
              <a:rPr lang="en-US" sz="1350" b="1" dirty="0">
                <a:solidFill>
                  <a:srgbClr val="0B2F57"/>
                </a:solidFill>
                <a:latin typeface="Arial" pitchFamily="34" charset="0"/>
                <a:ea typeface="Arial" pitchFamily="34" charset="-122"/>
                <a:cs typeface="Arial" pitchFamily="34" charset="-120"/>
              </a:rPr>
              <a:t>A more capable model scored lower</a:t>
            </a:r>
            <a:endParaRPr lang="en-US" sz="1350" dirty="0"/>
          </a:p>
        </p:txBody>
      </p:sp>
      <p:sp>
        <p:nvSpPr>
          <p:cNvPr id="23" name="Text 21"/>
          <p:cNvSpPr txBox="1"/>
          <p:nvPr/>
        </p:nvSpPr>
        <p:spPr>
          <a:xfrm>
            <a:off x="1005840" y="4462272"/>
            <a:ext cx="7680960" cy="411480"/>
          </a:xfrm>
          <a:prstGeom prst="rect">
            <a:avLst/>
          </a:prstGeom>
          <a:noFill/>
          <a:ln/>
        </p:spPr>
        <p:txBody>
          <a:bodyPr wrap="square" lIns="0" tIns="0" rIns="0" bIns="0" rtlCol="0" anchor="t"/>
          <a:lstStyle/>
          <a:p>
            <a:pPr indent="0" marL="0">
              <a:buNone/>
            </a:pPr>
            <a:r>
              <a:rPr lang="en-US" sz="1100" dirty="0">
                <a:solidFill>
                  <a:srgbClr val="1A2233"/>
                </a:solidFill>
                <a:latin typeface="Arial" pitchFamily="34" charset="0"/>
                <a:ea typeface="Arial" pitchFamily="34" charset="-122"/>
                <a:cs typeface="Arial" pitchFamily="34" charset="-120"/>
              </a:rPr>
              <a:t>Same prompt on the most capable tier: NTSS identification 89.6 → 83.7. It was more thorough, and sparse keys count thoroughness as false positives.</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548640"/>
          </a:xfrm>
          <a:prstGeom prst="rect">
            <a:avLst/>
          </a:prstGeom>
          <a:noFill/>
          <a:ln/>
        </p:spPr>
        <p:txBody>
          <a:bodyPr wrap="square" lIns="0" tIns="0" rIns="0" bIns="0" rtlCol="0" anchor="ctr"/>
          <a:lstStyle/>
          <a:p>
            <a:pPr indent="0" marL="0">
              <a:buNone/>
            </a:pPr>
            <a:r>
              <a:rPr lang="en-US" sz="2800" b="1" dirty="0">
                <a:solidFill>
                  <a:srgbClr val="0B2F57"/>
                </a:solidFill>
                <a:latin typeface="Arial" pitchFamily="34" charset="0"/>
                <a:ea typeface="Arial" pitchFamily="34" charset="-122"/>
                <a:cs typeface="Arial" pitchFamily="34" charset="-120"/>
              </a:rPr>
              <a:t>Conclusion &amp; future work</a:t>
            </a:r>
            <a:endParaRPr lang="en-US" sz="2800" dirty="0"/>
          </a:p>
        </p:txBody>
      </p:sp>
      <p:sp>
        <p:nvSpPr>
          <p:cNvPr id="3" name="Shape 1"/>
          <p:cNvSpPr/>
          <p:nvPr/>
        </p:nvSpPr>
        <p:spPr>
          <a:xfrm>
            <a:off x="457200" y="1097280"/>
            <a:ext cx="4023360" cy="3611880"/>
          </a:xfrm>
          <a:prstGeom prst="roundRect">
            <a:avLst>
              <a:gd name="adj" fmla="val 2025"/>
            </a:avLst>
          </a:prstGeom>
          <a:solidFill>
            <a:srgbClr val="0B2F57"/>
          </a:solidFill>
          <a:ln w="12700">
            <a:solidFill>
              <a:srgbClr val="0B2F57"/>
            </a:solidFill>
            <a:prstDash val="solid"/>
          </a:ln>
        </p:spPr>
      </p:sp>
      <p:sp>
        <p:nvSpPr>
          <p:cNvPr id="4" name="Text 2"/>
          <p:cNvSpPr txBox="1"/>
          <p:nvPr/>
        </p:nvSpPr>
        <p:spPr>
          <a:xfrm>
            <a:off x="640080" y="1234440"/>
            <a:ext cx="3657600" cy="320040"/>
          </a:xfrm>
          <a:prstGeom prst="rect">
            <a:avLst/>
          </a:prstGeom>
          <a:noFill/>
          <a:ln/>
        </p:spPr>
        <p:txBody>
          <a:bodyPr wrap="square" lIns="0" tIns="0" rIns="0" bIns="0" rtlCol="0" anchor="t"/>
          <a:lstStyle/>
          <a:p>
            <a:pPr indent="0" marL="0">
              <a:buNone/>
            </a:pPr>
            <a:r>
              <a:rPr lang="en-US" sz="1500" b="1" dirty="0">
                <a:solidFill>
                  <a:srgbClr val="F58025"/>
                </a:solidFill>
                <a:latin typeface="Arial" pitchFamily="34" charset="0"/>
                <a:ea typeface="Arial" pitchFamily="34" charset="-122"/>
                <a:cs typeface="Arial" pitchFamily="34" charset="-120"/>
              </a:rPr>
              <a:t>Did we reach the goal?</a:t>
            </a:r>
            <a:endParaRPr lang="en-US" sz="1500" dirty="0"/>
          </a:p>
        </p:txBody>
      </p:sp>
      <p:sp>
        <p:nvSpPr>
          <p:cNvPr id="5" name="Text 3"/>
          <p:cNvSpPr txBox="1"/>
          <p:nvPr/>
        </p:nvSpPr>
        <p:spPr>
          <a:xfrm>
            <a:off x="640080" y="1645920"/>
            <a:ext cx="3657600" cy="2926080"/>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rgbClr val="FFFFFF"/>
                </a:solidFill>
                <a:latin typeface="Arial" pitchFamily="34" charset="0"/>
                <a:ea typeface="Arial" pitchFamily="34" charset="-122"/>
                <a:cs typeface="Arial" pitchFamily="34" charset="-120"/>
              </a:rPr>
              <a:t>Library identification: best 93.7 F1 (P4); target 90 met.</a:t>
            </a:r>
            <a:endParaRPr lang="en-US" sz="1200" dirty="0"/>
          </a:p>
          <a:p>
            <a:pPr marL="177800" indent="-177800">
              <a:spcAft>
                <a:spcPts val="600"/>
              </a:spcAft>
              <a:buSzPct val="100000"/>
              <a:buChar char="•"/>
            </a:pPr>
            <a:r>
              <a:rPr lang="en-US" sz="1200" dirty="0">
                <a:solidFill>
                  <a:srgbClr val="FFFFFF"/>
                </a:solidFill>
                <a:latin typeface="Arial" pitchFamily="34" charset="0"/>
                <a:ea typeface="Arial" pitchFamily="34" charset="-122"/>
                <a:cs typeface="Arial" pitchFamily="34" charset="-120"/>
              </a:rPr>
              <a:t>Library classification: best 70.8 F1 (P3), not yet met; up from 30.4 at P0.</a:t>
            </a:r>
            <a:endParaRPr lang="en-US" sz="1200" dirty="0"/>
          </a:p>
          <a:p>
            <a:pPr marL="177800" indent="-177800">
              <a:spcAft>
                <a:spcPts val="600"/>
              </a:spcAft>
              <a:buSzPct val="100000"/>
              <a:buChar char="•"/>
            </a:pPr>
            <a:r>
              <a:rPr lang="en-US" sz="1200" dirty="0">
                <a:solidFill>
                  <a:srgbClr val="FFFFFF"/>
                </a:solidFill>
                <a:latin typeface="Arial" pitchFamily="34" charset="0"/>
                <a:ea typeface="Arial" pitchFamily="34" charset="-122"/>
                <a:cs typeface="Arial" pitchFamily="34" charset="-120"/>
              </a:rPr>
              <a:t>Gains beyond noise in 6 of 9 activity-domain pairs; no clear gain on classification on Car rental, chain of thought on Car rental, chain of thought on NTSS. Declined: chain of thought on NTSS (-7.6).</a:t>
            </a:r>
            <a:endParaRPr lang="en-US" sz="1200" dirty="0"/>
          </a:p>
        </p:txBody>
      </p:sp>
      <p:sp>
        <p:nvSpPr>
          <p:cNvPr id="6" name="Text 4"/>
          <p:cNvSpPr txBox="1"/>
          <p:nvPr/>
        </p:nvSpPr>
        <p:spPr>
          <a:xfrm>
            <a:off x="4754880" y="1097280"/>
            <a:ext cx="3931920" cy="320040"/>
          </a:xfrm>
          <a:prstGeom prst="rect">
            <a:avLst/>
          </a:prstGeom>
          <a:noFill/>
          <a:ln/>
        </p:spPr>
        <p:txBody>
          <a:bodyPr wrap="square" lIns="0" tIns="0" rIns="0" bIns="0" rtlCol="0" anchor="t"/>
          <a:lstStyle/>
          <a:p>
            <a:pPr indent="0" marL="0">
              <a:buNone/>
            </a:pPr>
            <a:r>
              <a:rPr lang="en-US" sz="1500" b="1" dirty="0">
                <a:solidFill>
                  <a:srgbClr val="0064B1"/>
                </a:solidFill>
                <a:latin typeface="Arial" pitchFamily="34" charset="0"/>
                <a:ea typeface="Arial" pitchFamily="34" charset="-122"/>
                <a:cs typeface="Arial" pitchFamily="34" charset="-120"/>
              </a:rPr>
              <a:t>Next</a:t>
            </a:r>
            <a:endParaRPr lang="en-US" sz="1500" dirty="0"/>
          </a:p>
        </p:txBody>
      </p:sp>
      <p:sp>
        <p:nvSpPr>
          <p:cNvPr id="7" name="Text 5"/>
          <p:cNvSpPr txBox="1"/>
          <p:nvPr/>
        </p:nvSpPr>
        <p:spPr>
          <a:xfrm>
            <a:off x="4754880" y="1463040"/>
            <a:ext cx="3931920" cy="3200400"/>
          </a:xfrm>
          <a:prstGeom prst="rect">
            <a:avLst/>
          </a:prstGeom>
          <a:noFill/>
          <a:ln/>
        </p:spPr>
        <p:txBody>
          <a:bodyPr wrap="square" lIns="0" tIns="0" rIns="0" bIns="0" rtlCol="0" anchor="t"/>
          <a:lstStyle/>
          <a:p>
            <a:pPr marL="177800" indent="-177800">
              <a:spcAft>
                <a:spcPts val="600"/>
              </a:spcAft>
              <a:buSzPct val="100000"/>
              <a:buChar char="•"/>
            </a:pPr>
            <a:r>
              <a:rPr lang="en-US" sz="1150" dirty="0">
                <a:solidFill>
                  <a:srgbClr val="1A2233"/>
                </a:solidFill>
                <a:latin typeface="Arial" pitchFamily="34" charset="0"/>
                <a:ea typeface="Arial" pitchFamily="34" charset="-122"/>
                <a:cs typeface="Arial" pitchFamily="34" charset="-120"/>
              </a:rPr>
              <a:t>Repeat the NTSS identification run: 89.6 is inside the noise band around 90.</a:t>
            </a:r>
            <a:endParaRPr lang="en-US" sz="1150" dirty="0"/>
          </a:p>
          <a:p>
            <a:pPr marL="177800" indent="-177800">
              <a:spcAft>
                <a:spcPts val="600"/>
              </a:spcAft>
              <a:buSzPct val="100000"/>
              <a:buChar char="•"/>
            </a:pPr>
            <a:r>
              <a:rPr lang="en-US" sz="1150" dirty="0">
                <a:solidFill>
                  <a:srgbClr val="1A2233"/>
                </a:solidFill>
                <a:latin typeface="Arial" pitchFamily="34" charset="0"/>
                <a:ea typeface="Arial" pitchFamily="34" charset="-122"/>
                <a:cs typeface="Arial" pitchFamily="34" charset="-120"/>
              </a:rPr>
              <a:t>Ask the instructor how car rental's sparser key and the classification modeling choices were decided, then encode those conventions as rules.</a:t>
            </a:r>
            <a:endParaRPr lang="en-US" sz="1150" dirty="0"/>
          </a:p>
          <a:p>
            <a:pPr marL="177800" indent="-177800">
              <a:spcAft>
                <a:spcPts val="600"/>
              </a:spcAft>
              <a:buSzPct val="100000"/>
              <a:buChar char="•"/>
            </a:pPr>
            <a:r>
              <a:rPr lang="en-US" sz="1150" dirty="0">
                <a:solidFill>
                  <a:srgbClr val="1A2233"/>
                </a:solidFill>
                <a:latin typeface="Arial" pitchFamily="34" charset="0"/>
                <a:ea typeface="Arial" pitchFamily="34" charset="-122"/>
                <a:cs typeface="Arial" pitchFamily="34" charset="-120"/>
              </a:rPr>
              <a:t>With the instructor's approval, leave-one-out few-shot: show the other two domains' expert annotations to teach the conventions.</a:t>
            </a:r>
            <a:endParaRPr lang="en-US" sz="1150" dirty="0"/>
          </a:p>
          <a:p>
            <a:pPr marL="177800" indent="-177800">
              <a:spcAft>
                <a:spcPts val="600"/>
              </a:spcAft>
              <a:buSzPct val="100000"/>
              <a:buChar char="•"/>
            </a:pPr>
            <a:r>
              <a:rPr lang="en-US" sz="1150" dirty="0">
                <a:solidFill>
                  <a:srgbClr val="1A2233"/>
                </a:solidFill>
                <a:latin typeface="Arial" pitchFamily="34" charset="0"/>
                <a:ea typeface="Arial" pitchFamily="34" charset="-122"/>
                <a:cs typeface="Arial" pitchFamily="34" charset="-120"/>
              </a:rPr>
              <a:t>Automate the loop with the team's LangGraph notebook (classify → score → optimize).</a:t>
            </a:r>
            <a:endParaRPr lang="en-US" sz="11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064B1"/>
        </a:solidFill>
      </p:bgPr>
    </p:bg>
    <p:spTree>
      <p:nvGrpSpPr>
        <p:cNvPr id="1" name=""/>
        <p:cNvGrpSpPr/>
        <p:nvPr/>
      </p:nvGrpSpPr>
      <p:grpSpPr>
        <a:xfrm>
          <a:off x="0" y="0"/>
          <a:ext cx="0" cy="0"/>
          <a:chOff x="0" y="0"/>
          <a:chExt cx="0" cy="0"/>
        </a:xfrm>
      </p:grpSpPr>
      <p:sp>
        <p:nvSpPr>
          <p:cNvPr id="2" name="Text 0"/>
          <p:cNvSpPr txBox="1"/>
          <p:nvPr/>
        </p:nvSpPr>
        <p:spPr>
          <a:xfrm>
            <a:off x="640080" y="1828800"/>
            <a:ext cx="7863840" cy="822960"/>
          </a:xfrm>
          <a:prstGeom prst="rect">
            <a:avLst/>
          </a:prstGeom>
          <a:noFill/>
          <a:ln/>
        </p:spPr>
        <p:txBody>
          <a:bodyPr wrap="square" lIns="0" tIns="0" rIns="0" bIns="0" rtlCol="0" anchor="ctr"/>
          <a:lstStyle/>
          <a:p>
            <a:pPr indent="0" marL="0">
              <a:buNone/>
            </a:pPr>
            <a:r>
              <a:rPr lang="en-US" sz="3600" b="1" dirty="0">
                <a:solidFill>
                  <a:srgbClr val="FFFFFF"/>
                </a:solidFill>
                <a:latin typeface="Arial" pitchFamily="34" charset="0"/>
                <a:ea typeface="Arial" pitchFamily="34" charset="-122"/>
                <a:cs typeface="Arial" pitchFamily="34" charset="-120"/>
              </a:rPr>
              <a:t>Questions?</a:t>
            </a:r>
            <a:endParaRPr lang="en-US" sz="3600" dirty="0"/>
          </a:p>
        </p:txBody>
      </p:sp>
      <p:sp>
        <p:nvSpPr>
          <p:cNvPr id="3" name="Text 1"/>
          <p:cNvSpPr txBox="1"/>
          <p:nvPr/>
        </p:nvSpPr>
        <p:spPr>
          <a:xfrm>
            <a:off x="640080" y="2651760"/>
            <a:ext cx="7863840" cy="457200"/>
          </a:xfrm>
          <a:prstGeom prst="rect">
            <a:avLst/>
          </a:prstGeom>
          <a:noFill/>
          <a:ln/>
        </p:spPr>
        <p:txBody>
          <a:bodyPr wrap="square" lIns="0" tIns="0" rIns="0" bIns="0" rtlCol="0" anchor="t"/>
          <a:lstStyle/>
          <a:p>
            <a:pPr indent="0" marL="0">
              <a:buNone/>
            </a:pPr>
            <a:r>
              <a:rPr lang="en-US" sz="1600" dirty="0">
                <a:solidFill>
                  <a:srgbClr val="D6E6F5"/>
                </a:solidFill>
                <a:latin typeface="Arial" pitchFamily="34" charset="0"/>
                <a:ea typeface="Arial" pitchFamily="34" charset="-122"/>
                <a:cs typeface="Arial" pitchFamily="34" charset="-120"/>
              </a:rPr>
              <a:t>Team Four  ·  prompts, scorers, responses and changelog are in the team repo</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Evolutionary Prompt Optimization for Domain Modeling</dc:title>
  <dc:subject>PptxGenJS Presentation</dc:subject>
  <dc:creator>Team Four</dc:creator>
  <cp:lastModifiedBy>Team Four</cp:lastModifiedBy>
  <cp:revision>1</cp:revision>
  <dcterms:created xsi:type="dcterms:W3CDTF">2026-09-24T18:27:33Z</dcterms:created>
  <dcterms:modified xsi:type="dcterms:W3CDTF">2026-09-24T18:27:33Z</dcterms:modified>
</cp:coreProperties>
</file>